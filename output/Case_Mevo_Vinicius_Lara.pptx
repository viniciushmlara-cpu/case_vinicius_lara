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6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70" r:id="rId6"/>
    <p:sldId id="260" r:id="rId7"/>
    <p:sldId id="261" r:id="rId8"/>
    <p:sldId id="271" r:id="rId9"/>
    <p:sldId id="269" r:id="rId10"/>
    <p:sldId id="263" r:id="rId11"/>
    <p:sldId id="264" r:id="rId12"/>
    <p:sldId id="272" r:id="rId13"/>
    <p:sldId id="266" r:id="rId14"/>
    <p:sldId id="267" r:id="rId15"/>
    <p:sldId id="268" r:id="rId16"/>
    <p:sldId id="273" r:id="rId17"/>
    <p:sldId id="275" r:id="rId18"/>
    <p:sldId id="274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0E6B"/>
    <a:srgbClr val="9E6395"/>
    <a:srgbClr val="5E2C7A"/>
    <a:srgbClr val="F2F2F2"/>
    <a:srgbClr val="FFFFFF"/>
    <a:srgbClr val="7054B6"/>
    <a:srgbClr val="552476"/>
    <a:srgbClr val="5B9BD5"/>
    <a:srgbClr val="E2F0D9"/>
    <a:srgbClr val="135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6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56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Prescrições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Planilha1!$A$2:$A$109</c:f>
              <c:strCache>
                <c:ptCount val="108"/>
                <c:pt idx="0">
                  <c:v>01/jan</c:v>
                </c:pt>
                <c:pt idx="1">
                  <c:v>02/jan</c:v>
                </c:pt>
                <c:pt idx="2">
                  <c:v>03/jan</c:v>
                </c:pt>
                <c:pt idx="3">
                  <c:v>04/jan</c:v>
                </c:pt>
                <c:pt idx="4">
                  <c:v>05/jan</c:v>
                </c:pt>
                <c:pt idx="5">
                  <c:v>06/jan</c:v>
                </c:pt>
                <c:pt idx="6">
                  <c:v>07/jan</c:v>
                </c:pt>
                <c:pt idx="7">
                  <c:v>08/jan</c:v>
                </c:pt>
                <c:pt idx="8">
                  <c:v>09/jan</c:v>
                </c:pt>
                <c:pt idx="9">
                  <c:v>10/jan</c:v>
                </c:pt>
                <c:pt idx="10">
                  <c:v>11/jan</c:v>
                </c:pt>
                <c:pt idx="11">
                  <c:v>12/jan</c:v>
                </c:pt>
                <c:pt idx="12">
                  <c:v>13/jan</c:v>
                </c:pt>
                <c:pt idx="13">
                  <c:v>14/jan</c:v>
                </c:pt>
                <c:pt idx="14">
                  <c:v>15/jan</c:v>
                </c:pt>
                <c:pt idx="15">
                  <c:v>16/jan</c:v>
                </c:pt>
                <c:pt idx="16">
                  <c:v>17/jan</c:v>
                </c:pt>
                <c:pt idx="17">
                  <c:v>18/jan</c:v>
                </c:pt>
                <c:pt idx="18">
                  <c:v>19/jan</c:v>
                </c:pt>
                <c:pt idx="19">
                  <c:v>20/jan</c:v>
                </c:pt>
                <c:pt idx="20">
                  <c:v>21/jan</c:v>
                </c:pt>
                <c:pt idx="21">
                  <c:v>22/jan</c:v>
                </c:pt>
                <c:pt idx="22">
                  <c:v>23/jan</c:v>
                </c:pt>
                <c:pt idx="23">
                  <c:v>24/jan</c:v>
                </c:pt>
                <c:pt idx="24">
                  <c:v>25/jan</c:v>
                </c:pt>
                <c:pt idx="25">
                  <c:v>26/jan</c:v>
                </c:pt>
                <c:pt idx="26">
                  <c:v>27/jan</c:v>
                </c:pt>
                <c:pt idx="27">
                  <c:v>28/jan</c:v>
                </c:pt>
                <c:pt idx="28">
                  <c:v>29/jan</c:v>
                </c:pt>
                <c:pt idx="29">
                  <c:v>30/jan</c:v>
                </c:pt>
                <c:pt idx="30">
                  <c:v>31/jan</c:v>
                </c:pt>
                <c:pt idx="31">
                  <c:v>01/fev</c:v>
                </c:pt>
                <c:pt idx="32">
                  <c:v>02/fev</c:v>
                </c:pt>
                <c:pt idx="33">
                  <c:v>03/fev</c:v>
                </c:pt>
                <c:pt idx="34">
                  <c:v>04/fev</c:v>
                </c:pt>
                <c:pt idx="35">
                  <c:v>05/fev</c:v>
                </c:pt>
                <c:pt idx="36">
                  <c:v>06/fev</c:v>
                </c:pt>
                <c:pt idx="37">
                  <c:v>07/fev</c:v>
                </c:pt>
                <c:pt idx="38">
                  <c:v>08/fev</c:v>
                </c:pt>
                <c:pt idx="39">
                  <c:v>09/fev</c:v>
                </c:pt>
                <c:pt idx="40">
                  <c:v>10/fev</c:v>
                </c:pt>
                <c:pt idx="41">
                  <c:v>11/fev</c:v>
                </c:pt>
                <c:pt idx="42">
                  <c:v>12/fev</c:v>
                </c:pt>
                <c:pt idx="43">
                  <c:v>13/fev</c:v>
                </c:pt>
                <c:pt idx="44">
                  <c:v>14/fev</c:v>
                </c:pt>
                <c:pt idx="45">
                  <c:v>15/fev</c:v>
                </c:pt>
                <c:pt idx="46">
                  <c:v>16/fev</c:v>
                </c:pt>
                <c:pt idx="47">
                  <c:v>17/fev</c:v>
                </c:pt>
                <c:pt idx="48">
                  <c:v>18/fev</c:v>
                </c:pt>
                <c:pt idx="49">
                  <c:v>19/fev</c:v>
                </c:pt>
                <c:pt idx="50">
                  <c:v>20/fev</c:v>
                </c:pt>
                <c:pt idx="51">
                  <c:v>21/fev</c:v>
                </c:pt>
                <c:pt idx="52">
                  <c:v>22/fev</c:v>
                </c:pt>
                <c:pt idx="53">
                  <c:v>23/fev</c:v>
                </c:pt>
                <c:pt idx="54">
                  <c:v>24/fev</c:v>
                </c:pt>
                <c:pt idx="55">
                  <c:v>25/fev</c:v>
                </c:pt>
                <c:pt idx="56">
                  <c:v>26/fev</c:v>
                </c:pt>
                <c:pt idx="57">
                  <c:v>27/fev</c:v>
                </c:pt>
                <c:pt idx="58">
                  <c:v>28/fev</c:v>
                </c:pt>
                <c:pt idx="59">
                  <c:v>01/mar</c:v>
                </c:pt>
                <c:pt idx="60">
                  <c:v>02/mar</c:v>
                </c:pt>
                <c:pt idx="61">
                  <c:v>03/mar</c:v>
                </c:pt>
                <c:pt idx="62">
                  <c:v>04/mar</c:v>
                </c:pt>
                <c:pt idx="63">
                  <c:v>05/mar</c:v>
                </c:pt>
                <c:pt idx="64">
                  <c:v>06/mar</c:v>
                </c:pt>
                <c:pt idx="65">
                  <c:v>07/mar</c:v>
                </c:pt>
                <c:pt idx="66">
                  <c:v>08/mar</c:v>
                </c:pt>
                <c:pt idx="67">
                  <c:v>09/mar</c:v>
                </c:pt>
                <c:pt idx="68">
                  <c:v>10/mar</c:v>
                </c:pt>
                <c:pt idx="69">
                  <c:v>11/mar</c:v>
                </c:pt>
                <c:pt idx="70">
                  <c:v>12/mar</c:v>
                </c:pt>
                <c:pt idx="71">
                  <c:v>13/mar</c:v>
                </c:pt>
                <c:pt idx="72">
                  <c:v>14/mar</c:v>
                </c:pt>
                <c:pt idx="73">
                  <c:v>15/mar</c:v>
                </c:pt>
                <c:pt idx="74">
                  <c:v>16/mar</c:v>
                </c:pt>
                <c:pt idx="75">
                  <c:v>17/mar</c:v>
                </c:pt>
                <c:pt idx="76">
                  <c:v>18/mar</c:v>
                </c:pt>
                <c:pt idx="77">
                  <c:v>19/mar</c:v>
                </c:pt>
                <c:pt idx="78">
                  <c:v>20/mar</c:v>
                </c:pt>
                <c:pt idx="79">
                  <c:v>21/mar</c:v>
                </c:pt>
                <c:pt idx="80">
                  <c:v>22/mar</c:v>
                </c:pt>
                <c:pt idx="81">
                  <c:v>23/mar</c:v>
                </c:pt>
                <c:pt idx="82">
                  <c:v>24/mar</c:v>
                </c:pt>
                <c:pt idx="83">
                  <c:v>25/mar</c:v>
                </c:pt>
                <c:pt idx="84">
                  <c:v>26/mar</c:v>
                </c:pt>
                <c:pt idx="85">
                  <c:v>27/mar</c:v>
                </c:pt>
                <c:pt idx="86">
                  <c:v>28/mar</c:v>
                </c:pt>
                <c:pt idx="87">
                  <c:v>29/mar</c:v>
                </c:pt>
                <c:pt idx="88">
                  <c:v>30/mar</c:v>
                </c:pt>
                <c:pt idx="89">
                  <c:v>31/mar</c:v>
                </c:pt>
                <c:pt idx="90">
                  <c:v>01/abr</c:v>
                </c:pt>
                <c:pt idx="91">
                  <c:v>02/abr</c:v>
                </c:pt>
                <c:pt idx="92">
                  <c:v>03/abr</c:v>
                </c:pt>
                <c:pt idx="93">
                  <c:v>04/abr</c:v>
                </c:pt>
                <c:pt idx="94">
                  <c:v>05/abr</c:v>
                </c:pt>
                <c:pt idx="95">
                  <c:v>06/abr</c:v>
                </c:pt>
                <c:pt idx="96">
                  <c:v>07/abr</c:v>
                </c:pt>
                <c:pt idx="97">
                  <c:v>08/abr</c:v>
                </c:pt>
                <c:pt idx="98">
                  <c:v>09/abr</c:v>
                </c:pt>
                <c:pt idx="99">
                  <c:v>10/abr</c:v>
                </c:pt>
                <c:pt idx="100">
                  <c:v>11/abr</c:v>
                </c:pt>
                <c:pt idx="101">
                  <c:v>12/abr</c:v>
                </c:pt>
                <c:pt idx="102">
                  <c:v>13/abr</c:v>
                </c:pt>
                <c:pt idx="103">
                  <c:v>14/abr</c:v>
                </c:pt>
                <c:pt idx="104">
                  <c:v>15/abr</c:v>
                </c:pt>
                <c:pt idx="105">
                  <c:v>16/abr</c:v>
                </c:pt>
                <c:pt idx="106">
                  <c:v>17/abr</c:v>
                </c:pt>
                <c:pt idx="107">
                  <c:v>18/abr</c:v>
                </c:pt>
              </c:strCache>
            </c:strRef>
          </c:cat>
          <c:val>
            <c:numRef>
              <c:f>Planilha1!$B$2:$B$109</c:f>
              <c:numCache>
                <c:formatCode>0.00%</c:formatCode>
                <c:ptCount val="108"/>
                <c:pt idx="0">
                  <c:v>0.41520467836257308</c:v>
                </c:pt>
                <c:pt idx="1">
                  <c:v>0.5056179775280899</c:v>
                </c:pt>
                <c:pt idx="2">
                  <c:v>0.51346499102333931</c:v>
                </c:pt>
                <c:pt idx="3">
                  <c:v>0.50574712643678166</c:v>
                </c:pt>
                <c:pt idx="4">
                  <c:v>0.47011952191235062</c:v>
                </c:pt>
                <c:pt idx="5">
                  <c:v>0.53623188405797106</c:v>
                </c:pt>
                <c:pt idx="6">
                  <c:v>0.5028089887640449</c:v>
                </c:pt>
                <c:pt idx="7">
                  <c:v>0.54966887417218546</c:v>
                </c:pt>
                <c:pt idx="8">
                  <c:v>0.52120383036935702</c:v>
                </c:pt>
                <c:pt idx="9">
                  <c:v>0.48549618320610688</c:v>
                </c:pt>
                <c:pt idx="10">
                  <c:v>0.51020408163265307</c:v>
                </c:pt>
                <c:pt idx="11">
                  <c:v>0.44255319148936167</c:v>
                </c:pt>
                <c:pt idx="12">
                  <c:v>0.48748353096179181</c:v>
                </c:pt>
                <c:pt idx="13">
                  <c:v>0.49523809523809526</c:v>
                </c:pt>
                <c:pt idx="14">
                  <c:v>0.48337950138504154</c:v>
                </c:pt>
                <c:pt idx="15">
                  <c:v>0.49261744966442955</c:v>
                </c:pt>
                <c:pt idx="16">
                  <c:v>0.49397590361445781</c:v>
                </c:pt>
                <c:pt idx="17">
                  <c:v>0.52459016393442626</c:v>
                </c:pt>
                <c:pt idx="18">
                  <c:v>0.55660377358490565</c:v>
                </c:pt>
                <c:pt idx="19">
                  <c:v>0.53722627737226281</c:v>
                </c:pt>
                <c:pt idx="20">
                  <c:v>0.49780380673499269</c:v>
                </c:pt>
                <c:pt idx="21">
                  <c:v>0.52959501557632394</c:v>
                </c:pt>
                <c:pt idx="22">
                  <c:v>0.49707602339181284</c:v>
                </c:pt>
                <c:pt idx="23">
                  <c:v>0.49491525423728816</c:v>
                </c:pt>
                <c:pt idx="24">
                  <c:v>0.52961672473867594</c:v>
                </c:pt>
                <c:pt idx="25">
                  <c:v>0.47619047619047616</c:v>
                </c:pt>
                <c:pt idx="26">
                  <c:v>0.52925170068027216</c:v>
                </c:pt>
                <c:pt idx="27">
                  <c:v>0.54644808743169404</c:v>
                </c:pt>
                <c:pt idx="28">
                  <c:v>0.49923664122137407</c:v>
                </c:pt>
                <c:pt idx="29">
                  <c:v>0.53234501347708896</c:v>
                </c:pt>
                <c:pt idx="30">
                  <c:v>0.48364888123924271</c:v>
                </c:pt>
                <c:pt idx="31">
                  <c:v>0.57094594594594594</c:v>
                </c:pt>
                <c:pt idx="32">
                  <c:v>0.48768472906403942</c:v>
                </c:pt>
                <c:pt idx="33">
                  <c:v>0.49704142011834318</c:v>
                </c:pt>
                <c:pt idx="34">
                  <c:v>0.5</c:v>
                </c:pt>
                <c:pt idx="35">
                  <c:v>0.52135493372606778</c:v>
                </c:pt>
                <c:pt idx="36">
                  <c:v>0.51704545454545459</c:v>
                </c:pt>
                <c:pt idx="37">
                  <c:v>0.47603833865814699</c:v>
                </c:pt>
                <c:pt idx="38">
                  <c:v>0.54858934169278994</c:v>
                </c:pt>
                <c:pt idx="39">
                  <c:v>0.5</c:v>
                </c:pt>
                <c:pt idx="40">
                  <c:v>0.51048951048951052</c:v>
                </c:pt>
                <c:pt idx="41">
                  <c:v>0.50810810810810814</c:v>
                </c:pt>
                <c:pt idx="42">
                  <c:v>0.50131926121372028</c:v>
                </c:pt>
                <c:pt idx="43">
                  <c:v>0.50649350649350644</c:v>
                </c:pt>
                <c:pt idx="44">
                  <c:v>0.5587349397590361</c:v>
                </c:pt>
                <c:pt idx="45">
                  <c:v>0.50402144772117963</c:v>
                </c:pt>
                <c:pt idx="46">
                  <c:v>0.53669724770642202</c:v>
                </c:pt>
                <c:pt idx="47">
                  <c:v>0.49834983498349833</c:v>
                </c:pt>
                <c:pt idx="48">
                  <c:v>0.51829988193624554</c:v>
                </c:pt>
                <c:pt idx="49">
                  <c:v>0.52345679012345681</c:v>
                </c:pt>
                <c:pt idx="50">
                  <c:v>0.50303030303030305</c:v>
                </c:pt>
                <c:pt idx="51">
                  <c:v>0.51168831168831164</c:v>
                </c:pt>
                <c:pt idx="52">
                  <c:v>0.47710843373493977</c:v>
                </c:pt>
                <c:pt idx="53">
                  <c:v>0.47080291970802918</c:v>
                </c:pt>
                <c:pt idx="54">
                  <c:v>0.5071942446043165</c:v>
                </c:pt>
                <c:pt idx="55">
                  <c:v>0.49769053117782908</c:v>
                </c:pt>
                <c:pt idx="56">
                  <c:v>0.49778761061946902</c:v>
                </c:pt>
                <c:pt idx="57">
                  <c:v>0.50295159386068478</c:v>
                </c:pt>
                <c:pt idx="58">
                  <c:v>0.4923780487804878</c:v>
                </c:pt>
                <c:pt idx="59">
                  <c:v>0.50769230769230766</c:v>
                </c:pt>
                <c:pt idx="60">
                  <c:v>0.52707581227436828</c:v>
                </c:pt>
                <c:pt idx="61">
                  <c:v>0.53012048192771088</c:v>
                </c:pt>
                <c:pt idx="62">
                  <c:v>0.53980099502487566</c:v>
                </c:pt>
                <c:pt idx="63">
                  <c:v>0.50844854070660517</c:v>
                </c:pt>
                <c:pt idx="64">
                  <c:v>0.51507840772014479</c:v>
                </c:pt>
                <c:pt idx="65">
                  <c:v>0.50645994832041341</c:v>
                </c:pt>
                <c:pt idx="66">
                  <c:v>0.50119904076738608</c:v>
                </c:pt>
                <c:pt idx="67">
                  <c:v>0.48051948051948051</c:v>
                </c:pt>
                <c:pt idx="68">
                  <c:v>0.56022727272727268</c:v>
                </c:pt>
                <c:pt idx="69">
                  <c:v>0.54926108374384242</c:v>
                </c:pt>
                <c:pt idx="70">
                  <c:v>0.52215568862275452</c:v>
                </c:pt>
                <c:pt idx="71">
                  <c:v>0.532258064516129</c:v>
                </c:pt>
                <c:pt idx="72">
                  <c:v>0.48167539267015708</c:v>
                </c:pt>
                <c:pt idx="73">
                  <c:v>0.49748743718592964</c:v>
                </c:pt>
                <c:pt idx="74">
                  <c:v>0.44230769230769229</c:v>
                </c:pt>
                <c:pt idx="75">
                  <c:v>0.52270210409745288</c:v>
                </c:pt>
                <c:pt idx="76">
                  <c:v>0.52725250278086766</c:v>
                </c:pt>
                <c:pt idx="77">
                  <c:v>0.51605231866825207</c:v>
                </c:pt>
                <c:pt idx="78">
                  <c:v>0.53063583815028903</c:v>
                </c:pt>
                <c:pt idx="79">
                  <c:v>0.49705535924617195</c:v>
                </c:pt>
                <c:pt idx="80">
                  <c:v>0.53125</c:v>
                </c:pt>
                <c:pt idx="81">
                  <c:v>0.46610169491525422</c:v>
                </c:pt>
                <c:pt idx="82">
                  <c:v>0.50883002207505523</c:v>
                </c:pt>
                <c:pt idx="83">
                  <c:v>0.49647532729103727</c:v>
                </c:pt>
                <c:pt idx="84">
                  <c:v>0.5164179104477612</c:v>
                </c:pt>
                <c:pt idx="85">
                  <c:v>0.49841269841269842</c:v>
                </c:pt>
                <c:pt idx="86">
                  <c:v>0.51273148148148151</c:v>
                </c:pt>
                <c:pt idx="87">
                  <c:v>0.47586206896551725</c:v>
                </c:pt>
                <c:pt idx="88">
                  <c:v>0.52298850574712641</c:v>
                </c:pt>
                <c:pt idx="89">
                  <c:v>0.52690355329949234</c:v>
                </c:pt>
                <c:pt idx="90">
                  <c:v>0.5073891625615764</c:v>
                </c:pt>
                <c:pt idx="91">
                  <c:v>0.53545734840698866</c:v>
                </c:pt>
                <c:pt idx="92">
                  <c:v>0.47624076029567053</c:v>
                </c:pt>
                <c:pt idx="93">
                  <c:v>0.48928571428571427</c:v>
                </c:pt>
                <c:pt idx="94">
                  <c:v>0.4689655172413793</c:v>
                </c:pt>
                <c:pt idx="95">
                  <c:v>0.47938144329896909</c:v>
                </c:pt>
                <c:pt idx="96">
                  <c:v>0.52358490566037741</c:v>
                </c:pt>
                <c:pt idx="97">
                  <c:v>0.53551912568306015</c:v>
                </c:pt>
                <c:pt idx="98">
                  <c:v>0.48288621646623497</c:v>
                </c:pt>
                <c:pt idx="99">
                  <c:v>0.50381679389312972</c:v>
                </c:pt>
                <c:pt idx="100">
                  <c:v>0.46389496717724288</c:v>
                </c:pt>
                <c:pt idx="101">
                  <c:v>0.50386100386100385</c:v>
                </c:pt>
                <c:pt idx="102">
                  <c:v>0.47002398081534774</c:v>
                </c:pt>
                <c:pt idx="103">
                  <c:v>0.49812030075187969</c:v>
                </c:pt>
                <c:pt idx="104">
                  <c:v>0.42486231313926043</c:v>
                </c:pt>
                <c:pt idx="105">
                  <c:v>0.44377162629757788</c:v>
                </c:pt>
                <c:pt idx="106">
                  <c:v>0.40729483282674772</c:v>
                </c:pt>
                <c:pt idx="107">
                  <c:v>0.2857142857142857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75-48A6-8059-876FC9A614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625232"/>
        <c:axId val="103625648"/>
      </c:lineChart>
      <c:catAx>
        <c:axId val="103625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5E2C7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5E2C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  <c:crossAx val="103625648"/>
        <c:crosses val="autoZero"/>
        <c:auto val="1"/>
        <c:lblAlgn val="ctr"/>
        <c:lblOffset val="100"/>
        <c:tickLblSkip val="7"/>
        <c:tickMarkSkip val="1"/>
        <c:noMultiLvlLbl val="0"/>
      </c:catAx>
      <c:valAx>
        <c:axId val="103625648"/>
        <c:scaling>
          <c:orientation val="minMax"/>
          <c:min val="0.25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noFill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  <c:crossAx val="1036252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0057809353908961E-2"/>
          <c:y val="7.9563170656647475E-2"/>
          <c:w val="0.92349754242560322"/>
          <c:h val="0.85161092868085453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Prescrições</c:v>
                </c:pt>
              </c:strCache>
            </c:strRef>
          </c:tx>
          <c:spPr>
            <a:ln w="28575" cap="rnd">
              <a:solidFill>
                <a:srgbClr val="3C0E6B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Planilha1!$A$2:$A$109</c:f>
              <c:strCache>
                <c:ptCount val="108"/>
                <c:pt idx="0">
                  <c:v>01/jan</c:v>
                </c:pt>
                <c:pt idx="1">
                  <c:v>02/jan</c:v>
                </c:pt>
                <c:pt idx="2">
                  <c:v>03/jan</c:v>
                </c:pt>
                <c:pt idx="3">
                  <c:v>04/jan</c:v>
                </c:pt>
                <c:pt idx="4">
                  <c:v>05/jan</c:v>
                </c:pt>
                <c:pt idx="5">
                  <c:v>06/jan</c:v>
                </c:pt>
                <c:pt idx="6">
                  <c:v>07/jan</c:v>
                </c:pt>
                <c:pt idx="7">
                  <c:v>08/jan</c:v>
                </c:pt>
                <c:pt idx="8">
                  <c:v>09/jan</c:v>
                </c:pt>
                <c:pt idx="9">
                  <c:v>10/jan</c:v>
                </c:pt>
                <c:pt idx="10">
                  <c:v>11/jan</c:v>
                </c:pt>
                <c:pt idx="11">
                  <c:v>12/jan</c:v>
                </c:pt>
                <c:pt idx="12">
                  <c:v>13/jan</c:v>
                </c:pt>
                <c:pt idx="13">
                  <c:v>14/jan</c:v>
                </c:pt>
                <c:pt idx="14">
                  <c:v>15/jan</c:v>
                </c:pt>
                <c:pt idx="15">
                  <c:v>16/jan</c:v>
                </c:pt>
                <c:pt idx="16">
                  <c:v>17/jan</c:v>
                </c:pt>
                <c:pt idx="17">
                  <c:v>18/jan</c:v>
                </c:pt>
                <c:pt idx="18">
                  <c:v>19/jan</c:v>
                </c:pt>
                <c:pt idx="19">
                  <c:v>20/jan</c:v>
                </c:pt>
                <c:pt idx="20">
                  <c:v>21/jan</c:v>
                </c:pt>
                <c:pt idx="21">
                  <c:v>22/jan</c:v>
                </c:pt>
                <c:pt idx="22">
                  <c:v>23/jan</c:v>
                </c:pt>
                <c:pt idx="23">
                  <c:v>24/jan</c:v>
                </c:pt>
                <c:pt idx="24">
                  <c:v>25/jan</c:v>
                </c:pt>
                <c:pt idx="25">
                  <c:v>26/jan</c:v>
                </c:pt>
                <c:pt idx="26">
                  <c:v>27/jan</c:v>
                </c:pt>
                <c:pt idx="27">
                  <c:v>28/jan</c:v>
                </c:pt>
                <c:pt idx="28">
                  <c:v>29/jan</c:v>
                </c:pt>
                <c:pt idx="29">
                  <c:v>30/jan</c:v>
                </c:pt>
                <c:pt idx="30">
                  <c:v>31/jan</c:v>
                </c:pt>
                <c:pt idx="31">
                  <c:v>01/fev</c:v>
                </c:pt>
                <c:pt idx="32">
                  <c:v>02/fev</c:v>
                </c:pt>
                <c:pt idx="33">
                  <c:v>03/fev</c:v>
                </c:pt>
                <c:pt idx="34">
                  <c:v>04/fev</c:v>
                </c:pt>
                <c:pt idx="35">
                  <c:v>05/fev</c:v>
                </c:pt>
                <c:pt idx="36">
                  <c:v>06/fev</c:v>
                </c:pt>
                <c:pt idx="37">
                  <c:v>07/fev</c:v>
                </c:pt>
                <c:pt idx="38">
                  <c:v>08/fev</c:v>
                </c:pt>
                <c:pt idx="39">
                  <c:v>09/fev</c:v>
                </c:pt>
                <c:pt idx="40">
                  <c:v>10/fev</c:v>
                </c:pt>
                <c:pt idx="41">
                  <c:v>11/fev</c:v>
                </c:pt>
                <c:pt idx="42">
                  <c:v>12/fev</c:v>
                </c:pt>
                <c:pt idx="43">
                  <c:v>13/fev</c:v>
                </c:pt>
                <c:pt idx="44">
                  <c:v>14/fev</c:v>
                </c:pt>
                <c:pt idx="45">
                  <c:v>15/fev</c:v>
                </c:pt>
                <c:pt idx="46">
                  <c:v>16/fev</c:v>
                </c:pt>
                <c:pt idx="47">
                  <c:v>17/fev</c:v>
                </c:pt>
                <c:pt idx="48">
                  <c:v>18/fev</c:v>
                </c:pt>
                <c:pt idx="49">
                  <c:v>19/fev</c:v>
                </c:pt>
                <c:pt idx="50">
                  <c:v>20/fev</c:v>
                </c:pt>
                <c:pt idx="51">
                  <c:v>21/fev</c:v>
                </c:pt>
                <c:pt idx="52">
                  <c:v>22/fev</c:v>
                </c:pt>
                <c:pt idx="53">
                  <c:v>23/fev</c:v>
                </c:pt>
                <c:pt idx="54">
                  <c:v>24/fev</c:v>
                </c:pt>
                <c:pt idx="55">
                  <c:v>25/fev</c:v>
                </c:pt>
                <c:pt idx="56">
                  <c:v>26/fev</c:v>
                </c:pt>
                <c:pt idx="57">
                  <c:v>27/fev</c:v>
                </c:pt>
                <c:pt idx="58">
                  <c:v>28/fev</c:v>
                </c:pt>
                <c:pt idx="59">
                  <c:v>01/mar</c:v>
                </c:pt>
                <c:pt idx="60">
                  <c:v>02/mar</c:v>
                </c:pt>
                <c:pt idx="61">
                  <c:v>03/mar</c:v>
                </c:pt>
                <c:pt idx="62">
                  <c:v>04/mar</c:v>
                </c:pt>
                <c:pt idx="63">
                  <c:v>05/mar</c:v>
                </c:pt>
                <c:pt idx="64">
                  <c:v>06/mar</c:v>
                </c:pt>
                <c:pt idx="65">
                  <c:v>07/mar</c:v>
                </c:pt>
                <c:pt idx="66">
                  <c:v>08/mar</c:v>
                </c:pt>
                <c:pt idx="67">
                  <c:v>09/mar</c:v>
                </c:pt>
                <c:pt idx="68">
                  <c:v>10/mar</c:v>
                </c:pt>
                <c:pt idx="69">
                  <c:v>11/mar</c:v>
                </c:pt>
                <c:pt idx="70">
                  <c:v>12/mar</c:v>
                </c:pt>
                <c:pt idx="71">
                  <c:v>13/mar</c:v>
                </c:pt>
                <c:pt idx="72">
                  <c:v>14/mar</c:v>
                </c:pt>
                <c:pt idx="73">
                  <c:v>15/mar</c:v>
                </c:pt>
                <c:pt idx="74">
                  <c:v>16/mar</c:v>
                </c:pt>
                <c:pt idx="75">
                  <c:v>17/mar</c:v>
                </c:pt>
                <c:pt idx="76">
                  <c:v>18/mar</c:v>
                </c:pt>
                <c:pt idx="77">
                  <c:v>19/mar</c:v>
                </c:pt>
                <c:pt idx="78">
                  <c:v>20/mar</c:v>
                </c:pt>
                <c:pt idx="79">
                  <c:v>21/mar</c:v>
                </c:pt>
                <c:pt idx="80">
                  <c:v>22/mar</c:v>
                </c:pt>
                <c:pt idx="81">
                  <c:v>23/mar</c:v>
                </c:pt>
                <c:pt idx="82">
                  <c:v>24/mar</c:v>
                </c:pt>
                <c:pt idx="83">
                  <c:v>25/mar</c:v>
                </c:pt>
                <c:pt idx="84">
                  <c:v>26/mar</c:v>
                </c:pt>
                <c:pt idx="85">
                  <c:v>27/mar</c:v>
                </c:pt>
                <c:pt idx="86">
                  <c:v>28/mar</c:v>
                </c:pt>
                <c:pt idx="87">
                  <c:v>29/mar</c:v>
                </c:pt>
                <c:pt idx="88">
                  <c:v>30/mar</c:v>
                </c:pt>
                <c:pt idx="89">
                  <c:v>31/mar</c:v>
                </c:pt>
                <c:pt idx="90">
                  <c:v>01/abr</c:v>
                </c:pt>
                <c:pt idx="91">
                  <c:v>02/abr</c:v>
                </c:pt>
                <c:pt idx="92">
                  <c:v>03/abr</c:v>
                </c:pt>
                <c:pt idx="93">
                  <c:v>04/abr</c:v>
                </c:pt>
                <c:pt idx="94">
                  <c:v>05/abr</c:v>
                </c:pt>
                <c:pt idx="95">
                  <c:v>06/abr</c:v>
                </c:pt>
                <c:pt idx="96">
                  <c:v>07/abr</c:v>
                </c:pt>
                <c:pt idx="97">
                  <c:v>08/abr</c:v>
                </c:pt>
                <c:pt idx="98">
                  <c:v>09/abr</c:v>
                </c:pt>
                <c:pt idx="99">
                  <c:v>10/abr</c:v>
                </c:pt>
                <c:pt idx="100">
                  <c:v>11/abr</c:v>
                </c:pt>
                <c:pt idx="101">
                  <c:v>12/abr</c:v>
                </c:pt>
                <c:pt idx="102">
                  <c:v>13/abr</c:v>
                </c:pt>
                <c:pt idx="103">
                  <c:v>14/abr</c:v>
                </c:pt>
                <c:pt idx="104">
                  <c:v>15/abr</c:v>
                </c:pt>
                <c:pt idx="105">
                  <c:v>16/abr</c:v>
                </c:pt>
                <c:pt idx="106">
                  <c:v>17/abr</c:v>
                </c:pt>
                <c:pt idx="107">
                  <c:v>18/abr</c:v>
                </c:pt>
              </c:strCache>
            </c:strRef>
          </c:cat>
          <c:val>
            <c:numRef>
              <c:f>Planilha1!$B$2:$B$109</c:f>
              <c:numCache>
                <c:formatCode>#,##0</c:formatCode>
                <c:ptCount val="108"/>
                <c:pt idx="0">
                  <c:v>171</c:v>
                </c:pt>
                <c:pt idx="1">
                  <c:v>534</c:v>
                </c:pt>
                <c:pt idx="2">
                  <c:v>557</c:v>
                </c:pt>
                <c:pt idx="3">
                  <c:v>348</c:v>
                </c:pt>
                <c:pt idx="4">
                  <c:v>251</c:v>
                </c:pt>
                <c:pt idx="5">
                  <c:v>621</c:v>
                </c:pt>
                <c:pt idx="6">
                  <c:v>712</c:v>
                </c:pt>
                <c:pt idx="7">
                  <c:v>755</c:v>
                </c:pt>
                <c:pt idx="8">
                  <c:v>731</c:v>
                </c:pt>
                <c:pt idx="9">
                  <c:v>655</c:v>
                </c:pt>
                <c:pt idx="10">
                  <c:v>343</c:v>
                </c:pt>
                <c:pt idx="11">
                  <c:v>235</c:v>
                </c:pt>
                <c:pt idx="12">
                  <c:v>759</c:v>
                </c:pt>
                <c:pt idx="13">
                  <c:v>735</c:v>
                </c:pt>
                <c:pt idx="14">
                  <c:v>722</c:v>
                </c:pt>
                <c:pt idx="15">
                  <c:v>745</c:v>
                </c:pt>
                <c:pt idx="16">
                  <c:v>581</c:v>
                </c:pt>
                <c:pt idx="17">
                  <c:v>305</c:v>
                </c:pt>
                <c:pt idx="18">
                  <c:v>212</c:v>
                </c:pt>
                <c:pt idx="19">
                  <c:v>685</c:v>
                </c:pt>
                <c:pt idx="20">
                  <c:v>683</c:v>
                </c:pt>
                <c:pt idx="21">
                  <c:v>642</c:v>
                </c:pt>
                <c:pt idx="22">
                  <c:v>684</c:v>
                </c:pt>
                <c:pt idx="23">
                  <c:v>589</c:v>
                </c:pt>
                <c:pt idx="24">
                  <c:v>287</c:v>
                </c:pt>
                <c:pt idx="25">
                  <c:v>189</c:v>
                </c:pt>
                <c:pt idx="26">
                  <c:v>735</c:v>
                </c:pt>
                <c:pt idx="27">
                  <c:v>732</c:v>
                </c:pt>
                <c:pt idx="28">
                  <c:v>655</c:v>
                </c:pt>
                <c:pt idx="29">
                  <c:v>742</c:v>
                </c:pt>
                <c:pt idx="30">
                  <c:v>581</c:v>
                </c:pt>
                <c:pt idx="31">
                  <c:v>296</c:v>
                </c:pt>
                <c:pt idx="32">
                  <c:v>203</c:v>
                </c:pt>
                <c:pt idx="33">
                  <c:v>676</c:v>
                </c:pt>
                <c:pt idx="34">
                  <c:v>672</c:v>
                </c:pt>
                <c:pt idx="35">
                  <c:v>679</c:v>
                </c:pt>
                <c:pt idx="36">
                  <c:v>704</c:v>
                </c:pt>
                <c:pt idx="37">
                  <c:v>626</c:v>
                </c:pt>
                <c:pt idx="38">
                  <c:v>319</c:v>
                </c:pt>
                <c:pt idx="39">
                  <c:v>208</c:v>
                </c:pt>
                <c:pt idx="40">
                  <c:v>715</c:v>
                </c:pt>
                <c:pt idx="41">
                  <c:v>740</c:v>
                </c:pt>
                <c:pt idx="42">
                  <c:v>758</c:v>
                </c:pt>
                <c:pt idx="43">
                  <c:v>770</c:v>
                </c:pt>
                <c:pt idx="44">
                  <c:v>664</c:v>
                </c:pt>
                <c:pt idx="45">
                  <c:v>372</c:v>
                </c:pt>
                <c:pt idx="46">
                  <c:v>218</c:v>
                </c:pt>
                <c:pt idx="47">
                  <c:v>909</c:v>
                </c:pt>
                <c:pt idx="48">
                  <c:v>847</c:v>
                </c:pt>
                <c:pt idx="49">
                  <c:v>810</c:v>
                </c:pt>
                <c:pt idx="50">
                  <c:v>825</c:v>
                </c:pt>
                <c:pt idx="51">
                  <c:v>770</c:v>
                </c:pt>
                <c:pt idx="52">
                  <c:v>415</c:v>
                </c:pt>
                <c:pt idx="53">
                  <c:v>274</c:v>
                </c:pt>
                <c:pt idx="54">
                  <c:v>834</c:v>
                </c:pt>
                <c:pt idx="55">
                  <c:v>866</c:v>
                </c:pt>
                <c:pt idx="56">
                  <c:v>904</c:v>
                </c:pt>
                <c:pt idx="57">
                  <c:v>847</c:v>
                </c:pt>
                <c:pt idx="58">
                  <c:v>656</c:v>
                </c:pt>
                <c:pt idx="59">
                  <c:v>325</c:v>
                </c:pt>
                <c:pt idx="60">
                  <c:v>277</c:v>
                </c:pt>
                <c:pt idx="61">
                  <c:v>415</c:v>
                </c:pt>
                <c:pt idx="62">
                  <c:v>402</c:v>
                </c:pt>
                <c:pt idx="63">
                  <c:v>651</c:v>
                </c:pt>
                <c:pt idx="64">
                  <c:v>829</c:v>
                </c:pt>
                <c:pt idx="65">
                  <c:v>774</c:v>
                </c:pt>
                <c:pt idx="66">
                  <c:v>417</c:v>
                </c:pt>
                <c:pt idx="67">
                  <c:v>308</c:v>
                </c:pt>
                <c:pt idx="68">
                  <c:v>880</c:v>
                </c:pt>
                <c:pt idx="69">
                  <c:v>812</c:v>
                </c:pt>
                <c:pt idx="70">
                  <c:v>835</c:v>
                </c:pt>
                <c:pt idx="71">
                  <c:v>868</c:v>
                </c:pt>
                <c:pt idx="72">
                  <c:v>764</c:v>
                </c:pt>
                <c:pt idx="73">
                  <c:v>398</c:v>
                </c:pt>
                <c:pt idx="74">
                  <c:v>312</c:v>
                </c:pt>
                <c:pt idx="75">
                  <c:v>903</c:v>
                </c:pt>
                <c:pt idx="76">
                  <c:v>899</c:v>
                </c:pt>
                <c:pt idx="77">
                  <c:v>841</c:v>
                </c:pt>
                <c:pt idx="78">
                  <c:v>865</c:v>
                </c:pt>
                <c:pt idx="79">
                  <c:v>849</c:v>
                </c:pt>
                <c:pt idx="80">
                  <c:v>448</c:v>
                </c:pt>
                <c:pt idx="81">
                  <c:v>354</c:v>
                </c:pt>
                <c:pt idx="82">
                  <c:v>906</c:v>
                </c:pt>
                <c:pt idx="83">
                  <c:v>993</c:v>
                </c:pt>
                <c:pt idx="84">
                  <c:v>1005</c:v>
                </c:pt>
                <c:pt idx="85">
                  <c:v>945</c:v>
                </c:pt>
                <c:pt idx="86">
                  <c:v>864</c:v>
                </c:pt>
                <c:pt idx="87">
                  <c:v>435</c:v>
                </c:pt>
                <c:pt idx="88">
                  <c:v>348</c:v>
                </c:pt>
                <c:pt idx="89">
                  <c:v>985</c:v>
                </c:pt>
                <c:pt idx="90">
                  <c:v>1015</c:v>
                </c:pt>
                <c:pt idx="91">
                  <c:v>973</c:v>
                </c:pt>
                <c:pt idx="92">
                  <c:v>947</c:v>
                </c:pt>
                <c:pt idx="93">
                  <c:v>840</c:v>
                </c:pt>
                <c:pt idx="94">
                  <c:v>435</c:v>
                </c:pt>
                <c:pt idx="95">
                  <c:v>388</c:v>
                </c:pt>
                <c:pt idx="96">
                  <c:v>1060</c:v>
                </c:pt>
                <c:pt idx="97">
                  <c:v>1098</c:v>
                </c:pt>
                <c:pt idx="98">
                  <c:v>1081</c:v>
                </c:pt>
                <c:pt idx="99">
                  <c:v>1048</c:v>
                </c:pt>
                <c:pt idx="100">
                  <c:v>914</c:v>
                </c:pt>
                <c:pt idx="101">
                  <c:v>518</c:v>
                </c:pt>
                <c:pt idx="102">
                  <c:v>417</c:v>
                </c:pt>
                <c:pt idx="103">
                  <c:v>1064</c:v>
                </c:pt>
                <c:pt idx="104">
                  <c:v>1271</c:v>
                </c:pt>
                <c:pt idx="105">
                  <c:v>1156</c:v>
                </c:pt>
                <c:pt idx="106">
                  <c:v>987</c:v>
                </c:pt>
                <c:pt idx="107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A4-4C20-9C4B-42C60D809B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625232"/>
        <c:axId val="103625648"/>
      </c:lineChart>
      <c:catAx>
        <c:axId val="103625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625648"/>
        <c:crosses val="autoZero"/>
        <c:auto val="1"/>
        <c:lblAlgn val="ctr"/>
        <c:lblOffset val="100"/>
        <c:noMultiLvlLbl val="0"/>
      </c:catAx>
      <c:valAx>
        <c:axId val="103625648"/>
        <c:scaling>
          <c:orientation val="minMax"/>
          <c:max val="1500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  <c:crossAx val="103625232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Prescrições</c:v>
                </c:pt>
              </c:strCache>
            </c:strRef>
          </c:tx>
          <c:spPr>
            <a:ln w="28575" cap="rnd">
              <a:solidFill>
                <a:srgbClr val="5E2C7A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Planilha1!$A$2:$A$109</c:f>
              <c:strCache>
                <c:ptCount val="108"/>
                <c:pt idx="0">
                  <c:v>01/jan</c:v>
                </c:pt>
                <c:pt idx="1">
                  <c:v>02/jan</c:v>
                </c:pt>
                <c:pt idx="2">
                  <c:v>03/jan</c:v>
                </c:pt>
                <c:pt idx="3">
                  <c:v>04/jan</c:v>
                </c:pt>
                <c:pt idx="4">
                  <c:v>05/jan</c:v>
                </c:pt>
                <c:pt idx="5">
                  <c:v>06/jan</c:v>
                </c:pt>
                <c:pt idx="6">
                  <c:v>07/jan</c:v>
                </c:pt>
                <c:pt idx="7">
                  <c:v>08/jan</c:v>
                </c:pt>
                <c:pt idx="8">
                  <c:v>09/jan</c:v>
                </c:pt>
                <c:pt idx="9">
                  <c:v>10/jan</c:v>
                </c:pt>
                <c:pt idx="10">
                  <c:v>11/jan</c:v>
                </c:pt>
                <c:pt idx="11">
                  <c:v>12/jan</c:v>
                </c:pt>
                <c:pt idx="12">
                  <c:v>13/jan</c:v>
                </c:pt>
                <c:pt idx="13">
                  <c:v>14/jan</c:v>
                </c:pt>
                <c:pt idx="14">
                  <c:v>15/jan</c:v>
                </c:pt>
                <c:pt idx="15">
                  <c:v>16/jan</c:v>
                </c:pt>
                <c:pt idx="16">
                  <c:v>17/jan</c:v>
                </c:pt>
                <c:pt idx="17">
                  <c:v>18/jan</c:v>
                </c:pt>
                <c:pt idx="18">
                  <c:v>19/jan</c:v>
                </c:pt>
                <c:pt idx="19">
                  <c:v>20/jan</c:v>
                </c:pt>
                <c:pt idx="20">
                  <c:v>21/jan</c:v>
                </c:pt>
                <c:pt idx="21">
                  <c:v>22/jan</c:v>
                </c:pt>
                <c:pt idx="22">
                  <c:v>23/jan</c:v>
                </c:pt>
                <c:pt idx="23">
                  <c:v>24/jan</c:v>
                </c:pt>
                <c:pt idx="24">
                  <c:v>25/jan</c:v>
                </c:pt>
                <c:pt idx="25">
                  <c:v>26/jan</c:v>
                </c:pt>
                <c:pt idx="26">
                  <c:v>27/jan</c:v>
                </c:pt>
                <c:pt idx="27">
                  <c:v>28/jan</c:v>
                </c:pt>
                <c:pt idx="28">
                  <c:v>29/jan</c:v>
                </c:pt>
                <c:pt idx="29">
                  <c:v>30/jan</c:v>
                </c:pt>
                <c:pt idx="30">
                  <c:v>31/jan</c:v>
                </c:pt>
                <c:pt idx="31">
                  <c:v>01/fev</c:v>
                </c:pt>
                <c:pt idx="32">
                  <c:v>02/fev</c:v>
                </c:pt>
                <c:pt idx="33">
                  <c:v>03/fev</c:v>
                </c:pt>
                <c:pt idx="34">
                  <c:v>04/fev</c:v>
                </c:pt>
                <c:pt idx="35">
                  <c:v>05/fev</c:v>
                </c:pt>
                <c:pt idx="36">
                  <c:v>06/fev</c:v>
                </c:pt>
                <c:pt idx="37">
                  <c:v>07/fev</c:v>
                </c:pt>
                <c:pt idx="38">
                  <c:v>08/fev</c:v>
                </c:pt>
                <c:pt idx="39">
                  <c:v>09/fev</c:v>
                </c:pt>
                <c:pt idx="40">
                  <c:v>10/fev</c:v>
                </c:pt>
                <c:pt idx="41">
                  <c:v>11/fev</c:v>
                </c:pt>
                <c:pt idx="42">
                  <c:v>12/fev</c:v>
                </c:pt>
                <c:pt idx="43">
                  <c:v>13/fev</c:v>
                </c:pt>
                <c:pt idx="44">
                  <c:v>14/fev</c:v>
                </c:pt>
                <c:pt idx="45">
                  <c:v>15/fev</c:v>
                </c:pt>
                <c:pt idx="46">
                  <c:v>16/fev</c:v>
                </c:pt>
                <c:pt idx="47">
                  <c:v>17/fev</c:v>
                </c:pt>
                <c:pt idx="48">
                  <c:v>18/fev</c:v>
                </c:pt>
                <c:pt idx="49">
                  <c:v>19/fev</c:v>
                </c:pt>
                <c:pt idx="50">
                  <c:v>20/fev</c:v>
                </c:pt>
                <c:pt idx="51">
                  <c:v>21/fev</c:v>
                </c:pt>
                <c:pt idx="52">
                  <c:v>22/fev</c:v>
                </c:pt>
                <c:pt idx="53">
                  <c:v>23/fev</c:v>
                </c:pt>
                <c:pt idx="54">
                  <c:v>24/fev</c:v>
                </c:pt>
                <c:pt idx="55">
                  <c:v>25/fev</c:v>
                </c:pt>
                <c:pt idx="56">
                  <c:v>26/fev</c:v>
                </c:pt>
                <c:pt idx="57">
                  <c:v>27/fev</c:v>
                </c:pt>
                <c:pt idx="58">
                  <c:v>28/fev</c:v>
                </c:pt>
                <c:pt idx="59">
                  <c:v>01/mar</c:v>
                </c:pt>
                <c:pt idx="60">
                  <c:v>02/mar</c:v>
                </c:pt>
                <c:pt idx="61">
                  <c:v>03/mar</c:v>
                </c:pt>
                <c:pt idx="62">
                  <c:v>04/mar</c:v>
                </c:pt>
                <c:pt idx="63">
                  <c:v>05/mar</c:v>
                </c:pt>
                <c:pt idx="64">
                  <c:v>06/mar</c:v>
                </c:pt>
                <c:pt idx="65">
                  <c:v>07/mar</c:v>
                </c:pt>
                <c:pt idx="66">
                  <c:v>08/mar</c:v>
                </c:pt>
                <c:pt idx="67">
                  <c:v>09/mar</c:v>
                </c:pt>
                <c:pt idx="68">
                  <c:v>10/mar</c:v>
                </c:pt>
                <c:pt idx="69">
                  <c:v>11/mar</c:v>
                </c:pt>
                <c:pt idx="70">
                  <c:v>12/mar</c:v>
                </c:pt>
                <c:pt idx="71">
                  <c:v>13/mar</c:v>
                </c:pt>
                <c:pt idx="72">
                  <c:v>14/mar</c:v>
                </c:pt>
                <c:pt idx="73">
                  <c:v>15/mar</c:v>
                </c:pt>
                <c:pt idx="74">
                  <c:v>16/mar</c:v>
                </c:pt>
                <c:pt idx="75">
                  <c:v>17/mar</c:v>
                </c:pt>
                <c:pt idx="76">
                  <c:v>18/mar</c:v>
                </c:pt>
                <c:pt idx="77">
                  <c:v>19/mar</c:v>
                </c:pt>
                <c:pt idx="78">
                  <c:v>20/mar</c:v>
                </c:pt>
                <c:pt idx="79">
                  <c:v>21/mar</c:v>
                </c:pt>
                <c:pt idx="80">
                  <c:v>22/mar</c:v>
                </c:pt>
                <c:pt idx="81">
                  <c:v>23/mar</c:v>
                </c:pt>
                <c:pt idx="82">
                  <c:v>24/mar</c:v>
                </c:pt>
                <c:pt idx="83">
                  <c:v>25/mar</c:v>
                </c:pt>
                <c:pt idx="84">
                  <c:v>26/mar</c:v>
                </c:pt>
                <c:pt idx="85">
                  <c:v>27/mar</c:v>
                </c:pt>
                <c:pt idx="86">
                  <c:v>28/mar</c:v>
                </c:pt>
                <c:pt idx="87">
                  <c:v>29/mar</c:v>
                </c:pt>
                <c:pt idx="88">
                  <c:v>30/mar</c:v>
                </c:pt>
                <c:pt idx="89">
                  <c:v>31/mar</c:v>
                </c:pt>
                <c:pt idx="90">
                  <c:v>01/abr</c:v>
                </c:pt>
                <c:pt idx="91">
                  <c:v>02/abr</c:v>
                </c:pt>
                <c:pt idx="92">
                  <c:v>03/abr</c:v>
                </c:pt>
                <c:pt idx="93">
                  <c:v>04/abr</c:v>
                </c:pt>
                <c:pt idx="94">
                  <c:v>05/abr</c:v>
                </c:pt>
                <c:pt idx="95">
                  <c:v>06/abr</c:v>
                </c:pt>
                <c:pt idx="96">
                  <c:v>07/abr</c:v>
                </c:pt>
                <c:pt idx="97">
                  <c:v>08/abr</c:v>
                </c:pt>
                <c:pt idx="98">
                  <c:v>09/abr</c:v>
                </c:pt>
                <c:pt idx="99">
                  <c:v>10/abr</c:v>
                </c:pt>
                <c:pt idx="100">
                  <c:v>11/abr</c:v>
                </c:pt>
                <c:pt idx="101">
                  <c:v>12/abr</c:v>
                </c:pt>
                <c:pt idx="102">
                  <c:v>13/abr</c:v>
                </c:pt>
                <c:pt idx="103">
                  <c:v>14/abr</c:v>
                </c:pt>
                <c:pt idx="104">
                  <c:v>15/abr</c:v>
                </c:pt>
                <c:pt idx="105">
                  <c:v>16/abr</c:v>
                </c:pt>
                <c:pt idx="106">
                  <c:v>17/abr</c:v>
                </c:pt>
                <c:pt idx="107">
                  <c:v>18/abr</c:v>
                </c:pt>
              </c:strCache>
            </c:strRef>
          </c:cat>
          <c:val>
            <c:numRef>
              <c:f>Planilha1!$B$2:$B$109</c:f>
              <c:numCache>
                <c:formatCode>0%</c:formatCode>
                <c:ptCount val="108"/>
                <c:pt idx="0">
                  <c:v>0.41520467836257308</c:v>
                </c:pt>
                <c:pt idx="1">
                  <c:v>0.5056179775280899</c:v>
                </c:pt>
                <c:pt idx="2">
                  <c:v>0.51346499102333931</c:v>
                </c:pt>
                <c:pt idx="3">
                  <c:v>0.50574712643678166</c:v>
                </c:pt>
                <c:pt idx="4">
                  <c:v>0.47011952191235062</c:v>
                </c:pt>
                <c:pt idx="5">
                  <c:v>0.53623188405797106</c:v>
                </c:pt>
                <c:pt idx="6">
                  <c:v>0.5028089887640449</c:v>
                </c:pt>
                <c:pt idx="7">
                  <c:v>0.54966887417218546</c:v>
                </c:pt>
                <c:pt idx="8">
                  <c:v>0.52120383036935702</c:v>
                </c:pt>
                <c:pt idx="9">
                  <c:v>0.48549618320610688</c:v>
                </c:pt>
                <c:pt idx="10">
                  <c:v>0.51020408163265307</c:v>
                </c:pt>
                <c:pt idx="11">
                  <c:v>0.44255319148936167</c:v>
                </c:pt>
                <c:pt idx="12">
                  <c:v>0.48748353096179181</c:v>
                </c:pt>
                <c:pt idx="13">
                  <c:v>0.49523809523809526</c:v>
                </c:pt>
                <c:pt idx="14">
                  <c:v>0.48337950138504154</c:v>
                </c:pt>
                <c:pt idx="15">
                  <c:v>0.49261744966442955</c:v>
                </c:pt>
                <c:pt idx="16">
                  <c:v>0.49397590361445781</c:v>
                </c:pt>
                <c:pt idx="17">
                  <c:v>0.52459016393442626</c:v>
                </c:pt>
                <c:pt idx="18">
                  <c:v>0.55660377358490565</c:v>
                </c:pt>
                <c:pt idx="19">
                  <c:v>0.53722627737226281</c:v>
                </c:pt>
                <c:pt idx="20">
                  <c:v>0.49780380673499269</c:v>
                </c:pt>
                <c:pt idx="21">
                  <c:v>0.52959501557632394</c:v>
                </c:pt>
                <c:pt idx="22">
                  <c:v>0.49707602339181284</c:v>
                </c:pt>
                <c:pt idx="23">
                  <c:v>0.49405772495755518</c:v>
                </c:pt>
                <c:pt idx="24">
                  <c:v>0.52961672473867594</c:v>
                </c:pt>
                <c:pt idx="25">
                  <c:v>0.47619047619047616</c:v>
                </c:pt>
                <c:pt idx="26">
                  <c:v>0.52925170068027216</c:v>
                </c:pt>
                <c:pt idx="27">
                  <c:v>0.54644808743169404</c:v>
                </c:pt>
                <c:pt idx="28">
                  <c:v>0.49923664122137407</c:v>
                </c:pt>
                <c:pt idx="29">
                  <c:v>0.53234501347708896</c:v>
                </c:pt>
                <c:pt idx="30">
                  <c:v>0.48364888123924271</c:v>
                </c:pt>
                <c:pt idx="31">
                  <c:v>0.57094594594594594</c:v>
                </c:pt>
                <c:pt idx="32">
                  <c:v>0.48768472906403942</c:v>
                </c:pt>
                <c:pt idx="33">
                  <c:v>0.49704142011834318</c:v>
                </c:pt>
                <c:pt idx="34">
                  <c:v>0.5</c:v>
                </c:pt>
                <c:pt idx="35">
                  <c:v>0.52135493372606778</c:v>
                </c:pt>
                <c:pt idx="36">
                  <c:v>0.51704545454545459</c:v>
                </c:pt>
                <c:pt idx="37">
                  <c:v>0.47603833865814699</c:v>
                </c:pt>
                <c:pt idx="38">
                  <c:v>0.54858934169278994</c:v>
                </c:pt>
                <c:pt idx="39">
                  <c:v>0.5</c:v>
                </c:pt>
                <c:pt idx="40">
                  <c:v>0.51048951048951052</c:v>
                </c:pt>
                <c:pt idx="41">
                  <c:v>0.50810810810810814</c:v>
                </c:pt>
                <c:pt idx="42">
                  <c:v>0.50131926121372028</c:v>
                </c:pt>
                <c:pt idx="43">
                  <c:v>0.50649350649350644</c:v>
                </c:pt>
                <c:pt idx="44">
                  <c:v>0.5587349397590361</c:v>
                </c:pt>
                <c:pt idx="45">
                  <c:v>0.5053763440860215</c:v>
                </c:pt>
                <c:pt idx="46">
                  <c:v>0.53669724770642202</c:v>
                </c:pt>
                <c:pt idx="47">
                  <c:v>0.49834983498349833</c:v>
                </c:pt>
                <c:pt idx="48">
                  <c:v>0.51829988193624554</c:v>
                </c:pt>
                <c:pt idx="49">
                  <c:v>0.52345679012345681</c:v>
                </c:pt>
                <c:pt idx="50">
                  <c:v>0.50303030303030305</c:v>
                </c:pt>
                <c:pt idx="51">
                  <c:v>0.51168831168831164</c:v>
                </c:pt>
                <c:pt idx="52">
                  <c:v>0.47710843373493977</c:v>
                </c:pt>
                <c:pt idx="53">
                  <c:v>0.47080291970802918</c:v>
                </c:pt>
                <c:pt idx="54">
                  <c:v>0.5071942446043165</c:v>
                </c:pt>
                <c:pt idx="55">
                  <c:v>0.49769053117782908</c:v>
                </c:pt>
                <c:pt idx="56">
                  <c:v>0.49778761061946902</c:v>
                </c:pt>
                <c:pt idx="57">
                  <c:v>0.50295159386068478</c:v>
                </c:pt>
                <c:pt idx="58">
                  <c:v>0.4923780487804878</c:v>
                </c:pt>
                <c:pt idx="59">
                  <c:v>0.50769230769230766</c:v>
                </c:pt>
                <c:pt idx="60">
                  <c:v>0.52707581227436828</c:v>
                </c:pt>
                <c:pt idx="61">
                  <c:v>0.53012048192771088</c:v>
                </c:pt>
                <c:pt idx="62">
                  <c:v>0.53980099502487566</c:v>
                </c:pt>
                <c:pt idx="63">
                  <c:v>0.50844854070660517</c:v>
                </c:pt>
                <c:pt idx="64">
                  <c:v>0.51507840772014479</c:v>
                </c:pt>
                <c:pt idx="65">
                  <c:v>0.50645994832041341</c:v>
                </c:pt>
                <c:pt idx="66">
                  <c:v>0.50119904076738608</c:v>
                </c:pt>
                <c:pt idx="67">
                  <c:v>0.48051948051948051</c:v>
                </c:pt>
                <c:pt idx="68">
                  <c:v>0.56022727272727268</c:v>
                </c:pt>
                <c:pt idx="69">
                  <c:v>0.54926108374384242</c:v>
                </c:pt>
                <c:pt idx="70">
                  <c:v>0.52215568862275452</c:v>
                </c:pt>
                <c:pt idx="71">
                  <c:v>0.532258064516129</c:v>
                </c:pt>
                <c:pt idx="72">
                  <c:v>0.48167539267015708</c:v>
                </c:pt>
                <c:pt idx="73">
                  <c:v>0.49748743718592964</c:v>
                </c:pt>
                <c:pt idx="74">
                  <c:v>0.44230769230769229</c:v>
                </c:pt>
                <c:pt idx="75">
                  <c:v>0.52270210409745288</c:v>
                </c:pt>
                <c:pt idx="76">
                  <c:v>0.52725250278086766</c:v>
                </c:pt>
                <c:pt idx="77">
                  <c:v>0.51605231866825207</c:v>
                </c:pt>
                <c:pt idx="78">
                  <c:v>0.53063583815028903</c:v>
                </c:pt>
                <c:pt idx="79">
                  <c:v>0.49705535924617195</c:v>
                </c:pt>
                <c:pt idx="80">
                  <c:v>0.53125</c:v>
                </c:pt>
                <c:pt idx="81">
                  <c:v>0.46610169491525422</c:v>
                </c:pt>
                <c:pt idx="82">
                  <c:v>0.50883002207505523</c:v>
                </c:pt>
                <c:pt idx="83">
                  <c:v>0.49647532729103727</c:v>
                </c:pt>
                <c:pt idx="84">
                  <c:v>0.5164179104477612</c:v>
                </c:pt>
                <c:pt idx="85">
                  <c:v>0.49841269841269842</c:v>
                </c:pt>
                <c:pt idx="86">
                  <c:v>0.51273148148148151</c:v>
                </c:pt>
                <c:pt idx="87">
                  <c:v>0.47586206896551725</c:v>
                </c:pt>
                <c:pt idx="88">
                  <c:v>0.52298850574712641</c:v>
                </c:pt>
                <c:pt idx="89">
                  <c:v>0.52690355329949234</c:v>
                </c:pt>
                <c:pt idx="90">
                  <c:v>0.5073891625615764</c:v>
                </c:pt>
                <c:pt idx="91">
                  <c:v>0.53545734840698866</c:v>
                </c:pt>
                <c:pt idx="92">
                  <c:v>0.47624076029567053</c:v>
                </c:pt>
                <c:pt idx="93">
                  <c:v>0.48928571428571427</c:v>
                </c:pt>
                <c:pt idx="94">
                  <c:v>0.4689655172413793</c:v>
                </c:pt>
                <c:pt idx="95">
                  <c:v>0.47938144329896909</c:v>
                </c:pt>
                <c:pt idx="96">
                  <c:v>0.52358490566037741</c:v>
                </c:pt>
                <c:pt idx="97">
                  <c:v>0.53551912568306015</c:v>
                </c:pt>
                <c:pt idx="98">
                  <c:v>0.48288621646623497</c:v>
                </c:pt>
                <c:pt idx="99">
                  <c:v>0.50381679389312972</c:v>
                </c:pt>
                <c:pt idx="100">
                  <c:v>0.46389496717724288</c:v>
                </c:pt>
                <c:pt idx="101">
                  <c:v>0.50386100386100385</c:v>
                </c:pt>
                <c:pt idx="102">
                  <c:v>0.47002398081534774</c:v>
                </c:pt>
                <c:pt idx="103">
                  <c:v>0.49812030075187969</c:v>
                </c:pt>
                <c:pt idx="104">
                  <c:v>0.42486231313926043</c:v>
                </c:pt>
                <c:pt idx="105">
                  <c:v>0.44377162629757788</c:v>
                </c:pt>
                <c:pt idx="106">
                  <c:v>0.40729483282674772</c:v>
                </c:pt>
                <c:pt idx="107">
                  <c:v>0.2857142857142857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24-4C44-83EC-A8E7552390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625232"/>
        <c:axId val="103625648"/>
      </c:lineChart>
      <c:catAx>
        <c:axId val="103625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625648"/>
        <c:crosses val="autoZero"/>
        <c:auto val="1"/>
        <c:lblAlgn val="ctr"/>
        <c:lblOffset val="100"/>
        <c:noMultiLvlLbl val="0"/>
      </c:catAx>
      <c:valAx>
        <c:axId val="103625648"/>
        <c:scaling>
          <c:orientation val="minMax"/>
          <c:min val="0.25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  <c:crossAx val="10362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% conversao1P</c:v>
                </c:pt>
              </c:strCache>
            </c:strRef>
          </c:tx>
          <c:spPr>
            <a:ln w="28575" cap="rnd">
              <a:solidFill>
                <a:srgbClr val="9E6395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Planilha1!$A$2:$A$109</c:f>
              <c:strCache>
                <c:ptCount val="108"/>
                <c:pt idx="0">
                  <c:v>01/jan</c:v>
                </c:pt>
                <c:pt idx="1">
                  <c:v>02/jan</c:v>
                </c:pt>
                <c:pt idx="2">
                  <c:v>03/jan</c:v>
                </c:pt>
                <c:pt idx="3">
                  <c:v>04/jan</c:v>
                </c:pt>
                <c:pt idx="4">
                  <c:v>05/jan</c:v>
                </c:pt>
                <c:pt idx="5">
                  <c:v>06/jan</c:v>
                </c:pt>
                <c:pt idx="6">
                  <c:v>07/jan</c:v>
                </c:pt>
                <c:pt idx="7">
                  <c:v>08/jan</c:v>
                </c:pt>
                <c:pt idx="8">
                  <c:v>09/jan</c:v>
                </c:pt>
                <c:pt idx="9">
                  <c:v>10/jan</c:v>
                </c:pt>
                <c:pt idx="10">
                  <c:v>11/jan</c:v>
                </c:pt>
                <c:pt idx="11">
                  <c:v>12/jan</c:v>
                </c:pt>
                <c:pt idx="12">
                  <c:v>13/jan</c:v>
                </c:pt>
                <c:pt idx="13">
                  <c:v>14/jan</c:v>
                </c:pt>
                <c:pt idx="14">
                  <c:v>15/jan</c:v>
                </c:pt>
                <c:pt idx="15">
                  <c:v>16/jan</c:v>
                </c:pt>
                <c:pt idx="16">
                  <c:v>17/jan</c:v>
                </c:pt>
                <c:pt idx="17">
                  <c:v>18/jan</c:v>
                </c:pt>
                <c:pt idx="18">
                  <c:v>19/jan</c:v>
                </c:pt>
                <c:pt idx="19">
                  <c:v>20/jan</c:v>
                </c:pt>
                <c:pt idx="20">
                  <c:v>21/jan</c:v>
                </c:pt>
                <c:pt idx="21">
                  <c:v>22/jan</c:v>
                </c:pt>
                <c:pt idx="22">
                  <c:v>23/jan</c:v>
                </c:pt>
                <c:pt idx="23">
                  <c:v>24/jan</c:v>
                </c:pt>
                <c:pt idx="24">
                  <c:v>25/jan</c:v>
                </c:pt>
                <c:pt idx="25">
                  <c:v>26/jan</c:v>
                </c:pt>
                <c:pt idx="26">
                  <c:v>27/jan</c:v>
                </c:pt>
                <c:pt idx="27">
                  <c:v>28/jan</c:v>
                </c:pt>
                <c:pt idx="28">
                  <c:v>29/jan</c:v>
                </c:pt>
                <c:pt idx="29">
                  <c:v>30/jan</c:v>
                </c:pt>
                <c:pt idx="30">
                  <c:v>31/jan</c:v>
                </c:pt>
                <c:pt idx="31">
                  <c:v>01/fev</c:v>
                </c:pt>
                <c:pt idx="32">
                  <c:v>02/fev</c:v>
                </c:pt>
                <c:pt idx="33">
                  <c:v>03/fev</c:v>
                </c:pt>
                <c:pt idx="34">
                  <c:v>04/fev</c:v>
                </c:pt>
                <c:pt idx="35">
                  <c:v>05/fev</c:v>
                </c:pt>
                <c:pt idx="36">
                  <c:v>06/fev</c:v>
                </c:pt>
                <c:pt idx="37">
                  <c:v>07/fev</c:v>
                </c:pt>
                <c:pt idx="38">
                  <c:v>08/fev</c:v>
                </c:pt>
                <c:pt idx="39">
                  <c:v>09/fev</c:v>
                </c:pt>
                <c:pt idx="40">
                  <c:v>10/fev</c:v>
                </c:pt>
                <c:pt idx="41">
                  <c:v>11/fev</c:v>
                </c:pt>
                <c:pt idx="42">
                  <c:v>12/fev</c:v>
                </c:pt>
                <c:pt idx="43">
                  <c:v>13/fev</c:v>
                </c:pt>
                <c:pt idx="44">
                  <c:v>14/fev</c:v>
                </c:pt>
                <c:pt idx="45">
                  <c:v>15/fev</c:v>
                </c:pt>
                <c:pt idx="46">
                  <c:v>16/fev</c:v>
                </c:pt>
                <c:pt idx="47">
                  <c:v>17/fev</c:v>
                </c:pt>
                <c:pt idx="48">
                  <c:v>18/fev</c:v>
                </c:pt>
                <c:pt idx="49">
                  <c:v>19/fev</c:v>
                </c:pt>
                <c:pt idx="50">
                  <c:v>20/fev</c:v>
                </c:pt>
                <c:pt idx="51">
                  <c:v>21/fev</c:v>
                </c:pt>
                <c:pt idx="52">
                  <c:v>22/fev</c:v>
                </c:pt>
                <c:pt idx="53">
                  <c:v>23/fev</c:v>
                </c:pt>
                <c:pt idx="54">
                  <c:v>24/fev</c:v>
                </c:pt>
                <c:pt idx="55">
                  <c:v>25/fev</c:v>
                </c:pt>
                <c:pt idx="56">
                  <c:v>26/fev</c:v>
                </c:pt>
                <c:pt idx="57">
                  <c:v>27/fev</c:v>
                </c:pt>
                <c:pt idx="58">
                  <c:v>28/fev</c:v>
                </c:pt>
                <c:pt idx="59">
                  <c:v>01/mar</c:v>
                </c:pt>
                <c:pt idx="60">
                  <c:v>02/mar</c:v>
                </c:pt>
                <c:pt idx="61">
                  <c:v>03/mar</c:v>
                </c:pt>
                <c:pt idx="62">
                  <c:v>04/mar</c:v>
                </c:pt>
                <c:pt idx="63">
                  <c:v>05/mar</c:v>
                </c:pt>
                <c:pt idx="64">
                  <c:v>06/mar</c:v>
                </c:pt>
                <c:pt idx="65">
                  <c:v>07/mar</c:v>
                </c:pt>
                <c:pt idx="66">
                  <c:v>08/mar</c:v>
                </c:pt>
                <c:pt idx="67">
                  <c:v>09/mar</c:v>
                </c:pt>
                <c:pt idx="68">
                  <c:v>10/mar</c:v>
                </c:pt>
                <c:pt idx="69">
                  <c:v>11/mar</c:v>
                </c:pt>
                <c:pt idx="70">
                  <c:v>12/mar</c:v>
                </c:pt>
                <c:pt idx="71">
                  <c:v>13/mar</c:v>
                </c:pt>
                <c:pt idx="72">
                  <c:v>14/mar</c:v>
                </c:pt>
                <c:pt idx="73">
                  <c:v>15/mar</c:v>
                </c:pt>
                <c:pt idx="74">
                  <c:v>16/mar</c:v>
                </c:pt>
                <c:pt idx="75">
                  <c:v>17/mar</c:v>
                </c:pt>
                <c:pt idx="76">
                  <c:v>18/mar</c:v>
                </c:pt>
                <c:pt idx="77">
                  <c:v>19/mar</c:v>
                </c:pt>
                <c:pt idx="78">
                  <c:v>20/mar</c:v>
                </c:pt>
                <c:pt idx="79">
                  <c:v>21/mar</c:v>
                </c:pt>
                <c:pt idx="80">
                  <c:v>22/mar</c:v>
                </c:pt>
                <c:pt idx="81">
                  <c:v>23/mar</c:v>
                </c:pt>
                <c:pt idx="82">
                  <c:v>24/mar</c:v>
                </c:pt>
                <c:pt idx="83">
                  <c:v>25/mar</c:v>
                </c:pt>
                <c:pt idx="84">
                  <c:v>26/mar</c:v>
                </c:pt>
                <c:pt idx="85">
                  <c:v>27/mar</c:v>
                </c:pt>
                <c:pt idx="86">
                  <c:v>28/mar</c:v>
                </c:pt>
                <c:pt idx="87">
                  <c:v>29/mar</c:v>
                </c:pt>
                <c:pt idx="88">
                  <c:v>30/mar</c:v>
                </c:pt>
                <c:pt idx="89">
                  <c:v>31/mar</c:v>
                </c:pt>
                <c:pt idx="90">
                  <c:v>01/abr</c:v>
                </c:pt>
                <c:pt idx="91">
                  <c:v>02/abr</c:v>
                </c:pt>
                <c:pt idx="92">
                  <c:v>03/abr</c:v>
                </c:pt>
                <c:pt idx="93">
                  <c:v>04/abr</c:v>
                </c:pt>
                <c:pt idx="94">
                  <c:v>05/abr</c:v>
                </c:pt>
                <c:pt idx="95">
                  <c:v>06/abr</c:v>
                </c:pt>
                <c:pt idx="96">
                  <c:v>07/abr</c:v>
                </c:pt>
                <c:pt idx="97">
                  <c:v>08/abr</c:v>
                </c:pt>
                <c:pt idx="98">
                  <c:v>09/abr</c:v>
                </c:pt>
                <c:pt idx="99">
                  <c:v>10/abr</c:v>
                </c:pt>
                <c:pt idx="100">
                  <c:v>11/abr</c:v>
                </c:pt>
                <c:pt idx="101">
                  <c:v>12/abr</c:v>
                </c:pt>
                <c:pt idx="102">
                  <c:v>13/abr</c:v>
                </c:pt>
                <c:pt idx="103">
                  <c:v>14/abr</c:v>
                </c:pt>
                <c:pt idx="104">
                  <c:v>15/abr</c:v>
                </c:pt>
                <c:pt idx="105">
                  <c:v>16/abr</c:v>
                </c:pt>
                <c:pt idx="106">
                  <c:v>17/abr</c:v>
                </c:pt>
                <c:pt idx="107">
                  <c:v>18/abr</c:v>
                </c:pt>
              </c:strCache>
            </c:strRef>
          </c:cat>
          <c:val>
            <c:numRef>
              <c:f>Planilha1!$B$2:$B$109</c:f>
              <c:numCache>
                <c:formatCode>0%</c:formatCode>
                <c:ptCount val="108"/>
                <c:pt idx="0">
                  <c:v>0.1095890410958904</c:v>
                </c:pt>
                <c:pt idx="1">
                  <c:v>0.16014234875444841</c:v>
                </c:pt>
                <c:pt idx="2">
                  <c:v>0.12627986348122866</c:v>
                </c:pt>
                <c:pt idx="3">
                  <c:v>9.4972067039106142E-2</c:v>
                </c:pt>
                <c:pt idx="4">
                  <c:v>0.16</c:v>
                </c:pt>
                <c:pt idx="5">
                  <c:v>0.14571428571428571</c:v>
                </c:pt>
                <c:pt idx="6">
                  <c:v>0.125</c:v>
                </c:pt>
                <c:pt idx="7">
                  <c:v>0.10526315789473684</c:v>
                </c:pt>
                <c:pt idx="8">
                  <c:v>0.1396508728179551</c:v>
                </c:pt>
                <c:pt idx="9">
                  <c:v>0.1497005988023952</c:v>
                </c:pt>
                <c:pt idx="10">
                  <c:v>0.2011173184357542</c:v>
                </c:pt>
                <c:pt idx="11">
                  <c:v>0.12727272727272726</c:v>
                </c:pt>
                <c:pt idx="12">
                  <c:v>0.15104166666666666</c:v>
                </c:pt>
                <c:pt idx="13">
                  <c:v>0.14784946236559141</c:v>
                </c:pt>
                <c:pt idx="14">
                  <c:v>0.12466124661246612</c:v>
                </c:pt>
                <c:pt idx="15">
                  <c:v>0.13031914893617022</c:v>
                </c:pt>
                <c:pt idx="16">
                  <c:v>0.10847457627118644</c:v>
                </c:pt>
                <c:pt idx="17">
                  <c:v>0.10650887573964497</c:v>
                </c:pt>
                <c:pt idx="18">
                  <c:v>0.13821138211382114</c:v>
                </c:pt>
                <c:pt idx="19">
                  <c:v>0.14659685863874344</c:v>
                </c:pt>
                <c:pt idx="20">
                  <c:v>0.12021857923497267</c:v>
                </c:pt>
                <c:pt idx="21">
                  <c:v>0.18662952646239556</c:v>
                </c:pt>
                <c:pt idx="22">
                  <c:v>0.11965811965811966</c:v>
                </c:pt>
                <c:pt idx="23">
                  <c:v>0.10526315789473684</c:v>
                </c:pt>
                <c:pt idx="24">
                  <c:v>0.11038961038961038</c:v>
                </c:pt>
                <c:pt idx="25">
                  <c:v>0.21276595744680851</c:v>
                </c:pt>
                <c:pt idx="26">
                  <c:v>0.12530712530712532</c:v>
                </c:pt>
                <c:pt idx="27">
                  <c:v>0.11056511056511056</c:v>
                </c:pt>
                <c:pt idx="28">
                  <c:v>0.17579250720461095</c:v>
                </c:pt>
                <c:pt idx="29">
                  <c:v>0.14903846153846154</c:v>
                </c:pt>
                <c:pt idx="30">
                  <c:v>0.12714776632302405</c:v>
                </c:pt>
                <c:pt idx="31">
                  <c:v>7.3863636363636367E-2</c:v>
                </c:pt>
                <c:pt idx="32">
                  <c:v>0.12621359223300971</c:v>
                </c:pt>
                <c:pt idx="33">
                  <c:v>9.5375722543352595E-2</c:v>
                </c:pt>
                <c:pt idx="34">
                  <c:v>0.14245014245014245</c:v>
                </c:pt>
                <c:pt idx="35">
                  <c:v>0.14130434782608695</c:v>
                </c:pt>
                <c:pt idx="36">
                  <c:v>0.14435695538057744</c:v>
                </c:pt>
                <c:pt idx="37">
                  <c:v>0.11182108626198083</c:v>
                </c:pt>
                <c:pt idx="38">
                  <c:v>0.12568306010928962</c:v>
                </c:pt>
                <c:pt idx="39">
                  <c:v>9.90990990990991E-2</c:v>
                </c:pt>
                <c:pt idx="40">
                  <c:v>0.11051212938005391</c:v>
                </c:pt>
                <c:pt idx="41">
                  <c:v>0.12694300518134716</c:v>
                </c:pt>
                <c:pt idx="42">
                  <c:v>0.13432835820895522</c:v>
                </c:pt>
                <c:pt idx="43">
                  <c:v>0.14634146341463414</c:v>
                </c:pt>
                <c:pt idx="44">
                  <c:v>6.3938618925831206E-2</c:v>
                </c:pt>
                <c:pt idx="45">
                  <c:v>0.13705583756345177</c:v>
                </c:pt>
                <c:pt idx="46">
                  <c:v>0.13008130081300814</c:v>
                </c:pt>
                <c:pt idx="47">
                  <c:v>9.1489361702127653E-2</c:v>
                </c:pt>
                <c:pt idx="48">
                  <c:v>0.10173160173160173</c:v>
                </c:pt>
                <c:pt idx="49">
                  <c:v>8.8235294117647065E-2</c:v>
                </c:pt>
                <c:pt idx="50">
                  <c:v>0.14031180400890869</c:v>
                </c:pt>
                <c:pt idx="51">
                  <c:v>9.7619047619047619E-2</c:v>
                </c:pt>
                <c:pt idx="52">
                  <c:v>0.14553990610328638</c:v>
                </c:pt>
                <c:pt idx="53">
                  <c:v>0.16296296296296298</c:v>
                </c:pt>
                <c:pt idx="54">
                  <c:v>0.10986547085201794</c:v>
                </c:pt>
                <c:pt idx="55">
                  <c:v>0.10199556541019955</c:v>
                </c:pt>
                <c:pt idx="56">
                  <c:v>9.4623655913978491E-2</c:v>
                </c:pt>
                <c:pt idx="57">
                  <c:v>0.12995594713656389</c:v>
                </c:pt>
                <c:pt idx="58">
                  <c:v>0.1021021021021021</c:v>
                </c:pt>
                <c:pt idx="59">
                  <c:v>9.3567251461988299E-2</c:v>
                </c:pt>
                <c:pt idx="60">
                  <c:v>0.16875000000000001</c:v>
                </c:pt>
                <c:pt idx="61">
                  <c:v>8.8495575221238937E-2</c:v>
                </c:pt>
                <c:pt idx="62">
                  <c:v>0.14977973568281938</c:v>
                </c:pt>
                <c:pt idx="63">
                  <c:v>0.16045845272206305</c:v>
                </c:pt>
                <c:pt idx="64">
                  <c:v>0.1348314606741573</c:v>
                </c:pt>
                <c:pt idx="65">
                  <c:v>0.13902439024390245</c:v>
                </c:pt>
                <c:pt idx="66">
                  <c:v>0.13425925925925927</c:v>
                </c:pt>
                <c:pt idx="67">
                  <c:v>0.19496855345911951</c:v>
                </c:pt>
                <c:pt idx="68">
                  <c:v>0.11650485436893204</c:v>
                </c:pt>
                <c:pt idx="69">
                  <c:v>9.2872570194384454E-2</c:v>
                </c:pt>
                <c:pt idx="70">
                  <c:v>7.0953436807095344E-2</c:v>
                </c:pt>
                <c:pt idx="71">
                  <c:v>0.10743801652892562</c:v>
                </c:pt>
                <c:pt idx="72">
                  <c:v>0.10846560846560846</c:v>
                </c:pt>
                <c:pt idx="73">
                  <c:v>0.14492753623188406</c:v>
                </c:pt>
                <c:pt idx="74">
                  <c:v>5.4794520547945202E-2</c:v>
                </c:pt>
                <c:pt idx="75">
                  <c:v>0.13157894736842105</c:v>
                </c:pt>
                <c:pt idx="76">
                  <c:v>0.11847389558232932</c:v>
                </c:pt>
                <c:pt idx="77">
                  <c:v>0.12666666666666668</c:v>
                </c:pt>
                <c:pt idx="78">
                  <c:v>0.11627906976744186</c:v>
                </c:pt>
                <c:pt idx="79">
                  <c:v>8.3146067415730343E-2</c:v>
                </c:pt>
                <c:pt idx="80">
                  <c:v>0.1225296442687747</c:v>
                </c:pt>
                <c:pt idx="81">
                  <c:v>0.12280701754385964</c:v>
                </c:pt>
                <c:pt idx="82">
                  <c:v>0.13250517598343686</c:v>
                </c:pt>
                <c:pt idx="83">
                  <c:v>0.10609037328094302</c:v>
                </c:pt>
                <c:pt idx="84">
                  <c:v>0.12546125461254612</c:v>
                </c:pt>
                <c:pt idx="85">
                  <c:v>0.14639175257731959</c:v>
                </c:pt>
                <c:pt idx="86">
                  <c:v>9.6566523605150209E-2</c:v>
                </c:pt>
                <c:pt idx="87">
                  <c:v>0.16129032258064516</c:v>
                </c:pt>
                <c:pt idx="88">
                  <c:v>0.1276595744680851</c:v>
                </c:pt>
                <c:pt idx="89">
                  <c:v>0.13703703703703704</c:v>
                </c:pt>
                <c:pt idx="90">
                  <c:v>0.12037037037037036</c:v>
                </c:pt>
                <c:pt idx="91">
                  <c:v>8.9605734767025089E-2</c:v>
                </c:pt>
                <c:pt idx="92">
                  <c:v>0.1023454157782516</c:v>
                </c:pt>
                <c:pt idx="93">
                  <c:v>0.13255813953488371</c:v>
                </c:pt>
                <c:pt idx="94">
                  <c:v>9.8130841121495324E-2</c:v>
                </c:pt>
                <c:pt idx="95">
                  <c:v>8.7628865979381437E-2</c:v>
                </c:pt>
                <c:pt idx="96">
                  <c:v>9.1065292096219927E-2</c:v>
                </c:pt>
                <c:pt idx="97">
                  <c:v>8.5760517799352745E-2</c:v>
                </c:pt>
                <c:pt idx="98">
                  <c:v>0.11475409836065574</c:v>
                </c:pt>
                <c:pt idx="99">
                  <c:v>7.8899082568807344E-2</c:v>
                </c:pt>
                <c:pt idx="100">
                  <c:v>9.5454545454545459E-2</c:v>
                </c:pt>
                <c:pt idx="101">
                  <c:v>8.455882352941177E-2</c:v>
                </c:pt>
                <c:pt idx="102">
                  <c:v>0.13658536585365855</c:v>
                </c:pt>
                <c:pt idx="103">
                  <c:v>9.2081031307550645E-2</c:v>
                </c:pt>
                <c:pt idx="104">
                  <c:v>8.7033747779751328E-2</c:v>
                </c:pt>
                <c:pt idx="105">
                  <c:v>8.0373831775700941E-2</c:v>
                </c:pt>
                <c:pt idx="106">
                  <c:v>9.2233009708737865E-2</c:v>
                </c:pt>
                <c:pt idx="107">
                  <c:v>0.18181818181818182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EA-4A21-AD0D-D1791FBDA98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% conversao3P</c:v>
                </c:pt>
              </c:strCache>
            </c:strRef>
          </c:tx>
          <c:spPr>
            <a:ln w="28575" cap="rnd">
              <a:solidFill>
                <a:srgbClr val="FFB6BF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Planilha1!$A$2:$A$109</c:f>
              <c:strCache>
                <c:ptCount val="108"/>
                <c:pt idx="0">
                  <c:v>01/jan</c:v>
                </c:pt>
                <c:pt idx="1">
                  <c:v>02/jan</c:v>
                </c:pt>
                <c:pt idx="2">
                  <c:v>03/jan</c:v>
                </c:pt>
                <c:pt idx="3">
                  <c:v>04/jan</c:v>
                </c:pt>
                <c:pt idx="4">
                  <c:v>05/jan</c:v>
                </c:pt>
                <c:pt idx="5">
                  <c:v>06/jan</c:v>
                </c:pt>
                <c:pt idx="6">
                  <c:v>07/jan</c:v>
                </c:pt>
                <c:pt idx="7">
                  <c:v>08/jan</c:v>
                </c:pt>
                <c:pt idx="8">
                  <c:v>09/jan</c:v>
                </c:pt>
                <c:pt idx="9">
                  <c:v>10/jan</c:v>
                </c:pt>
                <c:pt idx="10">
                  <c:v>11/jan</c:v>
                </c:pt>
                <c:pt idx="11">
                  <c:v>12/jan</c:v>
                </c:pt>
                <c:pt idx="12">
                  <c:v>13/jan</c:v>
                </c:pt>
                <c:pt idx="13">
                  <c:v>14/jan</c:v>
                </c:pt>
                <c:pt idx="14">
                  <c:v>15/jan</c:v>
                </c:pt>
                <c:pt idx="15">
                  <c:v>16/jan</c:v>
                </c:pt>
                <c:pt idx="16">
                  <c:v>17/jan</c:v>
                </c:pt>
                <c:pt idx="17">
                  <c:v>18/jan</c:v>
                </c:pt>
                <c:pt idx="18">
                  <c:v>19/jan</c:v>
                </c:pt>
                <c:pt idx="19">
                  <c:v>20/jan</c:v>
                </c:pt>
                <c:pt idx="20">
                  <c:v>21/jan</c:v>
                </c:pt>
                <c:pt idx="21">
                  <c:v>22/jan</c:v>
                </c:pt>
                <c:pt idx="22">
                  <c:v>23/jan</c:v>
                </c:pt>
                <c:pt idx="23">
                  <c:v>24/jan</c:v>
                </c:pt>
                <c:pt idx="24">
                  <c:v>25/jan</c:v>
                </c:pt>
                <c:pt idx="25">
                  <c:v>26/jan</c:v>
                </c:pt>
                <c:pt idx="26">
                  <c:v>27/jan</c:v>
                </c:pt>
                <c:pt idx="27">
                  <c:v>28/jan</c:v>
                </c:pt>
                <c:pt idx="28">
                  <c:v>29/jan</c:v>
                </c:pt>
                <c:pt idx="29">
                  <c:v>30/jan</c:v>
                </c:pt>
                <c:pt idx="30">
                  <c:v>31/jan</c:v>
                </c:pt>
                <c:pt idx="31">
                  <c:v>01/fev</c:v>
                </c:pt>
                <c:pt idx="32">
                  <c:v>02/fev</c:v>
                </c:pt>
                <c:pt idx="33">
                  <c:v>03/fev</c:v>
                </c:pt>
                <c:pt idx="34">
                  <c:v>04/fev</c:v>
                </c:pt>
                <c:pt idx="35">
                  <c:v>05/fev</c:v>
                </c:pt>
                <c:pt idx="36">
                  <c:v>06/fev</c:v>
                </c:pt>
                <c:pt idx="37">
                  <c:v>07/fev</c:v>
                </c:pt>
                <c:pt idx="38">
                  <c:v>08/fev</c:v>
                </c:pt>
                <c:pt idx="39">
                  <c:v>09/fev</c:v>
                </c:pt>
                <c:pt idx="40">
                  <c:v>10/fev</c:v>
                </c:pt>
                <c:pt idx="41">
                  <c:v>11/fev</c:v>
                </c:pt>
                <c:pt idx="42">
                  <c:v>12/fev</c:v>
                </c:pt>
                <c:pt idx="43">
                  <c:v>13/fev</c:v>
                </c:pt>
                <c:pt idx="44">
                  <c:v>14/fev</c:v>
                </c:pt>
                <c:pt idx="45">
                  <c:v>15/fev</c:v>
                </c:pt>
                <c:pt idx="46">
                  <c:v>16/fev</c:v>
                </c:pt>
                <c:pt idx="47">
                  <c:v>17/fev</c:v>
                </c:pt>
                <c:pt idx="48">
                  <c:v>18/fev</c:v>
                </c:pt>
                <c:pt idx="49">
                  <c:v>19/fev</c:v>
                </c:pt>
                <c:pt idx="50">
                  <c:v>20/fev</c:v>
                </c:pt>
                <c:pt idx="51">
                  <c:v>21/fev</c:v>
                </c:pt>
                <c:pt idx="52">
                  <c:v>22/fev</c:v>
                </c:pt>
                <c:pt idx="53">
                  <c:v>23/fev</c:v>
                </c:pt>
                <c:pt idx="54">
                  <c:v>24/fev</c:v>
                </c:pt>
                <c:pt idx="55">
                  <c:v>25/fev</c:v>
                </c:pt>
                <c:pt idx="56">
                  <c:v>26/fev</c:v>
                </c:pt>
                <c:pt idx="57">
                  <c:v>27/fev</c:v>
                </c:pt>
                <c:pt idx="58">
                  <c:v>28/fev</c:v>
                </c:pt>
                <c:pt idx="59">
                  <c:v>01/mar</c:v>
                </c:pt>
                <c:pt idx="60">
                  <c:v>02/mar</c:v>
                </c:pt>
                <c:pt idx="61">
                  <c:v>03/mar</c:v>
                </c:pt>
                <c:pt idx="62">
                  <c:v>04/mar</c:v>
                </c:pt>
                <c:pt idx="63">
                  <c:v>05/mar</c:v>
                </c:pt>
                <c:pt idx="64">
                  <c:v>06/mar</c:v>
                </c:pt>
                <c:pt idx="65">
                  <c:v>07/mar</c:v>
                </c:pt>
                <c:pt idx="66">
                  <c:v>08/mar</c:v>
                </c:pt>
                <c:pt idx="67">
                  <c:v>09/mar</c:v>
                </c:pt>
                <c:pt idx="68">
                  <c:v>10/mar</c:v>
                </c:pt>
                <c:pt idx="69">
                  <c:v>11/mar</c:v>
                </c:pt>
                <c:pt idx="70">
                  <c:v>12/mar</c:v>
                </c:pt>
                <c:pt idx="71">
                  <c:v>13/mar</c:v>
                </c:pt>
                <c:pt idx="72">
                  <c:v>14/mar</c:v>
                </c:pt>
                <c:pt idx="73">
                  <c:v>15/mar</c:v>
                </c:pt>
                <c:pt idx="74">
                  <c:v>16/mar</c:v>
                </c:pt>
                <c:pt idx="75">
                  <c:v>17/mar</c:v>
                </c:pt>
                <c:pt idx="76">
                  <c:v>18/mar</c:v>
                </c:pt>
                <c:pt idx="77">
                  <c:v>19/mar</c:v>
                </c:pt>
                <c:pt idx="78">
                  <c:v>20/mar</c:v>
                </c:pt>
                <c:pt idx="79">
                  <c:v>21/mar</c:v>
                </c:pt>
                <c:pt idx="80">
                  <c:v>22/mar</c:v>
                </c:pt>
                <c:pt idx="81">
                  <c:v>23/mar</c:v>
                </c:pt>
                <c:pt idx="82">
                  <c:v>24/mar</c:v>
                </c:pt>
                <c:pt idx="83">
                  <c:v>25/mar</c:v>
                </c:pt>
                <c:pt idx="84">
                  <c:v>26/mar</c:v>
                </c:pt>
                <c:pt idx="85">
                  <c:v>27/mar</c:v>
                </c:pt>
                <c:pt idx="86">
                  <c:v>28/mar</c:v>
                </c:pt>
                <c:pt idx="87">
                  <c:v>29/mar</c:v>
                </c:pt>
                <c:pt idx="88">
                  <c:v>30/mar</c:v>
                </c:pt>
                <c:pt idx="89">
                  <c:v>31/mar</c:v>
                </c:pt>
                <c:pt idx="90">
                  <c:v>01/abr</c:v>
                </c:pt>
                <c:pt idx="91">
                  <c:v>02/abr</c:v>
                </c:pt>
                <c:pt idx="92">
                  <c:v>03/abr</c:v>
                </c:pt>
                <c:pt idx="93">
                  <c:v>04/abr</c:v>
                </c:pt>
                <c:pt idx="94">
                  <c:v>05/abr</c:v>
                </c:pt>
                <c:pt idx="95">
                  <c:v>06/abr</c:v>
                </c:pt>
                <c:pt idx="96">
                  <c:v>07/abr</c:v>
                </c:pt>
                <c:pt idx="97">
                  <c:v>08/abr</c:v>
                </c:pt>
                <c:pt idx="98">
                  <c:v>09/abr</c:v>
                </c:pt>
                <c:pt idx="99">
                  <c:v>10/abr</c:v>
                </c:pt>
                <c:pt idx="100">
                  <c:v>11/abr</c:v>
                </c:pt>
                <c:pt idx="101">
                  <c:v>12/abr</c:v>
                </c:pt>
                <c:pt idx="102">
                  <c:v>13/abr</c:v>
                </c:pt>
                <c:pt idx="103">
                  <c:v>14/abr</c:v>
                </c:pt>
                <c:pt idx="104">
                  <c:v>15/abr</c:v>
                </c:pt>
                <c:pt idx="105">
                  <c:v>16/abr</c:v>
                </c:pt>
                <c:pt idx="106">
                  <c:v>17/abr</c:v>
                </c:pt>
                <c:pt idx="107">
                  <c:v>18/abr</c:v>
                </c:pt>
              </c:strCache>
            </c:strRef>
          </c:cat>
          <c:val>
            <c:numRef>
              <c:f>Planilha1!$C$2:$C$109</c:f>
              <c:numCache>
                <c:formatCode>0%</c:formatCode>
                <c:ptCount val="108"/>
                <c:pt idx="0">
                  <c:v>4.1095890410958902E-2</c:v>
                </c:pt>
                <c:pt idx="1">
                  <c:v>1.7793594306049824E-2</c:v>
                </c:pt>
                <c:pt idx="2">
                  <c:v>6.8259385665529011E-3</c:v>
                </c:pt>
                <c:pt idx="3">
                  <c:v>2.23463687150838E-2</c:v>
                </c:pt>
                <c:pt idx="4">
                  <c:v>3.2000000000000001E-2</c:v>
                </c:pt>
                <c:pt idx="5">
                  <c:v>2.8571428571428571E-2</c:v>
                </c:pt>
                <c:pt idx="6">
                  <c:v>8.152173913043478E-3</c:v>
                </c:pt>
                <c:pt idx="7">
                  <c:v>2.5171624713958809E-2</c:v>
                </c:pt>
                <c:pt idx="8">
                  <c:v>1.9950124688279301E-2</c:v>
                </c:pt>
                <c:pt idx="9">
                  <c:v>1.7964071856287425E-2</c:v>
                </c:pt>
                <c:pt idx="10">
                  <c:v>1.11731843575419E-2</c:v>
                </c:pt>
                <c:pt idx="11">
                  <c:v>2.7272727272727271E-2</c:v>
                </c:pt>
                <c:pt idx="12">
                  <c:v>2.34375E-2</c:v>
                </c:pt>
                <c:pt idx="13">
                  <c:v>3.4946236559139782E-2</c:v>
                </c:pt>
                <c:pt idx="14">
                  <c:v>2.9810298102981029E-2</c:v>
                </c:pt>
                <c:pt idx="15">
                  <c:v>1.5957446808510637E-2</c:v>
                </c:pt>
                <c:pt idx="16">
                  <c:v>2.0338983050847456E-2</c:v>
                </c:pt>
                <c:pt idx="17">
                  <c:v>5.9171597633136093E-3</c:v>
                </c:pt>
                <c:pt idx="18">
                  <c:v>8.130081300813009E-3</c:v>
                </c:pt>
                <c:pt idx="19">
                  <c:v>1.5706806282722512E-2</c:v>
                </c:pt>
                <c:pt idx="20">
                  <c:v>3.2786885245901641E-2</c:v>
                </c:pt>
                <c:pt idx="21">
                  <c:v>3.0640668523676879E-2</c:v>
                </c:pt>
                <c:pt idx="22">
                  <c:v>1.4245014245014245E-2</c:v>
                </c:pt>
                <c:pt idx="23">
                  <c:v>2.9605263157894735E-2</c:v>
                </c:pt>
                <c:pt idx="24">
                  <c:v>1.2987012987012988E-2</c:v>
                </c:pt>
                <c:pt idx="25">
                  <c:v>0</c:v>
                </c:pt>
                <c:pt idx="26">
                  <c:v>2.2113022113022112E-2</c:v>
                </c:pt>
                <c:pt idx="27">
                  <c:v>4.4226044226044224E-2</c:v>
                </c:pt>
                <c:pt idx="28">
                  <c:v>1.4409221902017291E-2</c:v>
                </c:pt>
                <c:pt idx="29">
                  <c:v>2.6442307692307692E-2</c:v>
                </c:pt>
                <c:pt idx="30">
                  <c:v>2.0618556701030927E-2</c:v>
                </c:pt>
                <c:pt idx="31">
                  <c:v>1.1363636363636364E-2</c:v>
                </c:pt>
                <c:pt idx="32">
                  <c:v>3.8834951456310676E-2</c:v>
                </c:pt>
                <c:pt idx="33">
                  <c:v>2.8901734104046242E-2</c:v>
                </c:pt>
                <c:pt idx="34">
                  <c:v>2.8490028490028491E-2</c:v>
                </c:pt>
                <c:pt idx="35">
                  <c:v>3.5326086956521736E-2</c:v>
                </c:pt>
                <c:pt idx="36">
                  <c:v>2.3622047244094488E-2</c:v>
                </c:pt>
                <c:pt idx="37">
                  <c:v>2.2364217252396165E-2</c:v>
                </c:pt>
                <c:pt idx="38">
                  <c:v>1.6393442622950821E-2</c:v>
                </c:pt>
                <c:pt idx="39">
                  <c:v>9.0090090090090089E-3</c:v>
                </c:pt>
                <c:pt idx="40">
                  <c:v>2.15633423180593E-2</c:v>
                </c:pt>
                <c:pt idx="41">
                  <c:v>1.2953367875647668E-2</c:v>
                </c:pt>
                <c:pt idx="42">
                  <c:v>1.9900497512437811E-2</c:v>
                </c:pt>
                <c:pt idx="43">
                  <c:v>2.6829268292682926E-2</c:v>
                </c:pt>
                <c:pt idx="44">
                  <c:v>2.557544757033248E-2</c:v>
                </c:pt>
                <c:pt idx="45">
                  <c:v>3.0456852791878174E-2</c:v>
                </c:pt>
                <c:pt idx="46">
                  <c:v>1.6260162601626018E-2</c:v>
                </c:pt>
                <c:pt idx="47">
                  <c:v>8.5106382978723406E-3</c:v>
                </c:pt>
                <c:pt idx="48">
                  <c:v>3.67965367965368E-2</c:v>
                </c:pt>
                <c:pt idx="49">
                  <c:v>3.3936651583710405E-2</c:v>
                </c:pt>
                <c:pt idx="50">
                  <c:v>2.6726057906458798E-2</c:v>
                </c:pt>
                <c:pt idx="51">
                  <c:v>1.9047619047619049E-2</c:v>
                </c:pt>
                <c:pt idx="52">
                  <c:v>1.8779342723004695E-2</c:v>
                </c:pt>
                <c:pt idx="53">
                  <c:v>7.4074074074074077E-3</c:v>
                </c:pt>
                <c:pt idx="54">
                  <c:v>1.5695067264573991E-2</c:v>
                </c:pt>
                <c:pt idx="55">
                  <c:v>1.7738359201773836E-2</c:v>
                </c:pt>
                <c:pt idx="56">
                  <c:v>1.0752688172043012E-2</c:v>
                </c:pt>
                <c:pt idx="57">
                  <c:v>3.0837004405286344E-2</c:v>
                </c:pt>
                <c:pt idx="58">
                  <c:v>2.4024024024024024E-2</c:v>
                </c:pt>
                <c:pt idx="59">
                  <c:v>1.7543859649122806E-2</c:v>
                </c:pt>
                <c:pt idx="60">
                  <c:v>6.2500000000000003E-3</c:v>
                </c:pt>
                <c:pt idx="61">
                  <c:v>8.8495575221238937E-3</c:v>
                </c:pt>
                <c:pt idx="62">
                  <c:v>2.643171806167401E-2</c:v>
                </c:pt>
                <c:pt idx="63">
                  <c:v>1.7191977077363897E-2</c:v>
                </c:pt>
                <c:pt idx="64">
                  <c:v>2.4719101123595506E-2</c:v>
                </c:pt>
                <c:pt idx="65">
                  <c:v>2.1951219512195121E-2</c:v>
                </c:pt>
                <c:pt idx="66">
                  <c:v>2.7777777777777776E-2</c:v>
                </c:pt>
                <c:pt idx="67">
                  <c:v>6.2893081761006293E-3</c:v>
                </c:pt>
                <c:pt idx="68">
                  <c:v>9.7087378640776691E-3</c:v>
                </c:pt>
                <c:pt idx="69">
                  <c:v>3.2397408207343416E-2</c:v>
                </c:pt>
                <c:pt idx="70">
                  <c:v>3.325942350332594E-2</c:v>
                </c:pt>
                <c:pt idx="71">
                  <c:v>1.2396694214876033E-2</c:v>
                </c:pt>
                <c:pt idx="72">
                  <c:v>1.3227513227513227E-2</c:v>
                </c:pt>
                <c:pt idx="73">
                  <c:v>2.4154589371980676E-2</c:v>
                </c:pt>
                <c:pt idx="74">
                  <c:v>2.0547945205479451E-2</c:v>
                </c:pt>
                <c:pt idx="75">
                  <c:v>1.6194331983805668E-2</c:v>
                </c:pt>
                <c:pt idx="76">
                  <c:v>1.2048192771084338E-2</c:v>
                </c:pt>
                <c:pt idx="77">
                  <c:v>1.1111111111111112E-2</c:v>
                </c:pt>
                <c:pt idx="78">
                  <c:v>2.748414376321353E-2</c:v>
                </c:pt>
                <c:pt idx="79">
                  <c:v>1.5730337078651686E-2</c:v>
                </c:pt>
                <c:pt idx="80">
                  <c:v>1.1857707509881422E-2</c:v>
                </c:pt>
                <c:pt idx="81">
                  <c:v>2.3391812865497075E-2</c:v>
                </c:pt>
                <c:pt idx="82">
                  <c:v>1.6563146997929608E-2</c:v>
                </c:pt>
                <c:pt idx="83">
                  <c:v>2.5540275049115914E-2</c:v>
                </c:pt>
                <c:pt idx="84">
                  <c:v>2.3985239852398525E-2</c:v>
                </c:pt>
                <c:pt idx="85">
                  <c:v>1.443298969072165E-2</c:v>
                </c:pt>
                <c:pt idx="86">
                  <c:v>1.5021459227467811E-2</c:v>
                </c:pt>
                <c:pt idx="87">
                  <c:v>2.3041474654377881E-2</c:v>
                </c:pt>
                <c:pt idx="88">
                  <c:v>0</c:v>
                </c:pt>
                <c:pt idx="89">
                  <c:v>1.1111111111111112E-2</c:v>
                </c:pt>
                <c:pt idx="90">
                  <c:v>1.4814814814814815E-2</c:v>
                </c:pt>
                <c:pt idx="91">
                  <c:v>1.7921146953405017E-2</c:v>
                </c:pt>
                <c:pt idx="92">
                  <c:v>1.9189765458422176E-2</c:v>
                </c:pt>
                <c:pt idx="93">
                  <c:v>2.0930232558139535E-2</c:v>
                </c:pt>
                <c:pt idx="94">
                  <c:v>4.6728971962616819E-3</c:v>
                </c:pt>
                <c:pt idx="95">
                  <c:v>1.0309278350515464E-2</c:v>
                </c:pt>
                <c:pt idx="96">
                  <c:v>2.5773195876288658E-2</c:v>
                </c:pt>
                <c:pt idx="97">
                  <c:v>1.4563106796116505E-2</c:v>
                </c:pt>
                <c:pt idx="98">
                  <c:v>4.0072859744990891E-2</c:v>
                </c:pt>
                <c:pt idx="99">
                  <c:v>2.7522935779816515E-2</c:v>
                </c:pt>
                <c:pt idx="100">
                  <c:v>2.0454545454545454E-2</c:v>
                </c:pt>
                <c:pt idx="101">
                  <c:v>1.1029411764705883E-2</c:v>
                </c:pt>
                <c:pt idx="102">
                  <c:v>4.8780487804878049E-3</c:v>
                </c:pt>
                <c:pt idx="103">
                  <c:v>2.5782688766114181E-2</c:v>
                </c:pt>
                <c:pt idx="104">
                  <c:v>2.3090586145648313E-2</c:v>
                </c:pt>
                <c:pt idx="105">
                  <c:v>1.3084112149532711E-2</c:v>
                </c:pt>
                <c:pt idx="106">
                  <c:v>1.9417475728155338E-2</c:v>
                </c:pt>
                <c:pt idx="10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EA-4A21-AD0D-D1791FBDA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625232"/>
        <c:axId val="103625648"/>
      </c:lineChart>
      <c:catAx>
        <c:axId val="103625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625648"/>
        <c:crosses val="autoZero"/>
        <c:auto val="1"/>
        <c:lblAlgn val="ctr"/>
        <c:lblOffset val="100"/>
        <c:noMultiLvlLbl val="0"/>
      </c:catAx>
      <c:valAx>
        <c:axId val="103625648"/>
        <c:scaling>
          <c:orientation val="minMax"/>
          <c:max val="0.25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  <c:crossAx val="103625232"/>
        <c:crosses val="autoZero"/>
        <c:crossBetween val="between"/>
        <c:majorUnit val="5.000000000000001E-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Visualizadas</c:v>
                </c:pt>
              </c:strCache>
            </c:strRef>
          </c:tx>
          <c:spPr>
            <a:ln w="28575" cap="rnd">
              <a:solidFill>
                <a:srgbClr val="5E2C7A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E2C7A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0.51101558301988181</c:v>
                </c:pt>
                <c:pt idx="1">
                  <c:v>0.53775913129318853</c:v>
                </c:pt>
                <c:pt idx="2">
                  <c:v>0.51441241685144123</c:v>
                </c:pt>
                <c:pt idx="3">
                  <c:v>0.53471667996807659</c:v>
                </c:pt>
                <c:pt idx="4">
                  <c:v>0.54437119675456391</c:v>
                </c:pt>
                <c:pt idx="5">
                  <c:v>0.52857878475798148</c:v>
                </c:pt>
                <c:pt idx="6">
                  <c:v>0.53811659192825112</c:v>
                </c:pt>
                <c:pt idx="7">
                  <c:v>0.53422680412371137</c:v>
                </c:pt>
                <c:pt idx="8">
                  <c:v>0.52665109365045659</c:v>
                </c:pt>
                <c:pt idx="9">
                  <c:v>0.53530031612223394</c:v>
                </c:pt>
                <c:pt idx="10">
                  <c:v>0.54302731567056894</c:v>
                </c:pt>
                <c:pt idx="11">
                  <c:v>0.5396394650125993</c:v>
                </c:pt>
                <c:pt idx="12">
                  <c:v>0.52583697234352256</c:v>
                </c:pt>
                <c:pt idx="13">
                  <c:v>0.52749417875694071</c:v>
                </c:pt>
                <c:pt idx="14">
                  <c:v>0.52330508474576276</c:v>
                </c:pt>
                <c:pt idx="15">
                  <c:v>0.4573454464879238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C1-4886-8F6E-9E5AB865F0B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87452528"/>
        <c:axId val="787448784"/>
      </c:lineChart>
      <c:catAx>
        <c:axId val="7874525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7448784"/>
        <c:crosses val="autoZero"/>
        <c:auto val="1"/>
        <c:lblAlgn val="ctr"/>
        <c:lblOffset val="100"/>
        <c:noMultiLvlLbl val="0"/>
      </c:catAx>
      <c:valAx>
        <c:axId val="7874487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8745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Prescrições</c:v>
                </c:pt>
              </c:strCache>
            </c:strRef>
          </c:tx>
          <c:spPr>
            <a:ln w="28575" cap="rnd">
              <a:solidFill>
                <a:srgbClr val="3C0E6B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3C0E6B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1861</c:v>
                </c:pt>
                <c:pt idx="1">
                  <c:v>4052</c:v>
                </c:pt>
                <c:pt idx="2">
                  <c:v>4059</c:v>
                </c:pt>
                <c:pt idx="3">
                  <c:v>3759</c:v>
                </c:pt>
                <c:pt idx="4">
                  <c:v>3944</c:v>
                </c:pt>
                <c:pt idx="5">
                  <c:v>3884</c:v>
                </c:pt>
                <c:pt idx="6">
                  <c:v>4237</c:v>
                </c:pt>
                <c:pt idx="7">
                  <c:v>4850</c:v>
                </c:pt>
                <c:pt idx="8">
                  <c:v>4709</c:v>
                </c:pt>
                <c:pt idx="9">
                  <c:v>3796</c:v>
                </c:pt>
                <c:pt idx="10">
                  <c:v>4869</c:v>
                </c:pt>
                <c:pt idx="11">
                  <c:v>5159</c:v>
                </c:pt>
                <c:pt idx="12">
                  <c:v>5496</c:v>
                </c:pt>
                <c:pt idx="13">
                  <c:v>5583</c:v>
                </c:pt>
                <c:pt idx="14">
                  <c:v>6136</c:v>
                </c:pt>
                <c:pt idx="15">
                  <c:v>4513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CA-4043-ACB8-02BAEA64144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87457936"/>
        <c:axId val="787452112"/>
      </c:lineChart>
      <c:catAx>
        <c:axId val="7874579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7452112"/>
        <c:crosses val="autoZero"/>
        <c:auto val="1"/>
        <c:lblAlgn val="ctr"/>
        <c:lblOffset val="100"/>
        <c:noMultiLvlLbl val="0"/>
      </c:catAx>
      <c:valAx>
        <c:axId val="78745211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78745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187500000000001E-2"/>
          <c:y val="7.3651445719358999E-2"/>
          <c:w val="0.96562499999999996"/>
          <c:h val="0.60381743298614698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Farmácia Física</c:v>
                </c:pt>
              </c:strCache>
            </c:strRef>
          </c:tx>
          <c:spPr>
            <a:ln w="28575" cap="rnd">
              <a:solidFill>
                <a:srgbClr val="9E6395"/>
              </a:solidFill>
              <a:round/>
            </a:ln>
            <a:effectLst/>
          </c:spPr>
          <c:marker>
            <c:symbol val="none"/>
          </c:marker>
          <c:dLbls>
            <c:dLbl>
              <c:idx val="15"/>
              <c:layout>
                <c:manualLayout>
                  <c:x val="-2.4703125000000114E-2"/>
                  <c:y val="7.569386304732467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72-4825-8D04-2EB8AB2B736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9E6395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0.13354363827549948</c:v>
                </c:pt>
                <c:pt idx="1">
                  <c:v>0.1372189077558513</c:v>
                </c:pt>
                <c:pt idx="2">
                  <c:v>0.13170498084291188</c:v>
                </c:pt>
                <c:pt idx="3">
                  <c:v>0.13830845771144279</c:v>
                </c:pt>
                <c:pt idx="4">
                  <c:v>0.13134606427573359</c:v>
                </c:pt>
                <c:pt idx="5">
                  <c:v>0.12615684364344862</c:v>
                </c:pt>
                <c:pt idx="6">
                  <c:v>0.11929824561403508</c:v>
                </c:pt>
                <c:pt idx="7">
                  <c:v>0.11038209185642608</c:v>
                </c:pt>
                <c:pt idx="8">
                  <c:v>0.11088709677419355</c:v>
                </c:pt>
                <c:pt idx="9">
                  <c:v>0.14124015748031496</c:v>
                </c:pt>
                <c:pt idx="10">
                  <c:v>0.10060514372163389</c:v>
                </c:pt>
                <c:pt idx="11">
                  <c:v>0.11673850574712644</c:v>
                </c:pt>
                <c:pt idx="12">
                  <c:v>0.12491349480968858</c:v>
                </c:pt>
                <c:pt idx="13">
                  <c:v>0.11273344651952462</c:v>
                </c:pt>
                <c:pt idx="14">
                  <c:v>9.498598567424478E-2</c:v>
                </c:pt>
                <c:pt idx="15">
                  <c:v>8.8178294573643415E-2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C1-4886-8F6E-9E5AB865F0B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MktPlace</c:v>
                </c:pt>
              </c:strCache>
            </c:strRef>
          </c:tx>
          <c:spPr>
            <a:ln w="28575" cap="rnd">
              <a:solidFill>
                <a:srgbClr val="FF8997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8997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0%</c:formatCode>
                <c:ptCount val="16"/>
                <c:pt idx="0">
                  <c:v>1.8927444794952682E-2</c:v>
                </c:pt>
                <c:pt idx="1">
                  <c:v>1.9733822854520421E-2</c:v>
                </c:pt>
                <c:pt idx="2">
                  <c:v>2.2509578544061302E-2</c:v>
                </c:pt>
                <c:pt idx="3">
                  <c:v>2.2388059701492536E-2</c:v>
                </c:pt>
                <c:pt idx="4">
                  <c:v>2.5617140195621797E-2</c:v>
                </c:pt>
                <c:pt idx="5">
                  <c:v>2.5815879201169022E-2</c:v>
                </c:pt>
                <c:pt idx="6">
                  <c:v>2.1929824561403508E-2</c:v>
                </c:pt>
                <c:pt idx="7">
                  <c:v>2.3543033577769202E-2</c:v>
                </c:pt>
                <c:pt idx="8">
                  <c:v>1.8548387096774192E-2</c:v>
                </c:pt>
                <c:pt idx="9">
                  <c:v>2.0177165354330708E-2</c:v>
                </c:pt>
                <c:pt idx="10">
                  <c:v>2.042360060514372E-2</c:v>
                </c:pt>
                <c:pt idx="11">
                  <c:v>1.6522988505747127E-2</c:v>
                </c:pt>
                <c:pt idx="12">
                  <c:v>1.8339100346020761E-2</c:v>
                </c:pt>
                <c:pt idx="13">
                  <c:v>1.5280135823429542E-2</c:v>
                </c:pt>
                <c:pt idx="14">
                  <c:v>2.3045780130800372E-2</c:v>
                </c:pt>
                <c:pt idx="15">
                  <c:v>2.0348837209302327E-2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C1-4886-8F6E-9E5AB865F0B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0%</c:formatCode>
                <c:ptCount val="16"/>
                <c:pt idx="0">
                  <c:v>0.15247108307045215</c:v>
                </c:pt>
                <c:pt idx="1">
                  <c:v>0.15695273061037171</c:v>
                </c:pt>
                <c:pt idx="2">
                  <c:v>0.15421455938697318</c:v>
                </c:pt>
                <c:pt idx="3">
                  <c:v>0.16069651741293534</c:v>
                </c:pt>
                <c:pt idx="4">
                  <c:v>0.15696320447135539</c:v>
                </c:pt>
                <c:pt idx="5">
                  <c:v>0.15197272284461763</c:v>
                </c:pt>
                <c:pt idx="6">
                  <c:v>0.14122807017543859</c:v>
                </c:pt>
                <c:pt idx="7">
                  <c:v>0.1339251254341953</c:v>
                </c:pt>
                <c:pt idx="8">
                  <c:v>0.12943548387096773</c:v>
                </c:pt>
                <c:pt idx="9">
                  <c:v>0.16141732283464566</c:v>
                </c:pt>
                <c:pt idx="10">
                  <c:v>0.1210287443267776</c:v>
                </c:pt>
                <c:pt idx="11">
                  <c:v>0.13326149425287356</c:v>
                </c:pt>
                <c:pt idx="12">
                  <c:v>0.14325259515570934</c:v>
                </c:pt>
                <c:pt idx="13">
                  <c:v>0.12801358234295415</c:v>
                </c:pt>
                <c:pt idx="14">
                  <c:v>0.11803176580504515</c:v>
                </c:pt>
                <c:pt idx="15">
                  <c:v>0.10852713178294573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72-4825-8D04-2EB8AB2B736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87452528"/>
        <c:axId val="787448784"/>
      </c:lineChart>
      <c:catAx>
        <c:axId val="78745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87448784"/>
        <c:crosses val="autoZero"/>
        <c:auto val="1"/>
        <c:lblAlgn val="ctr"/>
        <c:lblOffset val="100"/>
        <c:noMultiLvlLbl val="0"/>
      </c:catAx>
      <c:valAx>
        <c:axId val="7874487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8745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804785925196853"/>
          <c:y val="0.85628636441280237"/>
          <c:w val="0.403904281496063"/>
          <c:h val="0.137018049612710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Valor</c:v>
                </c:pt>
              </c:strCache>
            </c:strRef>
          </c:tx>
          <c:spPr>
            <a:ln w="0" cap="rnd">
              <a:noFill/>
              <a:round/>
            </a:ln>
            <a:effectLst/>
          </c:spPr>
          <c:marker>
            <c:symbol val="none"/>
          </c:marker>
          <c:cat>
            <c:numRef>
              <c:f>Planilha1!$A$2:$A$217</c:f>
              <c:numCache>
                <c:formatCode>m/d/yyyy</c:formatCode>
                <c:ptCount val="216"/>
                <c:pt idx="0">
                  <c:v>45658</c:v>
                </c:pt>
                <c:pt idx="1">
                  <c:v>45658</c:v>
                </c:pt>
                <c:pt idx="2">
                  <c:v>45659</c:v>
                </c:pt>
                <c:pt idx="3">
                  <c:v>45659</c:v>
                </c:pt>
                <c:pt idx="4">
                  <c:v>45660</c:v>
                </c:pt>
                <c:pt idx="5">
                  <c:v>45660</c:v>
                </c:pt>
                <c:pt idx="6">
                  <c:v>45661</c:v>
                </c:pt>
                <c:pt idx="7">
                  <c:v>45661</c:v>
                </c:pt>
                <c:pt idx="8">
                  <c:v>45662</c:v>
                </c:pt>
                <c:pt idx="9">
                  <c:v>45662</c:v>
                </c:pt>
                <c:pt idx="10">
                  <c:v>45663</c:v>
                </c:pt>
                <c:pt idx="11">
                  <c:v>45663</c:v>
                </c:pt>
                <c:pt idx="12">
                  <c:v>45664</c:v>
                </c:pt>
                <c:pt idx="13">
                  <c:v>45664</c:v>
                </c:pt>
                <c:pt idx="14">
                  <c:v>45665</c:v>
                </c:pt>
                <c:pt idx="15">
                  <c:v>45665</c:v>
                </c:pt>
                <c:pt idx="16">
                  <c:v>45666</c:v>
                </c:pt>
                <c:pt idx="17">
                  <c:v>45666</c:v>
                </c:pt>
                <c:pt idx="18">
                  <c:v>45667</c:v>
                </c:pt>
                <c:pt idx="19">
                  <c:v>45667</c:v>
                </c:pt>
                <c:pt idx="20">
                  <c:v>45668</c:v>
                </c:pt>
                <c:pt idx="21">
                  <c:v>45668</c:v>
                </c:pt>
                <c:pt idx="22">
                  <c:v>45669</c:v>
                </c:pt>
                <c:pt idx="23">
                  <c:v>45669</c:v>
                </c:pt>
                <c:pt idx="24">
                  <c:v>45670</c:v>
                </c:pt>
                <c:pt idx="25">
                  <c:v>45670</c:v>
                </c:pt>
                <c:pt idx="26">
                  <c:v>45671</c:v>
                </c:pt>
                <c:pt idx="27">
                  <c:v>45671</c:v>
                </c:pt>
                <c:pt idx="28">
                  <c:v>45672</c:v>
                </c:pt>
                <c:pt idx="29">
                  <c:v>45672</c:v>
                </c:pt>
                <c:pt idx="30">
                  <c:v>45673</c:v>
                </c:pt>
                <c:pt idx="31">
                  <c:v>45673</c:v>
                </c:pt>
                <c:pt idx="32">
                  <c:v>45674</c:v>
                </c:pt>
                <c:pt idx="33">
                  <c:v>45674</c:v>
                </c:pt>
                <c:pt idx="34">
                  <c:v>45675</c:v>
                </c:pt>
                <c:pt idx="35">
                  <c:v>45675</c:v>
                </c:pt>
                <c:pt idx="36">
                  <c:v>45676</c:v>
                </c:pt>
                <c:pt idx="37">
                  <c:v>45676</c:v>
                </c:pt>
                <c:pt idx="38">
                  <c:v>45677</c:v>
                </c:pt>
                <c:pt idx="39">
                  <c:v>45677</c:v>
                </c:pt>
                <c:pt idx="40">
                  <c:v>45678</c:v>
                </c:pt>
                <c:pt idx="41">
                  <c:v>45678</c:v>
                </c:pt>
                <c:pt idx="42">
                  <c:v>45679</c:v>
                </c:pt>
                <c:pt idx="43">
                  <c:v>45679</c:v>
                </c:pt>
                <c:pt idx="44">
                  <c:v>45680</c:v>
                </c:pt>
                <c:pt idx="45">
                  <c:v>45680</c:v>
                </c:pt>
                <c:pt idx="46">
                  <c:v>45681</c:v>
                </c:pt>
                <c:pt idx="47">
                  <c:v>45681</c:v>
                </c:pt>
                <c:pt idx="48">
                  <c:v>45682</c:v>
                </c:pt>
                <c:pt idx="49">
                  <c:v>45682</c:v>
                </c:pt>
                <c:pt idx="50">
                  <c:v>45683</c:v>
                </c:pt>
                <c:pt idx="51">
                  <c:v>45683</c:v>
                </c:pt>
                <c:pt idx="52">
                  <c:v>45684</c:v>
                </c:pt>
                <c:pt idx="53">
                  <c:v>45684</c:v>
                </c:pt>
                <c:pt idx="54">
                  <c:v>45685</c:v>
                </c:pt>
                <c:pt idx="55">
                  <c:v>45685</c:v>
                </c:pt>
                <c:pt idx="56">
                  <c:v>45686</c:v>
                </c:pt>
                <c:pt idx="57">
                  <c:v>45686</c:v>
                </c:pt>
                <c:pt idx="58">
                  <c:v>45687</c:v>
                </c:pt>
                <c:pt idx="59">
                  <c:v>45687</c:v>
                </c:pt>
                <c:pt idx="60">
                  <c:v>45688</c:v>
                </c:pt>
                <c:pt idx="61">
                  <c:v>45688</c:v>
                </c:pt>
                <c:pt idx="62">
                  <c:v>45689</c:v>
                </c:pt>
                <c:pt idx="63">
                  <c:v>45689</c:v>
                </c:pt>
                <c:pt idx="64">
                  <c:v>45690</c:v>
                </c:pt>
                <c:pt idx="65">
                  <c:v>45690</c:v>
                </c:pt>
                <c:pt idx="66">
                  <c:v>45691</c:v>
                </c:pt>
                <c:pt idx="67">
                  <c:v>45691</c:v>
                </c:pt>
                <c:pt idx="68">
                  <c:v>45692</c:v>
                </c:pt>
                <c:pt idx="69">
                  <c:v>45692</c:v>
                </c:pt>
                <c:pt idx="70">
                  <c:v>45693</c:v>
                </c:pt>
                <c:pt idx="71">
                  <c:v>45693</c:v>
                </c:pt>
                <c:pt idx="72">
                  <c:v>45694</c:v>
                </c:pt>
                <c:pt idx="73">
                  <c:v>45694</c:v>
                </c:pt>
                <c:pt idx="74">
                  <c:v>45695</c:v>
                </c:pt>
                <c:pt idx="75">
                  <c:v>45695</c:v>
                </c:pt>
                <c:pt idx="76">
                  <c:v>45696</c:v>
                </c:pt>
                <c:pt idx="77">
                  <c:v>45696</c:v>
                </c:pt>
                <c:pt idx="78">
                  <c:v>45697</c:v>
                </c:pt>
                <c:pt idx="79">
                  <c:v>45697</c:v>
                </c:pt>
                <c:pt idx="80">
                  <c:v>45698</c:v>
                </c:pt>
                <c:pt idx="81">
                  <c:v>45698</c:v>
                </c:pt>
                <c:pt idx="82">
                  <c:v>45699</c:v>
                </c:pt>
                <c:pt idx="83">
                  <c:v>45699</c:v>
                </c:pt>
                <c:pt idx="84">
                  <c:v>45700</c:v>
                </c:pt>
                <c:pt idx="85">
                  <c:v>45700</c:v>
                </c:pt>
                <c:pt idx="86">
                  <c:v>45701</c:v>
                </c:pt>
                <c:pt idx="87">
                  <c:v>45701</c:v>
                </c:pt>
                <c:pt idx="88">
                  <c:v>45702</c:v>
                </c:pt>
                <c:pt idx="89">
                  <c:v>45702</c:v>
                </c:pt>
                <c:pt idx="90">
                  <c:v>45703</c:v>
                </c:pt>
                <c:pt idx="91">
                  <c:v>45703</c:v>
                </c:pt>
                <c:pt idx="92">
                  <c:v>45704</c:v>
                </c:pt>
                <c:pt idx="93">
                  <c:v>45704</c:v>
                </c:pt>
                <c:pt idx="94">
                  <c:v>45705</c:v>
                </c:pt>
                <c:pt idx="95">
                  <c:v>45705</c:v>
                </c:pt>
                <c:pt idx="96">
                  <c:v>45706</c:v>
                </c:pt>
                <c:pt idx="97">
                  <c:v>45706</c:v>
                </c:pt>
                <c:pt idx="98">
                  <c:v>45707</c:v>
                </c:pt>
                <c:pt idx="99">
                  <c:v>45707</c:v>
                </c:pt>
                <c:pt idx="100">
                  <c:v>45708</c:v>
                </c:pt>
                <c:pt idx="101">
                  <c:v>45708</c:v>
                </c:pt>
                <c:pt idx="102">
                  <c:v>45709</c:v>
                </c:pt>
                <c:pt idx="103">
                  <c:v>45709</c:v>
                </c:pt>
                <c:pt idx="104">
                  <c:v>45710</c:v>
                </c:pt>
                <c:pt idx="105">
                  <c:v>45710</c:v>
                </c:pt>
                <c:pt idx="106">
                  <c:v>45711</c:v>
                </c:pt>
                <c:pt idx="107">
                  <c:v>45711</c:v>
                </c:pt>
                <c:pt idx="108">
                  <c:v>45712</c:v>
                </c:pt>
                <c:pt idx="109">
                  <c:v>45712</c:v>
                </c:pt>
                <c:pt idx="110">
                  <c:v>45713</c:v>
                </c:pt>
                <c:pt idx="111">
                  <c:v>45713</c:v>
                </c:pt>
                <c:pt idx="112">
                  <c:v>45714</c:v>
                </c:pt>
                <c:pt idx="113">
                  <c:v>45714</c:v>
                </c:pt>
                <c:pt idx="114">
                  <c:v>45715</c:v>
                </c:pt>
                <c:pt idx="115">
                  <c:v>45715</c:v>
                </c:pt>
                <c:pt idx="116">
                  <c:v>45716</c:v>
                </c:pt>
                <c:pt idx="117">
                  <c:v>45716</c:v>
                </c:pt>
                <c:pt idx="118">
                  <c:v>45717</c:v>
                </c:pt>
                <c:pt idx="119">
                  <c:v>45717</c:v>
                </c:pt>
                <c:pt idx="120">
                  <c:v>45718</c:v>
                </c:pt>
                <c:pt idx="121">
                  <c:v>45718</c:v>
                </c:pt>
                <c:pt idx="122">
                  <c:v>45719</c:v>
                </c:pt>
                <c:pt idx="123">
                  <c:v>45719</c:v>
                </c:pt>
                <c:pt idx="124">
                  <c:v>45720</c:v>
                </c:pt>
                <c:pt idx="125">
                  <c:v>45720</c:v>
                </c:pt>
                <c:pt idx="126">
                  <c:v>45721</c:v>
                </c:pt>
                <c:pt idx="127">
                  <c:v>45721</c:v>
                </c:pt>
                <c:pt idx="128">
                  <c:v>45722</c:v>
                </c:pt>
                <c:pt idx="129">
                  <c:v>45722</c:v>
                </c:pt>
                <c:pt idx="130">
                  <c:v>45723</c:v>
                </c:pt>
                <c:pt idx="131">
                  <c:v>45723</c:v>
                </c:pt>
                <c:pt idx="132">
                  <c:v>45724</c:v>
                </c:pt>
                <c:pt idx="133">
                  <c:v>45724</c:v>
                </c:pt>
                <c:pt idx="134">
                  <c:v>45725</c:v>
                </c:pt>
                <c:pt idx="135">
                  <c:v>45725</c:v>
                </c:pt>
                <c:pt idx="136">
                  <c:v>45726</c:v>
                </c:pt>
                <c:pt idx="137">
                  <c:v>45726</c:v>
                </c:pt>
                <c:pt idx="138">
                  <c:v>45727</c:v>
                </c:pt>
                <c:pt idx="139">
                  <c:v>45727</c:v>
                </c:pt>
                <c:pt idx="140">
                  <c:v>45728</c:v>
                </c:pt>
                <c:pt idx="141">
                  <c:v>45728</c:v>
                </c:pt>
                <c:pt idx="142">
                  <c:v>45729</c:v>
                </c:pt>
                <c:pt idx="143">
                  <c:v>45729</c:v>
                </c:pt>
                <c:pt idx="144">
                  <c:v>45730</c:v>
                </c:pt>
                <c:pt idx="145">
                  <c:v>45730</c:v>
                </c:pt>
                <c:pt idx="146">
                  <c:v>45731</c:v>
                </c:pt>
                <c:pt idx="147">
                  <c:v>45731</c:v>
                </c:pt>
                <c:pt idx="148">
                  <c:v>45732</c:v>
                </c:pt>
                <c:pt idx="149">
                  <c:v>45732</c:v>
                </c:pt>
                <c:pt idx="150">
                  <c:v>45733</c:v>
                </c:pt>
                <c:pt idx="151">
                  <c:v>45733</c:v>
                </c:pt>
                <c:pt idx="152">
                  <c:v>45734</c:v>
                </c:pt>
                <c:pt idx="153">
                  <c:v>45734</c:v>
                </c:pt>
                <c:pt idx="154">
                  <c:v>45735</c:v>
                </c:pt>
                <c:pt idx="155">
                  <c:v>45735</c:v>
                </c:pt>
                <c:pt idx="156">
                  <c:v>45736</c:v>
                </c:pt>
                <c:pt idx="157">
                  <c:v>45736</c:v>
                </c:pt>
                <c:pt idx="158">
                  <c:v>45737</c:v>
                </c:pt>
                <c:pt idx="159">
                  <c:v>45737</c:v>
                </c:pt>
                <c:pt idx="160">
                  <c:v>45738</c:v>
                </c:pt>
                <c:pt idx="161">
                  <c:v>45738</c:v>
                </c:pt>
                <c:pt idx="162">
                  <c:v>45739</c:v>
                </c:pt>
                <c:pt idx="163">
                  <c:v>45739</c:v>
                </c:pt>
                <c:pt idx="164">
                  <c:v>45740</c:v>
                </c:pt>
                <c:pt idx="165">
                  <c:v>45740</c:v>
                </c:pt>
                <c:pt idx="166">
                  <c:v>45741</c:v>
                </c:pt>
                <c:pt idx="167">
                  <c:v>45741</c:v>
                </c:pt>
                <c:pt idx="168">
                  <c:v>45742</c:v>
                </c:pt>
                <c:pt idx="169">
                  <c:v>45742</c:v>
                </c:pt>
                <c:pt idx="170">
                  <c:v>45743</c:v>
                </c:pt>
                <c:pt idx="171">
                  <c:v>45743</c:v>
                </c:pt>
                <c:pt idx="172">
                  <c:v>45744</c:v>
                </c:pt>
                <c:pt idx="173">
                  <c:v>45744</c:v>
                </c:pt>
                <c:pt idx="174">
                  <c:v>45745</c:v>
                </c:pt>
                <c:pt idx="175">
                  <c:v>45745</c:v>
                </c:pt>
                <c:pt idx="176">
                  <c:v>45746</c:v>
                </c:pt>
                <c:pt idx="177">
                  <c:v>45746</c:v>
                </c:pt>
                <c:pt idx="178">
                  <c:v>45747</c:v>
                </c:pt>
                <c:pt idx="179">
                  <c:v>45747</c:v>
                </c:pt>
                <c:pt idx="180">
                  <c:v>45748</c:v>
                </c:pt>
                <c:pt idx="181">
                  <c:v>45748</c:v>
                </c:pt>
                <c:pt idx="182">
                  <c:v>45749</c:v>
                </c:pt>
                <c:pt idx="183">
                  <c:v>45749</c:v>
                </c:pt>
                <c:pt idx="184">
                  <c:v>45750</c:v>
                </c:pt>
                <c:pt idx="185">
                  <c:v>45750</c:v>
                </c:pt>
                <c:pt idx="186">
                  <c:v>45751</c:v>
                </c:pt>
                <c:pt idx="187">
                  <c:v>45751</c:v>
                </c:pt>
                <c:pt idx="188">
                  <c:v>45752</c:v>
                </c:pt>
                <c:pt idx="189">
                  <c:v>45752</c:v>
                </c:pt>
                <c:pt idx="190">
                  <c:v>45753</c:v>
                </c:pt>
                <c:pt idx="191">
                  <c:v>45753</c:v>
                </c:pt>
                <c:pt idx="192">
                  <c:v>45754</c:v>
                </c:pt>
                <c:pt idx="193">
                  <c:v>45754</c:v>
                </c:pt>
                <c:pt idx="194">
                  <c:v>45755</c:v>
                </c:pt>
                <c:pt idx="195">
                  <c:v>45755</c:v>
                </c:pt>
                <c:pt idx="196">
                  <c:v>45756</c:v>
                </c:pt>
                <c:pt idx="197">
                  <c:v>45756</c:v>
                </c:pt>
                <c:pt idx="198">
                  <c:v>45757</c:v>
                </c:pt>
                <c:pt idx="199">
                  <c:v>45757</c:v>
                </c:pt>
                <c:pt idx="200">
                  <c:v>45758</c:v>
                </c:pt>
                <c:pt idx="201">
                  <c:v>45758</c:v>
                </c:pt>
                <c:pt idx="202">
                  <c:v>45759</c:v>
                </c:pt>
                <c:pt idx="203">
                  <c:v>45759</c:v>
                </c:pt>
                <c:pt idx="204">
                  <c:v>45760</c:v>
                </c:pt>
                <c:pt idx="205">
                  <c:v>45760</c:v>
                </c:pt>
                <c:pt idx="206">
                  <c:v>45761</c:v>
                </c:pt>
                <c:pt idx="207">
                  <c:v>45761</c:v>
                </c:pt>
                <c:pt idx="208">
                  <c:v>45762</c:v>
                </c:pt>
                <c:pt idx="209">
                  <c:v>45762</c:v>
                </c:pt>
                <c:pt idx="210">
                  <c:v>45763</c:v>
                </c:pt>
                <c:pt idx="211">
                  <c:v>45763</c:v>
                </c:pt>
                <c:pt idx="212">
                  <c:v>45764</c:v>
                </c:pt>
                <c:pt idx="213">
                  <c:v>45764</c:v>
                </c:pt>
                <c:pt idx="214">
                  <c:v>45765</c:v>
                </c:pt>
                <c:pt idx="215">
                  <c:v>45765</c:v>
                </c:pt>
              </c:numCache>
            </c:numRef>
          </c:cat>
          <c:val>
            <c:numRef>
              <c:f>Planilha1!$C$2:$C$217</c:f>
              <c:numCache>
                <c:formatCode>General</c:formatCode>
                <c:ptCount val="2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81-4641-B83A-637827745A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9938256"/>
        <c:axId val="699928688"/>
      </c:lineChart>
      <c:dateAx>
        <c:axId val="69993825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99928688"/>
        <c:crosses val="autoZero"/>
        <c:auto val="1"/>
        <c:lblOffset val="100"/>
        <c:baseTimeUnit val="days"/>
        <c:majorUnit val="10"/>
        <c:majorTimeUnit val="days"/>
      </c:dateAx>
      <c:valAx>
        <c:axId val="699928688"/>
        <c:scaling>
          <c:orientation val="minMax"/>
          <c:min val="1"/>
        </c:scaling>
        <c:delete val="1"/>
        <c:axPos val="l"/>
        <c:numFmt formatCode="General" sourceLinked="1"/>
        <c:majorTickMark val="none"/>
        <c:minorTickMark val="none"/>
        <c:tickLblPos val="nextTo"/>
        <c:crossAx val="69993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Prescrições</c:v>
                </c:pt>
              </c:strCache>
            </c:strRef>
          </c:tx>
          <c:spPr>
            <a:ln w="28575" cap="rnd">
              <a:solidFill>
                <a:srgbClr val="3C0E6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C0E6B"/>
              </a:solidFill>
              <a:ln w="9525">
                <a:solidFill>
                  <a:srgbClr val="3C0E6B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3C0E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1861</c:v>
                </c:pt>
                <c:pt idx="1">
                  <c:v>4052</c:v>
                </c:pt>
                <c:pt idx="2">
                  <c:v>4059</c:v>
                </c:pt>
                <c:pt idx="3">
                  <c:v>3759</c:v>
                </c:pt>
                <c:pt idx="4">
                  <c:v>3944</c:v>
                </c:pt>
                <c:pt idx="5">
                  <c:v>3884</c:v>
                </c:pt>
                <c:pt idx="6">
                  <c:v>4237</c:v>
                </c:pt>
                <c:pt idx="7">
                  <c:v>4850</c:v>
                </c:pt>
                <c:pt idx="8">
                  <c:v>4709</c:v>
                </c:pt>
                <c:pt idx="9">
                  <c:v>3796</c:v>
                </c:pt>
                <c:pt idx="10">
                  <c:v>4869</c:v>
                </c:pt>
                <c:pt idx="11">
                  <c:v>5159</c:v>
                </c:pt>
                <c:pt idx="12">
                  <c:v>5496</c:v>
                </c:pt>
                <c:pt idx="13">
                  <c:v>5583</c:v>
                </c:pt>
                <c:pt idx="14">
                  <c:v>6136</c:v>
                </c:pt>
                <c:pt idx="15">
                  <c:v>4513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12-479A-9CF0-E991C2A5592C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Médicos</c:v>
                </c:pt>
              </c:strCache>
            </c:strRef>
          </c:tx>
          <c:spPr>
            <a:ln w="28575" cap="rnd">
              <a:solidFill>
                <a:schemeClr val="tx1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#,##0</c:formatCode>
                <c:ptCount val="16"/>
                <c:pt idx="0">
                  <c:v>1322</c:v>
                </c:pt>
                <c:pt idx="1">
                  <c:v>2671</c:v>
                </c:pt>
                <c:pt idx="2">
                  <c:v>2660</c:v>
                </c:pt>
                <c:pt idx="3">
                  <c:v>2528</c:v>
                </c:pt>
                <c:pt idx="4">
                  <c:v>2656</c:v>
                </c:pt>
                <c:pt idx="5">
                  <c:v>2552</c:v>
                </c:pt>
                <c:pt idx="6">
                  <c:v>2783</c:v>
                </c:pt>
                <c:pt idx="7">
                  <c:v>3098</c:v>
                </c:pt>
                <c:pt idx="8">
                  <c:v>3046</c:v>
                </c:pt>
                <c:pt idx="9">
                  <c:v>2509</c:v>
                </c:pt>
                <c:pt idx="10">
                  <c:v>3057</c:v>
                </c:pt>
                <c:pt idx="11">
                  <c:v>3257</c:v>
                </c:pt>
                <c:pt idx="12">
                  <c:v>3423</c:v>
                </c:pt>
                <c:pt idx="13">
                  <c:v>3463</c:v>
                </c:pt>
                <c:pt idx="14">
                  <c:v>3668</c:v>
                </c:pt>
                <c:pt idx="15">
                  <c:v>3008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12-479A-9CF0-E991C2A5592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3865072"/>
        <c:axId val="203861744"/>
      </c:lineChart>
      <c:catAx>
        <c:axId val="203865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  <c:crossAx val="203861744"/>
        <c:crosses val="autoZero"/>
        <c:auto val="1"/>
        <c:lblAlgn val="ctr"/>
        <c:lblOffset val="100"/>
        <c:noMultiLvlLbl val="0"/>
      </c:catAx>
      <c:valAx>
        <c:axId val="20386174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03865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350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pt-BR"/>
          </a:p>
        </c:txPr>
      </c:legendEntry>
      <c:layout>
        <c:manualLayout>
          <c:xMode val="edge"/>
          <c:yMode val="edge"/>
          <c:x val="0.20900721072403136"/>
          <c:y val="2.4916658355664045E-2"/>
          <c:w val="0.42489542623749565"/>
          <c:h val="8.49821545061711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Soma de medicos_primeira_aparicao</c:v>
                </c:pt>
              </c:strCache>
            </c:strRef>
          </c:tx>
          <c:spPr>
            <a:solidFill>
              <a:srgbClr val="13504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1322</c:v>
                </c:pt>
                <c:pt idx="1">
                  <c:v>2184</c:v>
                </c:pt>
                <c:pt idx="2">
                  <c:v>1558</c:v>
                </c:pt>
                <c:pt idx="3">
                  <c:v>1210</c:v>
                </c:pt>
                <c:pt idx="4">
                  <c:v>1038</c:v>
                </c:pt>
                <c:pt idx="5">
                  <c:v>889</c:v>
                </c:pt>
                <c:pt idx="6">
                  <c:v>927</c:v>
                </c:pt>
                <c:pt idx="7">
                  <c:v>965</c:v>
                </c:pt>
                <c:pt idx="8">
                  <c:v>793</c:v>
                </c:pt>
                <c:pt idx="9">
                  <c:v>640</c:v>
                </c:pt>
                <c:pt idx="10">
                  <c:v>711</c:v>
                </c:pt>
                <c:pt idx="11">
                  <c:v>724</c:v>
                </c:pt>
                <c:pt idx="12">
                  <c:v>769</c:v>
                </c:pt>
                <c:pt idx="13">
                  <c:v>724</c:v>
                </c:pt>
                <c:pt idx="14">
                  <c:v>726</c:v>
                </c:pt>
                <c:pt idx="15">
                  <c:v>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54-4631-94A5-3A97C972BF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87519920"/>
        <c:axId val="887517424"/>
      </c:barChart>
      <c:catAx>
        <c:axId val="88751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7517424"/>
        <c:crosses val="autoZero"/>
        <c:auto val="1"/>
        <c:lblAlgn val="ctr"/>
        <c:lblOffset val="100"/>
        <c:noMultiLvlLbl val="0"/>
      </c:catAx>
      <c:valAx>
        <c:axId val="88751742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88751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393810460302151E-2"/>
          <c:y val="3.7749746117007842E-2"/>
          <c:w val="0.90088570837477222"/>
          <c:h val="0.89430776289132774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CLINICA MEDICA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512</c:v>
                </c:pt>
                <c:pt idx="1">
                  <c:v>928</c:v>
                </c:pt>
                <c:pt idx="2">
                  <c:v>871</c:v>
                </c:pt>
                <c:pt idx="3">
                  <c:v>848</c:v>
                </c:pt>
                <c:pt idx="4">
                  <c:v>834</c:v>
                </c:pt>
                <c:pt idx="5">
                  <c:v>755</c:v>
                </c:pt>
                <c:pt idx="6">
                  <c:v>887</c:v>
                </c:pt>
                <c:pt idx="7">
                  <c:v>1024</c:v>
                </c:pt>
                <c:pt idx="8">
                  <c:v>1051</c:v>
                </c:pt>
                <c:pt idx="9">
                  <c:v>938</c:v>
                </c:pt>
                <c:pt idx="10">
                  <c:v>1067</c:v>
                </c:pt>
                <c:pt idx="11">
                  <c:v>1038</c:v>
                </c:pt>
                <c:pt idx="12">
                  <c:v>1133</c:v>
                </c:pt>
                <c:pt idx="13">
                  <c:v>1238</c:v>
                </c:pt>
                <c:pt idx="14">
                  <c:v>1340</c:v>
                </c:pt>
                <c:pt idx="15">
                  <c:v>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68-465D-8D61-DAD09E46B69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SEM ESPECIALIDADE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#,##0</c:formatCode>
                <c:ptCount val="16"/>
                <c:pt idx="0">
                  <c:v>418</c:v>
                </c:pt>
                <c:pt idx="1">
                  <c:v>819</c:v>
                </c:pt>
                <c:pt idx="2">
                  <c:v>740</c:v>
                </c:pt>
                <c:pt idx="3">
                  <c:v>641</c:v>
                </c:pt>
                <c:pt idx="4">
                  <c:v>737</c:v>
                </c:pt>
                <c:pt idx="5">
                  <c:v>735</c:v>
                </c:pt>
                <c:pt idx="6">
                  <c:v>746</c:v>
                </c:pt>
                <c:pt idx="7">
                  <c:v>891</c:v>
                </c:pt>
                <c:pt idx="8">
                  <c:v>846</c:v>
                </c:pt>
                <c:pt idx="9">
                  <c:v>729</c:v>
                </c:pt>
                <c:pt idx="10">
                  <c:v>883</c:v>
                </c:pt>
                <c:pt idx="11">
                  <c:v>919</c:v>
                </c:pt>
                <c:pt idx="12">
                  <c:v>940</c:v>
                </c:pt>
                <c:pt idx="13">
                  <c:v>957</c:v>
                </c:pt>
                <c:pt idx="14">
                  <c:v>1136</c:v>
                </c:pt>
                <c:pt idx="15">
                  <c:v>822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68-465D-8D61-DAD09E46B69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PEDIATRIA</c:v>
                </c:pt>
              </c:strCache>
            </c:strRef>
          </c:tx>
          <c:spPr>
            <a:ln w="28575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50000"/>
                </a:schemeClr>
              </a:solidFill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#,##0</c:formatCode>
                <c:ptCount val="16"/>
                <c:pt idx="0">
                  <c:v>163</c:v>
                </c:pt>
                <c:pt idx="1">
                  <c:v>293</c:v>
                </c:pt>
                <c:pt idx="2">
                  <c:v>299</c:v>
                </c:pt>
                <c:pt idx="3">
                  <c:v>269</c:v>
                </c:pt>
                <c:pt idx="4">
                  <c:v>294</c:v>
                </c:pt>
                <c:pt idx="5">
                  <c:v>321</c:v>
                </c:pt>
                <c:pt idx="6">
                  <c:v>442</c:v>
                </c:pt>
                <c:pt idx="7">
                  <c:v>578</c:v>
                </c:pt>
                <c:pt idx="8">
                  <c:v>598</c:v>
                </c:pt>
                <c:pt idx="9">
                  <c:v>554</c:v>
                </c:pt>
                <c:pt idx="10">
                  <c:v>578</c:v>
                </c:pt>
                <c:pt idx="11">
                  <c:v>767</c:v>
                </c:pt>
                <c:pt idx="12">
                  <c:v>896</c:v>
                </c:pt>
                <c:pt idx="13">
                  <c:v>962</c:v>
                </c:pt>
                <c:pt idx="14">
                  <c:v>959</c:v>
                </c:pt>
                <c:pt idx="15">
                  <c:v>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2D68-465D-8D61-DAD09E46B69D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CIRURGIA GERAL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Planilha1!$E$2:$E$17</c:f>
              <c:numCache>
                <c:formatCode>#,##0</c:formatCode>
                <c:ptCount val="16"/>
                <c:pt idx="0">
                  <c:v>153</c:v>
                </c:pt>
                <c:pt idx="1">
                  <c:v>314</c:v>
                </c:pt>
                <c:pt idx="2">
                  <c:v>291</c:v>
                </c:pt>
                <c:pt idx="3">
                  <c:v>294</c:v>
                </c:pt>
                <c:pt idx="4">
                  <c:v>320</c:v>
                </c:pt>
                <c:pt idx="5">
                  <c:v>318</c:v>
                </c:pt>
                <c:pt idx="6">
                  <c:v>306</c:v>
                </c:pt>
                <c:pt idx="7">
                  <c:v>334</c:v>
                </c:pt>
                <c:pt idx="8">
                  <c:v>324</c:v>
                </c:pt>
                <c:pt idx="9">
                  <c:v>362</c:v>
                </c:pt>
                <c:pt idx="10">
                  <c:v>376</c:v>
                </c:pt>
                <c:pt idx="11">
                  <c:v>394</c:v>
                </c:pt>
                <c:pt idx="12">
                  <c:v>409</c:v>
                </c:pt>
                <c:pt idx="13">
                  <c:v>392</c:v>
                </c:pt>
                <c:pt idx="14">
                  <c:v>494</c:v>
                </c:pt>
                <c:pt idx="15">
                  <c:v>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2D68-465D-8D61-DAD09E46B69D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ORTOPEDIA E TRAUMATOLOGIA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Planilha1!$F$2:$F$17</c:f>
              <c:numCache>
                <c:formatCode>#,##0</c:formatCode>
                <c:ptCount val="16"/>
                <c:pt idx="0">
                  <c:v>103</c:v>
                </c:pt>
                <c:pt idx="1">
                  <c:v>279</c:v>
                </c:pt>
                <c:pt idx="2">
                  <c:v>298</c:v>
                </c:pt>
                <c:pt idx="3">
                  <c:v>270</c:v>
                </c:pt>
                <c:pt idx="4">
                  <c:v>298</c:v>
                </c:pt>
                <c:pt idx="5">
                  <c:v>299</c:v>
                </c:pt>
                <c:pt idx="6">
                  <c:v>310</c:v>
                </c:pt>
                <c:pt idx="7">
                  <c:v>323</c:v>
                </c:pt>
                <c:pt idx="8">
                  <c:v>292</c:v>
                </c:pt>
                <c:pt idx="9">
                  <c:v>213</c:v>
                </c:pt>
                <c:pt idx="10">
                  <c:v>298</c:v>
                </c:pt>
                <c:pt idx="11">
                  <c:v>343</c:v>
                </c:pt>
                <c:pt idx="12">
                  <c:v>284</c:v>
                </c:pt>
                <c:pt idx="13">
                  <c:v>301</c:v>
                </c:pt>
                <c:pt idx="14">
                  <c:v>318</c:v>
                </c:pt>
                <c:pt idx="15">
                  <c:v>244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2D68-465D-8D61-DAD09E46B69D}"/>
            </c:ext>
          </c:extLst>
        </c:ser>
        <c:ser>
          <c:idx val="5"/>
          <c:order val="5"/>
          <c:tx>
            <c:strRef>
              <c:f>Planilha1!$G$1</c:f>
              <c:strCache>
                <c:ptCount val="1"/>
                <c:pt idx="0">
                  <c:v>MEDICINA DE FAMILIA E COMUNIDADE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Planilha1!$G$2:$G$17</c:f>
              <c:numCache>
                <c:formatCode>#,##0</c:formatCode>
                <c:ptCount val="16"/>
                <c:pt idx="0">
                  <c:v>63</c:v>
                </c:pt>
                <c:pt idx="1">
                  <c:v>187</c:v>
                </c:pt>
                <c:pt idx="2">
                  <c:v>174</c:v>
                </c:pt>
                <c:pt idx="3">
                  <c:v>136</c:v>
                </c:pt>
                <c:pt idx="4">
                  <c:v>161</c:v>
                </c:pt>
                <c:pt idx="5">
                  <c:v>146</c:v>
                </c:pt>
                <c:pt idx="6">
                  <c:v>197</c:v>
                </c:pt>
                <c:pt idx="7">
                  <c:v>193</c:v>
                </c:pt>
                <c:pt idx="8">
                  <c:v>200</c:v>
                </c:pt>
                <c:pt idx="9">
                  <c:v>134</c:v>
                </c:pt>
                <c:pt idx="10">
                  <c:v>199</c:v>
                </c:pt>
                <c:pt idx="11">
                  <c:v>198</c:v>
                </c:pt>
                <c:pt idx="12">
                  <c:v>213</c:v>
                </c:pt>
                <c:pt idx="13">
                  <c:v>203</c:v>
                </c:pt>
                <c:pt idx="14">
                  <c:v>210</c:v>
                </c:pt>
                <c:pt idx="15">
                  <c:v>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2D68-465D-8D61-DAD09E46B69D}"/>
            </c:ext>
          </c:extLst>
        </c:ser>
        <c:ser>
          <c:idx val="6"/>
          <c:order val="6"/>
          <c:tx>
            <c:strRef>
              <c:f>Planilha1!$H$1</c:f>
              <c:strCache>
                <c:ptCount val="1"/>
                <c:pt idx="0">
                  <c:v>GINECOLOGIA E OBSTETRICIA</c:v>
                </c:pt>
              </c:strCache>
            </c:strRef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Planilha1!$H$2:$H$17</c:f>
              <c:numCache>
                <c:formatCode>#,##0</c:formatCode>
                <c:ptCount val="16"/>
                <c:pt idx="0">
                  <c:v>85</c:v>
                </c:pt>
                <c:pt idx="1">
                  <c:v>165</c:v>
                </c:pt>
                <c:pt idx="2">
                  <c:v>216</c:v>
                </c:pt>
                <c:pt idx="3">
                  <c:v>176</c:v>
                </c:pt>
                <c:pt idx="4">
                  <c:v>181</c:v>
                </c:pt>
                <c:pt idx="5">
                  <c:v>155</c:v>
                </c:pt>
                <c:pt idx="6">
                  <c:v>148</c:v>
                </c:pt>
                <c:pt idx="7">
                  <c:v>204</c:v>
                </c:pt>
                <c:pt idx="8">
                  <c:v>151</c:v>
                </c:pt>
                <c:pt idx="9">
                  <c:v>132</c:v>
                </c:pt>
                <c:pt idx="10">
                  <c:v>177</c:v>
                </c:pt>
                <c:pt idx="11">
                  <c:v>173</c:v>
                </c:pt>
                <c:pt idx="12">
                  <c:v>181</c:v>
                </c:pt>
                <c:pt idx="13">
                  <c:v>190</c:v>
                </c:pt>
                <c:pt idx="14">
                  <c:v>206</c:v>
                </c:pt>
                <c:pt idx="15">
                  <c:v>147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2D68-465D-8D61-DAD09E46B69D}"/>
            </c:ext>
          </c:extLst>
        </c:ser>
        <c:ser>
          <c:idx val="7"/>
          <c:order val="7"/>
          <c:tx>
            <c:strRef>
              <c:f>Planilha1!$I$1</c:f>
              <c:strCache>
                <c:ptCount val="1"/>
                <c:pt idx="0">
                  <c:v>PSIQUIATRIA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Planilha1!$I$2:$I$17</c:f>
              <c:numCache>
                <c:formatCode>#,##0</c:formatCode>
                <c:ptCount val="16"/>
                <c:pt idx="0">
                  <c:v>43</c:v>
                </c:pt>
                <c:pt idx="1">
                  <c:v>161</c:v>
                </c:pt>
                <c:pt idx="2">
                  <c:v>189</c:v>
                </c:pt>
                <c:pt idx="3">
                  <c:v>181</c:v>
                </c:pt>
                <c:pt idx="4">
                  <c:v>167</c:v>
                </c:pt>
                <c:pt idx="5">
                  <c:v>175</c:v>
                </c:pt>
                <c:pt idx="6">
                  <c:v>171</c:v>
                </c:pt>
                <c:pt idx="7">
                  <c:v>196</c:v>
                </c:pt>
                <c:pt idx="8">
                  <c:v>171</c:v>
                </c:pt>
                <c:pt idx="9">
                  <c:v>85</c:v>
                </c:pt>
                <c:pt idx="10">
                  <c:v>180</c:v>
                </c:pt>
                <c:pt idx="11">
                  <c:v>156</c:v>
                </c:pt>
                <c:pt idx="12">
                  <c:v>173</c:v>
                </c:pt>
                <c:pt idx="13">
                  <c:v>210</c:v>
                </c:pt>
                <c:pt idx="14">
                  <c:v>209</c:v>
                </c:pt>
                <c:pt idx="15">
                  <c:v>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2D68-465D-8D61-DAD09E46B69D}"/>
            </c:ext>
          </c:extLst>
        </c:ser>
        <c:ser>
          <c:idx val="8"/>
          <c:order val="8"/>
          <c:tx>
            <c:strRef>
              <c:f>Planilha1!$J$1</c:f>
              <c:strCache>
                <c:ptCount val="1"/>
                <c:pt idx="0">
                  <c:v>ENDOCRINOLOGIA E METABOLOGIA</c:v>
                </c:pt>
              </c:strCache>
            </c:strRef>
          </c:tx>
          <c:spPr>
            <a:ln w="28575" cap="rnd">
              <a:solidFill>
                <a:schemeClr val="accent5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Planilha1!$J$2:$J$17</c:f>
              <c:numCache>
                <c:formatCode>#,##0</c:formatCode>
                <c:ptCount val="16"/>
                <c:pt idx="0">
                  <c:v>20</c:v>
                </c:pt>
                <c:pt idx="1">
                  <c:v>114</c:v>
                </c:pt>
                <c:pt idx="2">
                  <c:v>146</c:v>
                </c:pt>
                <c:pt idx="3">
                  <c:v>126</c:v>
                </c:pt>
                <c:pt idx="4">
                  <c:v>125</c:v>
                </c:pt>
                <c:pt idx="5">
                  <c:v>139</c:v>
                </c:pt>
                <c:pt idx="6">
                  <c:v>144</c:v>
                </c:pt>
                <c:pt idx="7">
                  <c:v>157</c:v>
                </c:pt>
                <c:pt idx="8">
                  <c:v>141</c:v>
                </c:pt>
                <c:pt idx="9">
                  <c:v>62</c:v>
                </c:pt>
                <c:pt idx="10">
                  <c:v>148</c:v>
                </c:pt>
                <c:pt idx="11">
                  <c:v>171</c:v>
                </c:pt>
                <c:pt idx="12">
                  <c:v>176</c:v>
                </c:pt>
                <c:pt idx="13">
                  <c:v>130</c:v>
                </c:pt>
                <c:pt idx="14">
                  <c:v>173</c:v>
                </c:pt>
                <c:pt idx="15">
                  <c:v>116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2D68-465D-8D61-DAD09E46B69D}"/>
            </c:ext>
          </c:extLst>
        </c:ser>
        <c:ser>
          <c:idx val="9"/>
          <c:order val="9"/>
          <c:tx>
            <c:strRef>
              <c:f>Planilha1!$K$1</c:f>
              <c:strCache>
                <c:ptCount val="1"/>
                <c:pt idx="0">
                  <c:v>CARDIOLOGIA</c:v>
                </c:pt>
              </c:strCache>
            </c:strRef>
          </c:tx>
          <c:spPr>
            <a:ln w="28575" cap="rnd">
              <a:solidFill>
                <a:schemeClr val="tx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Planilha1!$K$2:$K$17</c:f>
              <c:numCache>
                <c:formatCode>#,##0</c:formatCode>
                <c:ptCount val="16"/>
                <c:pt idx="0">
                  <c:v>35</c:v>
                </c:pt>
                <c:pt idx="1">
                  <c:v>117</c:v>
                </c:pt>
                <c:pt idx="2">
                  <c:v>133</c:v>
                </c:pt>
                <c:pt idx="3">
                  <c:v>119</c:v>
                </c:pt>
                <c:pt idx="4">
                  <c:v>121</c:v>
                </c:pt>
                <c:pt idx="5">
                  <c:v>121</c:v>
                </c:pt>
                <c:pt idx="6">
                  <c:v>118</c:v>
                </c:pt>
                <c:pt idx="7">
                  <c:v>135</c:v>
                </c:pt>
                <c:pt idx="8">
                  <c:v>141</c:v>
                </c:pt>
                <c:pt idx="9">
                  <c:v>83</c:v>
                </c:pt>
                <c:pt idx="10">
                  <c:v>148</c:v>
                </c:pt>
                <c:pt idx="11">
                  <c:v>133</c:v>
                </c:pt>
                <c:pt idx="12">
                  <c:v>145</c:v>
                </c:pt>
                <c:pt idx="13">
                  <c:v>144</c:v>
                </c:pt>
                <c:pt idx="14">
                  <c:v>138</c:v>
                </c:pt>
                <c:pt idx="15">
                  <c:v>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2D68-465D-8D61-DAD09E46B69D}"/>
            </c:ext>
          </c:extLst>
        </c:ser>
        <c:ser>
          <c:idx val="10"/>
          <c:order val="10"/>
          <c:tx>
            <c:strRef>
              <c:f>Planilha1!$L$1</c:f>
              <c:strCache>
                <c:ptCount val="1"/>
                <c:pt idx="0">
                  <c:v>OUTROS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  <a:alpha val="28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Planilha1!$L$2:$L$17</c:f>
              <c:numCache>
                <c:formatCode>#,##0</c:formatCode>
                <c:ptCount val="16"/>
                <c:pt idx="0">
                  <c:v>266</c:v>
                </c:pt>
                <c:pt idx="1">
                  <c:v>675</c:v>
                </c:pt>
                <c:pt idx="2">
                  <c:v>702</c:v>
                </c:pt>
                <c:pt idx="3">
                  <c:v>699</c:v>
                </c:pt>
                <c:pt idx="4">
                  <c:v>706</c:v>
                </c:pt>
                <c:pt idx="5">
                  <c:v>720</c:v>
                </c:pt>
                <c:pt idx="6">
                  <c:v>768</c:v>
                </c:pt>
                <c:pt idx="7">
                  <c:v>815</c:v>
                </c:pt>
                <c:pt idx="8">
                  <c:v>794</c:v>
                </c:pt>
                <c:pt idx="9">
                  <c:v>504</c:v>
                </c:pt>
                <c:pt idx="10">
                  <c:v>815</c:v>
                </c:pt>
                <c:pt idx="11">
                  <c:v>867</c:v>
                </c:pt>
                <c:pt idx="12">
                  <c:v>946</c:v>
                </c:pt>
                <c:pt idx="13">
                  <c:v>856</c:v>
                </c:pt>
                <c:pt idx="14">
                  <c:v>953</c:v>
                </c:pt>
                <c:pt idx="15">
                  <c:v>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2D68-465D-8D61-DAD09E46B6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6726752"/>
        <c:axId val="776721760"/>
      </c:lineChart>
      <c:catAx>
        <c:axId val="77672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1760"/>
        <c:crosses val="autoZero"/>
        <c:auto val="1"/>
        <c:lblAlgn val="ctr"/>
        <c:lblOffset val="100"/>
        <c:noMultiLvlLbl val="0"/>
      </c:catAx>
      <c:valAx>
        <c:axId val="776721760"/>
        <c:scaling>
          <c:orientation val="minMax"/>
          <c:max val="1500"/>
          <c:min val="0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7592239072170822E-2"/>
          <c:y val="5.2374643661688668E-2"/>
          <c:w val="0.50145361459447213"/>
          <c:h val="0.19608633568228798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3C0E6B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102204096355734E-2"/>
          <c:y val="0.12678664034187859"/>
          <c:w val="0.95098604189833835"/>
          <c:h val="0.80527086866645703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5 - Millennials</c:v>
                </c:pt>
              </c:strCache>
            </c:strRef>
          </c:tx>
          <c:spPr>
            <a:ln w="28575" cap="rnd">
              <a:solidFill>
                <a:schemeClr val="accent3">
                  <a:shade val="4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3">
                  <a:shade val="45000"/>
                </a:schemeClr>
              </a:solidFill>
              <a:ln w="9525">
                <a:solidFill>
                  <a:schemeClr val="accent3">
                    <a:shade val="4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461</c:v>
                </c:pt>
                <c:pt idx="1">
                  <c:v>999</c:v>
                </c:pt>
                <c:pt idx="2">
                  <c:v>939</c:v>
                </c:pt>
                <c:pt idx="3">
                  <c:v>881</c:v>
                </c:pt>
                <c:pt idx="4">
                  <c:v>921</c:v>
                </c:pt>
                <c:pt idx="5">
                  <c:v>915</c:v>
                </c:pt>
                <c:pt idx="6">
                  <c:v>929</c:v>
                </c:pt>
                <c:pt idx="7">
                  <c:v>1067</c:v>
                </c:pt>
                <c:pt idx="8">
                  <c:v>972</c:v>
                </c:pt>
                <c:pt idx="9">
                  <c:v>834</c:v>
                </c:pt>
                <c:pt idx="10">
                  <c:v>1088</c:v>
                </c:pt>
                <c:pt idx="11">
                  <c:v>1087</c:v>
                </c:pt>
                <c:pt idx="12">
                  <c:v>1105</c:v>
                </c:pt>
                <c:pt idx="13">
                  <c:v>1144</c:v>
                </c:pt>
                <c:pt idx="14">
                  <c:v>1309</c:v>
                </c:pt>
                <c:pt idx="15">
                  <c:v>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13-4C98-B6AE-C1A0FC09E81B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6 - Geração Z</c:v>
                </c:pt>
              </c:strCache>
            </c:strRef>
          </c:tx>
          <c:spPr>
            <a:ln w="28575" cap="rnd">
              <a:solidFill>
                <a:schemeClr val="accent3">
                  <a:shade val="61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3">
                  <a:shade val="61000"/>
                </a:schemeClr>
              </a:solidFill>
              <a:ln w="9525">
                <a:solidFill>
                  <a:schemeClr val="accent3">
                    <a:shade val="61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#,##0</c:formatCode>
                <c:ptCount val="16"/>
                <c:pt idx="0">
                  <c:v>460</c:v>
                </c:pt>
                <c:pt idx="1">
                  <c:v>956</c:v>
                </c:pt>
                <c:pt idx="2">
                  <c:v>877</c:v>
                </c:pt>
                <c:pt idx="3">
                  <c:v>884</c:v>
                </c:pt>
                <c:pt idx="4">
                  <c:v>890</c:v>
                </c:pt>
                <c:pt idx="5">
                  <c:v>849</c:v>
                </c:pt>
                <c:pt idx="6">
                  <c:v>933</c:v>
                </c:pt>
                <c:pt idx="7">
                  <c:v>1050</c:v>
                </c:pt>
                <c:pt idx="8">
                  <c:v>1050</c:v>
                </c:pt>
                <c:pt idx="9">
                  <c:v>904</c:v>
                </c:pt>
                <c:pt idx="10">
                  <c:v>1054</c:v>
                </c:pt>
                <c:pt idx="11">
                  <c:v>1063</c:v>
                </c:pt>
                <c:pt idx="12">
                  <c:v>1140</c:v>
                </c:pt>
                <c:pt idx="13">
                  <c:v>1113</c:v>
                </c:pt>
                <c:pt idx="14">
                  <c:v>1285</c:v>
                </c:pt>
                <c:pt idx="15">
                  <c:v>893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13-4C98-B6AE-C1A0FC09E81B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4 - Geração X</c:v>
                </c:pt>
              </c:strCache>
            </c:strRef>
          </c:tx>
          <c:spPr>
            <a:ln w="28575" cap="rnd">
              <a:solidFill>
                <a:schemeClr val="accent3">
                  <a:shade val="76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3">
                  <a:shade val="76000"/>
                </a:schemeClr>
              </a:solidFill>
              <a:ln w="9525">
                <a:solidFill>
                  <a:schemeClr val="accent3">
                    <a:shade val="76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#,##0</c:formatCode>
                <c:ptCount val="16"/>
                <c:pt idx="0">
                  <c:v>366</c:v>
                </c:pt>
                <c:pt idx="1">
                  <c:v>837</c:v>
                </c:pt>
                <c:pt idx="2">
                  <c:v>896</c:v>
                </c:pt>
                <c:pt idx="3">
                  <c:v>813</c:v>
                </c:pt>
                <c:pt idx="4">
                  <c:v>872</c:v>
                </c:pt>
                <c:pt idx="5">
                  <c:v>836</c:v>
                </c:pt>
                <c:pt idx="6">
                  <c:v>869</c:v>
                </c:pt>
                <c:pt idx="7">
                  <c:v>956</c:v>
                </c:pt>
                <c:pt idx="8">
                  <c:v>913</c:v>
                </c:pt>
                <c:pt idx="9">
                  <c:v>753</c:v>
                </c:pt>
                <c:pt idx="10">
                  <c:v>976</c:v>
                </c:pt>
                <c:pt idx="11">
                  <c:v>1019</c:v>
                </c:pt>
                <c:pt idx="12">
                  <c:v>1041</c:v>
                </c:pt>
                <c:pt idx="13">
                  <c:v>1062</c:v>
                </c:pt>
                <c:pt idx="14">
                  <c:v>1147</c:v>
                </c:pt>
                <c:pt idx="15">
                  <c:v>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13-4C98-B6AE-C1A0FC09E81B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7 - Alfa</c:v>
                </c:pt>
              </c:strCache>
            </c:strRef>
          </c:tx>
          <c:spPr>
            <a:ln w="28575" cap="rnd">
              <a:solidFill>
                <a:srgbClr val="43682B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43682B"/>
              </a:solidFill>
              <a:ln w="9525">
                <a:solidFill>
                  <a:srgbClr val="43682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Planilha1!$E$2:$E$17</c:f>
              <c:numCache>
                <c:formatCode>#,##0</c:formatCode>
                <c:ptCount val="16"/>
                <c:pt idx="0">
                  <c:v>226</c:v>
                </c:pt>
                <c:pt idx="1">
                  <c:v>413</c:v>
                </c:pt>
                <c:pt idx="2">
                  <c:v>396</c:v>
                </c:pt>
                <c:pt idx="3">
                  <c:v>378</c:v>
                </c:pt>
                <c:pt idx="4">
                  <c:v>406</c:v>
                </c:pt>
                <c:pt idx="5">
                  <c:v>443</c:v>
                </c:pt>
                <c:pt idx="6">
                  <c:v>574</c:v>
                </c:pt>
                <c:pt idx="7">
                  <c:v>814</c:v>
                </c:pt>
                <c:pt idx="8">
                  <c:v>846</c:v>
                </c:pt>
                <c:pt idx="9">
                  <c:v>713</c:v>
                </c:pt>
                <c:pt idx="10">
                  <c:v>777</c:v>
                </c:pt>
                <c:pt idx="11">
                  <c:v>1003</c:v>
                </c:pt>
                <c:pt idx="12">
                  <c:v>1203</c:v>
                </c:pt>
                <c:pt idx="13">
                  <c:v>1264</c:v>
                </c:pt>
                <c:pt idx="14">
                  <c:v>1330</c:v>
                </c:pt>
                <c:pt idx="15">
                  <c:v>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13-4C98-B6AE-C1A0FC09E81B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3 - Baby boomers</c:v>
                </c:pt>
              </c:strCache>
            </c:strRef>
          </c:tx>
          <c:spPr>
            <a:ln w="28575" cap="rnd">
              <a:solidFill>
                <a:schemeClr val="accent3">
                  <a:tint val="93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tint val="93000"/>
                </a:schemeClr>
              </a:solidFill>
              <a:ln w="9525">
                <a:solidFill>
                  <a:schemeClr val="accent3">
                    <a:tint val="93000"/>
                  </a:schemeClr>
                </a:solidFill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Planilha1!$F$2:$F$17</c:f>
              <c:numCache>
                <c:formatCode>#,##0</c:formatCode>
                <c:ptCount val="16"/>
                <c:pt idx="0">
                  <c:v>266</c:v>
                </c:pt>
                <c:pt idx="1">
                  <c:v>637</c:v>
                </c:pt>
                <c:pt idx="2">
                  <c:v>728</c:v>
                </c:pt>
                <c:pt idx="3">
                  <c:v>601</c:v>
                </c:pt>
                <c:pt idx="4">
                  <c:v>646</c:v>
                </c:pt>
                <c:pt idx="5">
                  <c:v>666</c:v>
                </c:pt>
                <c:pt idx="6">
                  <c:v>728</c:v>
                </c:pt>
                <c:pt idx="7">
                  <c:v>747</c:v>
                </c:pt>
                <c:pt idx="8">
                  <c:v>718</c:v>
                </c:pt>
                <c:pt idx="9">
                  <c:v>456</c:v>
                </c:pt>
                <c:pt idx="10">
                  <c:v>750</c:v>
                </c:pt>
                <c:pt idx="11">
                  <c:v>768</c:v>
                </c:pt>
                <c:pt idx="12">
                  <c:v>802</c:v>
                </c:pt>
                <c:pt idx="13">
                  <c:v>784</c:v>
                </c:pt>
                <c:pt idx="14">
                  <c:v>840</c:v>
                </c:pt>
                <c:pt idx="15">
                  <c:v>630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13-4C98-B6AE-C1A0FC09E81B}"/>
            </c:ext>
          </c:extLst>
        </c:ser>
        <c:ser>
          <c:idx val="5"/>
          <c:order val="5"/>
          <c:tx>
            <c:strRef>
              <c:f>Planilha1!$G$1</c:f>
              <c:strCache>
                <c:ptCount val="1"/>
                <c:pt idx="0">
                  <c:v>2 - Silenciosa</c:v>
                </c:pt>
              </c:strCache>
            </c:strRef>
          </c:tx>
          <c:spPr>
            <a:ln w="28575" cap="rnd">
              <a:solidFill>
                <a:schemeClr val="accent3">
                  <a:tint val="77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tint val="77000"/>
                </a:schemeClr>
              </a:solidFill>
              <a:ln w="9525">
                <a:solidFill>
                  <a:schemeClr val="accent3">
                    <a:tint val="77000"/>
                  </a:schemeClr>
                </a:solidFill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Planilha1!$G$2:$G$17</c:f>
              <c:numCache>
                <c:formatCode>#,##0</c:formatCode>
                <c:ptCount val="16"/>
                <c:pt idx="0">
                  <c:v>54</c:v>
                </c:pt>
                <c:pt idx="1">
                  <c:v>126</c:v>
                </c:pt>
                <c:pt idx="2">
                  <c:v>147</c:v>
                </c:pt>
                <c:pt idx="3">
                  <c:v>128</c:v>
                </c:pt>
                <c:pt idx="4">
                  <c:v>130</c:v>
                </c:pt>
                <c:pt idx="5">
                  <c:v>112</c:v>
                </c:pt>
                <c:pt idx="6">
                  <c:v>124</c:v>
                </c:pt>
                <c:pt idx="7">
                  <c:v>123</c:v>
                </c:pt>
                <c:pt idx="8">
                  <c:v>131</c:v>
                </c:pt>
                <c:pt idx="9">
                  <c:v>75</c:v>
                </c:pt>
                <c:pt idx="10">
                  <c:v>132</c:v>
                </c:pt>
                <c:pt idx="11">
                  <c:v>134</c:v>
                </c:pt>
                <c:pt idx="12">
                  <c:v>112</c:v>
                </c:pt>
                <c:pt idx="13">
                  <c:v>142</c:v>
                </c:pt>
                <c:pt idx="14">
                  <c:v>121</c:v>
                </c:pt>
                <c:pt idx="15">
                  <c:v>128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013-4C98-B6AE-C1A0FC09E81B}"/>
            </c:ext>
          </c:extLst>
        </c:ser>
        <c:ser>
          <c:idx val="6"/>
          <c:order val="6"/>
          <c:tx>
            <c:strRef>
              <c:f>Planilha1!$H$1</c:f>
              <c:strCache>
                <c:ptCount val="1"/>
                <c:pt idx="0">
                  <c:v>Sem info</c:v>
                </c:pt>
              </c:strCache>
            </c:strRef>
          </c:tx>
          <c:spPr>
            <a:ln w="28575" cap="rnd">
              <a:solidFill>
                <a:schemeClr val="accent3">
                  <a:tint val="62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tint val="62000"/>
                </a:schemeClr>
              </a:solidFill>
              <a:ln w="9525">
                <a:solidFill>
                  <a:schemeClr val="accent3">
                    <a:tint val="62000"/>
                  </a:schemeClr>
                </a:solidFill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Planilha1!$H$2:$H$17</c:f>
              <c:numCache>
                <c:formatCode>#,##0</c:formatCode>
                <c:ptCount val="16"/>
                <c:pt idx="0">
                  <c:v>28</c:v>
                </c:pt>
                <c:pt idx="1">
                  <c:v>81</c:v>
                </c:pt>
                <c:pt idx="2">
                  <c:v>76</c:v>
                </c:pt>
                <c:pt idx="3">
                  <c:v>74</c:v>
                </c:pt>
                <c:pt idx="4">
                  <c:v>78</c:v>
                </c:pt>
                <c:pt idx="5">
                  <c:v>62</c:v>
                </c:pt>
                <c:pt idx="6">
                  <c:v>78</c:v>
                </c:pt>
                <c:pt idx="7">
                  <c:v>92</c:v>
                </c:pt>
                <c:pt idx="8">
                  <c:v>75</c:v>
                </c:pt>
                <c:pt idx="9">
                  <c:v>58</c:v>
                </c:pt>
                <c:pt idx="10">
                  <c:v>88</c:v>
                </c:pt>
                <c:pt idx="11">
                  <c:v>83</c:v>
                </c:pt>
                <c:pt idx="12">
                  <c:v>91</c:v>
                </c:pt>
                <c:pt idx="13">
                  <c:v>74</c:v>
                </c:pt>
                <c:pt idx="14">
                  <c:v>103</c:v>
                </c:pt>
                <c:pt idx="15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013-4C98-B6AE-C1A0FC09E81B}"/>
            </c:ext>
          </c:extLst>
        </c:ser>
        <c:ser>
          <c:idx val="7"/>
          <c:order val="7"/>
          <c:tx>
            <c:strRef>
              <c:f>Planilha1!$I$1</c:f>
              <c:strCache>
                <c:ptCount val="1"/>
                <c:pt idx="0">
                  <c:v>1 - Greatest</c:v>
                </c:pt>
              </c:strCache>
            </c:strRef>
          </c:tx>
          <c:spPr>
            <a:ln w="28575" cap="rnd">
              <a:solidFill>
                <a:schemeClr val="accent3">
                  <a:tint val="46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tint val="46000"/>
                </a:schemeClr>
              </a:solidFill>
              <a:ln w="9525">
                <a:solidFill>
                  <a:schemeClr val="accent3">
                    <a:tint val="46000"/>
                  </a:schemeClr>
                </a:solidFill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Planilha1!$I$2:$I$17</c:f>
              <c:numCache>
                <c:formatCode>#,##0</c:formatCode>
                <c:ptCount val="16"/>
                <c:pt idx="1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  <c:pt idx="12">
                  <c:v>2</c:v>
                </c:pt>
                <c:pt idx="14">
                  <c:v>1</c:v>
                </c:pt>
                <c:pt idx="1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013-4C98-B6AE-C1A0FC09E8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6726752"/>
        <c:axId val="776721760"/>
      </c:lineChart>
      <c:catAx>
        <c:axId val="77672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1760"/>
        <c:crosses val="autoZero"/>
        <c:auto val="1"/>
        <c:lblAlgn val="ctr"/>
        <c:lblOffset val="100"/>
        <c:noMultiLvlLbl val="0"/>
      </c:catAx>
      <c:valAx>
        <c:axId val="776721760"/>
        <c:scaling>
          <c:orientation val="minMax"/>
          <c:max val="1500"/>
          <c:min val="0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3667515472020966"/>
          <c:y val="1.57123930985066E-2"/>
          <c:w val="0.76514602249659414"/>
          <c:h val="6.8759246753648445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102204096355734E-2"/>
          <c:y val="0.17654255182048278"/>
          <c:w val="0.95098604189833835"/>
          <c:h val="0.75551502213883481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Paracetamol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  <a:alpha val="18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402</c:v>
                </c:pt>
                <c:pt idx="1">
                  <c:v>734</c:v>
                </c:pt>
                <c:pt idx="2">
                  <c:v>776</c:v>
                </c:pt>
                <c:pt idx="3">
                  <c:v>712</c:v>
                </c:pt>
                <c:pt idx="4">
                  <c:v>750</c:v>
                </c:pt>
                <c:pt idx="5">
                  <c:v>760</c:v>
                </c:pt>
                <c:pt idx="6">
                  <c:v>777</c:v>
                </c:pt>
                <c:pt idx="7">
                  <c:v>905</c:v>
                </c:pt>
                <c:pt idx="8">
                  <c:v>853</c:v>
                </c:pt>
                <c:pt idx="9">
                  <c:v>851</c:v>
                </c:pt>
                <c:pt idx="10">
                  <c:v>939</c:v>
                </c:pt>
                <c:pt idx="11">
                  <c:v>933</c:v>
                </c:pt>
                <c:pt idx="12">
                  <c:v>960</c:v>
                </c:pt>
                <c:pt idx="13">
                  <c:v>971</c:v>
                </c:pt>
                <c:pt idx="14">
                  <c:v>963</c:v>
                </c:pt>
                <c:pt idx="15">
                  <c:v>609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13-4C98-B6AE-C1A0FC09E81B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Glifage_XR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  <a:alpha val="47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#,##0</c:formatCode>
                <c:ptCount val="16"/>
                <c:pt idx="0">
                  <c:v>129</c:v>
                </c:pt>
                <c:pt idx="1">
                  <c:v>458</c:v>
                </c:pt>
                <c:pt idx="2">
                  <c:v>583</c:v>
                </c:pt>
                <c:pt idx="3">
                  <c:v>535</c:v>
                </c:pt>
                <c:pt idx="4">
                  <c:v>565</c:v>
                </c:pt>
                <c:pt idx="5">
                  <c:v>540</c:v>
                </c:pt>
                <c:pt idx="6">
                  <c:v>610</c:v>
                </c:pt>
                <c:pt idx="7">
                  <c:v>648</c:v>
                </c:pt>
                <c:pt idx="8">
                  <c:v>648</c:v>
                </c:pt>
                <c:pt idx="9">
                  <c:v>325</c:v>
                </c:pt>
                <c:pt idx="10">
                  <c:v>682</c:v>
                </c:pt>
                <c:pt idx="11">
                  <c:v>669</c:v>
                </c:pt>
                <c:pt idx="12">
                  <c:v>718</c:v>
                </c:pt>
                <c:pt idx="13">
                  <c:v>628</c:v>
                </c:pt>
                <c:pt idx="14">
                  <c:v>711</c:v>
                </c:pt>
                <c:pt idx="15">
                  <c:v>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13-4C98-B6AE-C1A0FC09E81B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Aerolin_Spray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#,##0</c:formatCode>
                <c:ptCount val="16"/>
                <c:pt idx="0">
                  <c:v>128</c:v>
                </c:pt>
                <c:pt idx="1">
                  <c:v>276</c:v>
                </c:pt>
                <c:pt idx="2">
                  <c:v>262</c:v>
                </c:pt>
                <c:pt idx="3">
                  <c:v>241</c:v>
                </c:pt>
                <c:pt idx="4">
                  <c:v>226</c:v>
                </c:pt>
                <c:pt idx="5">
                  <c:v>268</c:v>
                </c:pt>
                <c:pt idx="6">
                  <c:v>350</c:v>
                </c:pt>
                <c:pt idx="7">
                  <c:v>472</c:v>
                </c:pt>
                <c:pt idx="8">
                  <c:v>404</c:v>
                </c:pt>
                <c:pt idx="9">
                  <c:v>399</c:v>
                </c:pt>
                <c:pt idx="10">
                  <c:v>414</c:v>
                </c:pt>
                <c:pt idx="11">
                  <c:v>532</c:v>
                </c:pt>
                <c:pt idx="12">
                  <c:v>668</c:v>
                </c:pt>
                <c:pt idx="13">
                  <c:v>668</c:v>
                </c:pt>
                <c:pt idx="14">
                  <c:v>704</c:v>
                </c:pt>
                <c:pt idx="15">
                  <c:v>504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13-4C98-B6AE-C1A0FC09E81B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Avamys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92D050"/>
              </a:solidFill>
              <a:ln w="9525">
                <a:solidFill>
                  <a:srgbClr val="92D05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Planilha1!$E$2:$E$17</c:f>
              <c:numCache>
                <c:formatCode>#,##0</c:formatCode>
                <c:ptCount val="16"/>
                <c:pt idx="0">
                  <c:v>194</c:v>
                </c:pt>
                <c:pt idx="1">
                  <c:v>399</c:v>
                </c:pt>
                <c:pt idx="2">
                  <c:v>335</c:v>
                </c:pt>
                <c:pt idx="3">
                  <c:v>320</c:v>
                </c:pt>
                <c:pt idx="4">
                  <c:v>312</c:v>
                </c:pt>
                <c:pt idx="5">
                  <c:v>356</c:v>
                </c:pt>
                <c:pt idx="6">
                  <c:v>354</c:v>
                </c:pt>
                <c:pt idx="7">
                  <c:v>390</c:v>
                </c:pt>
                <c:pt idx="8">
                  <c:v>387</c:v>
                </c:pt>
                <c:pt idx="9">
                  <c:v>309</c:v>
                </c:pt>
                <c:pt idx="10">
                  <c:v>458</c:v>
                </c:pt>
                <c:pt idx="11">
                  <c:v>470</c:v>
                </c:pt>
                <c:pt idx="12">
                  <c:v>469</c:v>
                </c:pt>
                <c:pt idx="13">
                  <c:v>525</c:v>
                </c:pt>
                <c:pt idx="14">
                  <c:v>581</c:v>
                </c:pt>
                <c:pt idx="15">
                  <c:v>412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13-4C98-B6AE-C1A0FC09E81B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Sulfato_de_Salbutamol</c:v>
                </c:pt>
              </c:strCache>
            </c:strRef>
          </c:tx>
          <c:spPr>
            <a:ln w="28575" cap="rnd">
              <a:solidFill>
                <a:schemeClr val="accent6">
                  <a:lumMod val="5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6">
                  <a:lumMod val="50000"/>
                </a:schemeClr>
              </a:solidFill>
              <a:ln w="9525">
                <a:solidFill>
                  <a:schemeClr val="accent6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Planilha1!$F$2:$F$17</c:f>
              <c:numCache>
                <c:formatCode>#,##0</c:formatCode>
                <c:ptCount val="16"/>
                <c:pt idx="0">
                  <c:v>143</c:v>
                </c:pt>
                <c:pt idx="1">
                  <c:v>251</c:v>
                </c:pt>
                <c:pt idx="2">
                  <c:v>226</c:v>
                </c:pt>
                <c:pt idx="3">
                  <c:v>210</c:v>
                </c:pt>
                <c:pt idx="4">
                  <c:v>253</c:v>
                </c:pt>
                <c:pt idx="5">
                  <c:v>233</c:v>
                </c:pt>
                <c:pt idx="6">
                  <c:v>289</c:v>
                </c:pt>
                <c:pt idx="7">
                  <c:v>381</c:v>
                </c:pt>
                <c:pt idx="8">
                  <c:v>446</c:v>
                </c:pt>
                <c:pt idx="9">
                  <c:v>366</c:v>
                </c:pt>
                <c:pt idx="10">
                  <c:v>405</c:v>
                </c:pt>
                <c:pt idx="11">
                  <c:v>474</c:v>
                </c:pt>
                <c:pt idx="12">
                  <c:v>566</c:v>
                </c:pt>
                <c:pt idx="13">
                  <c:v>594</c:v>
                </c:pt>
                <c:pt idx="14">
                  <c:v>622</c:v>
                </c:pt>
                <c:pt idx="15">
                  <c:v>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13-4C98-B6AE-C1A0FC09E81B}"/>
            </c:ext>
          </c:extLst>
        </c:ser>
        <c:ser>
          <c:idx val="5"/>
          <c:order val="5"/>
          <c:tx>
            <c:strRef>
              <c:f>Planilha1!$G$1</c:f>
              <c:strCache>
                <c:ptCount val="1"/>
                <c:pt idx="0">
                  <c:v>Budesonida_(Spray)</c:v>
                </c:pt>
              </c:strCache>
            </c:strRef>
          </c:tx>
          <c:spPr>
            <a:ln w="28575" cap="rnd">
              <a:solidFill>
                <a:srgbClr val="3C0E6B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3C0E6B"/>
              </a:solidFill>
              <a:ln w="9525">
                <a:solidFill>
                  <a:srgbClr val="3C0E6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Planilha1!$G$2:$G$17</c:f>
              <c:numCache>
                <c:formatCode>#,##0</c:formatCode>
                <c:ptCount val="16"/>
                <c:pt idx="0">
                  <c:v>189</c:v>
                </c:pt>
                <c:pt idx="1">
                  <c:v>348</c:v>
                </c:pt>
                <c:pt idx="2">
                  <c:v>294</c:v>
                </c:pt>
                <c:pt idx="3">
                  <c:v>263</c:v>
                </c:pt>
                <c:pt idx="4">
                  <c:v>255</c:v>
                </c:pt>
                <c:pt idx="5">
                  <c:v>285</c:v>
                </c:pt>
                <c:pt idx="6">
                  <c:v>310</c:v>
                </c:pt>
                <c:pt idx="7">
                  <c:v>393</c:v>
                </c:pt>
                <c:pt idx="8">
                  <c:v>427</c:v>
                </c:pt>
                <c:pt idx="9">
                  <c:v>328</c:v>
                </c:pt>
                <c:pt idx="10">
                  <c:v>363</c:v>
                </c:pt>
                <c:pt idx="11">
                  <c:v>402</c:v>
                </c:pt>
                <c:pt idx="12">
                  <c:v>417</c:v>
                </c:pt>
                <c:pt idx="13">
                  <c:v>387</c:v>
                </c:pt>
                <c:pt idx="14">
                  <c:v>598</c:v>
                </c:pt>
                <c:pt idx="15">
                  <c:v>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013-4C98-B6AE-C1A0FC09E81B}"/>
            </c:ext>
          </c:extLst>
        </c:ser>
        <c:ser>
          <c:idx val="6"/>
          <c:order val="6"/>
          <c:tx>
            <c:strRef>
              <c:f>Planilha1!$H$1</c:f>
              <c:strCache>
                <c:ptCount val="1"/>
                <c:pt idx="0">
                  <c:v>Acetilcisteína</c:v>
                </c:pt>
              </c:strCache>
            </c:strRef>
          </c:tx>
          <c:spPr>
            <a:ln w="28575" cap="rnd">
              <a:solidFill>
                <a:srgbClr val="843C0C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843C0C"/>
              </a:solidFill>
              <a:ln w="9525">
                <a:solidFill>
                  <a:srgbClr val="843C0C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Planilha1!$H$2:$H$17</c:f>
              <c:numCache>
                <c:formatCode>#,##0</c:formatCode>
                <c:ptCount val="16"/>
                <c:pt idx="0">
                  <c:v>208</c:v>
                </c:pt>
                <c:pt idx="1">
                  <c:v>345</c:v>
                </c:pt>
                <c:pt idx="2">
                  <c:v>247</c:v>
                </c:pt>
                <c:pt idx="3">
                  <c:v>224</c:v>
                </c:pt>
                <c:pt idx="4">
                  <c:v>240</c:v>
                </c:pt>
                <c:pt idx="5">
                  <c:v>237</c:v>
                </c:pt>
                <c:pt idx="6">
                  <c:v>229</c:v>
                </c:pt>
                <c:pt idx="7">
                  <c:v>288</c:v>
                </c:pt>
                <c:pt idx="8">
                  <c:v>297</c:v>
                </c:pt>
                <c:pt idx="9">
                  <c:v>306</c:v>
                </c:pt>
                <c:pt idx="10">
                  <c:v>310</c:v>
                </c:pt>
                <c:pt idx="11">
                  <c:v>348</c:v>
                </c:pt>
                <c:pt idx="12">
                  <c:v>360</c:v>
                </c:pt>
                <c:pt idx="13">
                  <c:v>402</c:v>
                </c:pt>
                <c:pt idx="14">
                  <c:v>476</c:v>
                </c:pt>
                <c:pt idx="15">
                  <c:v>315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013-4C98-B6AE-C1A0FC09E81B}"/>
            </c:ext>
          </c:extLst>
        </c:ser>
        <c:ser>
          <c:idx val="7"/>
          <c:order val="7"/>
          <c:tx>
            <c:strRef>
              <c:f>Planilha1!$I$1</c:f>
              <c:strCache>
                <c:ptCount val="1"/>
                <c:pt idx="0">
                  <c:v>Diprospan</c:v>
                </c:pt>
              </c:strCache>
            </c:strRef>
          </c:tx>
          <c:spPr>
            <a:ln w="28575" cap="rnd">
              <a:solidFill>
                <a:schemeClr val="accent3">
                  <a:tint val="58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Planilha1!$I$2:$I$17</c:f>
              <c:numCache>
                <c:formatCode>#,##0</c:formatCode>
                <c:ptCount val="16"/>
                <c:pt idx="0">
                  <c:v>80</c:v>
                </c:pt>
                <c:pt idx="1">
                  <c:v>279</c:v>
                </c:pt>
                <c:pt idx="2">
                  <c:v>312</c:v>
                </c:pt>
                <c:pt idx="3">
                  <c:v>291</c:v>
                </c:pt>
                <c:pt idx="4">
                  <c:v>311</c:v>
                </c:pt>
                <c:pt idx="5">
                  <c:v>304</c:v>
                </c:pt>
                <c:pt idx="6">
                  <c:v>334</c:v>
                </c:pt>
                <c:pt idx="7">
                  <c:v>322</c:v>
                </c:pt>
                <c:pt idx="8">
                  <c:v>296</c:v>
                </c:pt>
                <c:pt idx="9">
                  <c:v>217</c:v>
                </c:pt>
                <c:pt idx="10">
                  <c:v>310</c:v>
                </c:pt>
                <c:pt idx="11">
                  <c:v>330</c:v>
                </c:pt>
                <c:pt idx="12">
                  <c:v>313</c:v>
                </c:pt>
                <c:pt idx="13">
                  <c:v>328</c:v>
                </c:pt>
                <c:pt idx="14">
                  <c:v>339</c:v>
                </c:pt>
                <c:pt idx="15">
                  <c:v>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013-4C98-B6AE-C1A0FC09E81B}"/>
            </c:ext>
          </c:extLst>
        </c:ser>
        <c:ser>
          <c:idx val="8"/>
          <c:order val="8"/>
          <c:tx>
            <c:strRef>
              <c:f>Planilha1!$J$1</c:f>
              <c:strCache>
                <c:ptCount val="1"/>
                <c:pt idx="0">
                  <c:v>Fluconazol</c:v>
                </c:pt>
              </c:strCache>
            </c:strRef>
          </c:tx>
          <c:spPr>
            <a:ln w="28575" cap="rnd">
              <a:solidFill>
                <a:schemeClr val="accent3">
                  <a:tint val="44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Planilha1!$J$2:$J$17</c:f>
              <c:numCache>
                <c:formatCode>#,##0</c:formatCode>
                <c:ptCount val="16"/>
                <c:pt idx="0">
                  <c:v>84</c:v>
                </c:pt>
                <c:pt idx="1">
                  <c:v>251</c:v>
                </c:pt>
                <c:pt idx="2">
                  <c:v>268</c:v>
                </c:pt>
                <c:pt idx="3">
                  <c:v>236</c:v>
                </c:pt>
                <c:pt idx="4">
                  <c:v>223</c:v>
                </c:pt>
                <c:pt idx="5">
                  <c:v>229</c:v>
                </c:pt>
                <c:pt idx="6">
                  <c:v>226</c:v>
                </c:pt>
                <c:pt idx="7">
                  <c:v>304</c:v>
                </c:pt>
                <c:pt idx="8">
                  <c:v>217</c:v>
                </c:pt>
                <c:pt idx="9">
                  <c:v>171</c:v>
                </c:pt>
                <c:pt idx="10">
                  <c:v>247</c:v>
                </c:pt>
                <c:pt idx="11">
                  <c:v>223</c:v>
                </c:pt>
                <c:pt idx="12">
                  <c:v>218</c:v>
                </c:pt>
                <c:pt idx="13">
                  <c:v>245</c:v>
                </c:pt>
                <c:pt idx="14">
                  <c:v>269</c:v>
                </c:pt>
                <c:pt idx="15">
                  <c:v>189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59-48BA-9A26-30181FFDA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6726752"/>
        <c:axId val="776721760"/>
      </c:lineChart>
      <c:catAx>
        <c:axId val="77672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1760"/>
        <c:crosses val="autoZero"/>
        <c:auto val="1"/>
        <c:lblAlgn val="ctr"/>
        <c:lblOffset val="100"/>
        <c:noMultiLvlLbl val="0"/>
      </c:catAx>
      <c:valAx>
        <c:axId val="776721760"/>
        <c:scaling>
          <c:orientation val="minMax"/>
          <c:max val="1100"/>
          <c:min val="0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3667515472020966"/>
          <c:y val="1.57123930985066E-2"/>
          <c:w val="0.61238940164323918"/>
          <c:h val="0.1578201001303261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76184839004075"/>
          <c:y val="8.7741739943626579E-2"/>
          <c:w val="0.95098604189833835"/>
          <c:h val="0.71790029124353005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Sem Info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  <a:alpha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elete val="1"/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0.75</c:v>
                </c:pt>
                <c:pt idx="1">
                  <c:v>0.83950617283950613</c:v>
                </c:pt>
                <c:pt idx="2">
                  <c:v>0.78947368421052633</c:v>
                </c:pt>
                <c:pt idx="3">
                  <c:v>0.90540540540540537</c:v>
                </c:pt>
                <c:pt idx="4">
                  <c:v>0.75641025641025639</c:v>
                </c:pt>
                <c:pt idx="5">
                  <c:v>0.88709677419354838</c:v>
                </c:pt>
                <c:pt idx="6">
                  <c:v>0.80769230769230771</c:v>
                </c:pt>
                <c:pt idx="7">
                  <c:v>0.83695652173913049</c:v>
                </c:pt>
                <c:pt idx="8">
                  <c:v>0.70666666666666667</c:v>
                </c:pt>
                <c:pt idx="9">
                  <c:v>0.7931034482758621</c:v>
                </c:pt>
                <c:pt idx="10">
                  <c:v>0.85227272727272729</c:v>
                </c:pt>
                <c:pt idx="11">
                  <c:v>0.74698795180722888</c:v>
                </c:pt>
                <c:pt idx="12">
                  <c:v>0.74725274725274726</c:v>
                </c:pt>
                <c:pt idx="13">
                  <c:v>0.86486486486486491</c:v>
                </c:pt>
                <c:pt idx="14">
                  <c:v>0.68932038834951459</c:v>
                </c:pt>
                <c:pt idx="15">
                  <c:v>0.68333333333333335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2C-44EB-AFAB-888548323322}"/>
            </c:ext>
          </c:extLst>
        </c:ser>
        <c:ser>
          <c:idx val="1"/>
          <c:order val="1"/>
          <c:tx>
            <c:strRef>
              <c:f>Planilha1!$F$1</c:f>
              <c:strCache>
                <c:ptCount val="1"/>
                <c:pt idx="0">
                  <c:v>5 - Millennials</c:v>
                </c:pt>
              </c:strCache>
            </c:strRef>
          </c:tx>
          <c:spPr>
            <a:ln w="28575" cap="rnd">
              <a:solidFill>
                <a:schemeClr val="tx1">
                  <a:lumMod val="95000"/>
                  <a:lumOff val="5000"/>
                  <a:alpha val="17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elete val="1"/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Planilha1!$F$2:$F$17</c:f>
              <c:numCache>
                <c:formatCode>0%</c:formatCode>
                <c:ptCount val="16"/>
                <c:pt idx="0">
                  <c:v>0.53796095444685466</c:v>
                </c:pt>
                <c:pt idx="1">
                  <c:v>0.56856856856856852</c:v>
                </c:pt>
                <c:pt idx="2">
                  <c:v>0.57294994675186373</c:v>
                </c:pt>
                <c:pt idx="3">
                  <c:v>0.57775255391600455</c:v>
                </c:pt>
                <c:pt idx="4">
                  <c:v>0.60152008686210645</c:v>
                </c:pt>
                <c:pt idx="5">
                  <c:v>0.55519125683060111</c:v>
                </c:pt>
                <c:pt idx="6">
                  <c:v>0.58665231431646936</c:v>
                </c:pt>
                <c:pt idx="7">
                  <c:v>0.55482661668228683</c:v>
                </c:pt>
                <c:pt idx="8">
                  <c:v>0.57510288065843618</c:v>
                </c:pt>
                <c:pt idx="9">
                  <c:v>0.59712230215827333</c:v>
                </c:pt>
                <c:pt idx="10">
                  <c:v>0.59926470588235292</c:v>
                </c:pt>
                <c:pt idx="11">
                  <c:v>0.57129714811407539</c:v>
                </c:pt>
                <c:pt idx="12">
                  <c:v>0.5683257918552036</c:v>
                </c:pt>
                <c:pt idx="13">
                  <c:v>0.57342657342657344</c:v>
                </c:pt>
                <c:pt idx="14">
                  <c:v>0.56531703590527116</c:v>
                </c:pt>
                <c:pt idx="15">
                  <c:v>0.51654215581643548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2C-44EB-AFAB-888548323322}"/>
            </c:ext>
          </c:extLst>
        </c:ser>
        <c:ser>
          <c:idx val="2"/>
          <c:order val="2"/>
          <c:tx>
            <c:strRef>
              <c:f>Planilha1!$G$1</c:f>
              <c:strCache>
                <c:ptCount val="1"/>
                <c:pt idx="0">
                  <c:v>6 - Geração Z</c:v>
                </c:pt>
              </c:strCache>
            </c:strRef>
          </c:tx>
          <c:spPr>
            <a:ln w="28575" cap="rnd">
              <a:solidFill>
                <a:schemeClr val="accent2">
                  <a:lumMod val="50000"/>
                  <a:alpha val="1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elete val="1"/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Planilha1!$G$2:$G$17</c:f>
              <c:numCache>
                <c:formatCode>0%</c:formatCode>
                <c:ptCount val="16"/>
                <c:pt idx="0">
                  <c:v>0.56086956521739129</c:v>
                </c:pt>
                <c:pt idx="1">
                  <c:v>0.58682008368200833</c:v>
                </c:pt>
                <c:pt idx="2">
                  <c:v>0.59179019384264542</c:v>
                </c:pt>
                <c:pt idx="3">
                  <c:v>0.54411764705882348</c:v>
                </c:pt>
                <c:pt idx="4">
                  <c:v>0.54719101123595504</c:v>
                </c:pt>
                <c:pt idx="5">
                  <c:v>0.56537102473498235</c:v>
                </c:pt>
                <c:pt idx="6">
                  <c:v>0.55305466237942125</c:v>
                </c:pt>
                <c:pt idx="7">
                  <c:v>0.5647619047619048</c:v>
                </c:pt>
                <c:pt idx="8">
                  <c:v>0.55904761904761902</c:v>
                </c:pt>
                <c:pt idx="9">
                  <c:v>0.57853982300884954</c:v>
                </c:pt>
                <c:pt idx="10">
                  <c:v>0.60056925996204935</c:v>
                </c:pt>
                <c:pt idx="11">
                  <c:v>0.60206961429915329</c:v>
                </c:pt>
                <c:pt idx="12">
                  <c:v>0.56929824561403508</c:v>
                </c:pt>
                <c:pt idx="13">
                  <c:v>0.55076370170709799</c:v>
                </c:pt>
                <c:pt idx="14">
                  <c:v>0.58599221789883271</c:v>
                </c:pt>
                <c:pt idx="15">
                  <c:v>0.54759238521836506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2C-44EB-AFAB-888548323322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4 - Geração X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1"/>
              <c:layout>
                <c:manualLayout>
                  <c:x val="-3.0797683159664701E-2"/>
                  <c:y val="2.531766600511085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02C-44EB-AFAB-888548323322}"/>
                </c:ext>
              </c:extLst>
            </c:dLbl>
            <c:dLbl>
              <c:idx val="2"/>
              <c:layout>
                <c:manualLayout>
                  <c:x val="-3.0797683159664687E-2"/>
                  <c:y val="2.00948577134298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02C-44EB-AFAB-888548323322}"/>
                </c:ext>
              </c:extLst>
            </c:dLbl>
            <c:dLbl>
              <c:idx val="4"/>
              <c:layout>
                <c:manualLayout>
                  <c:x val="-3.0797683159664746E-2"/>
                  <c:y val="3.315187844263259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02C-44EB-AFAB-888548323322}"/>
                </c:ext>
              </c:extLst>
            </c:dLbl>
            <c:dLbl>
              <c:idx val="6"/>
              <c:layout>
                <c:manualLayout>
                  <c:x val="-3.0797683159664687E-2"/>
                  <c:y val="2.5317666005110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02C-44EB-AFAB-888548323322}"/>
                </c:ext>
              </c:extLst>
            </c:dLbl>
            <c:dLbl>
              <c:idx val="15"/>
              <c:layout>
                <c:manualLayout>
                  <c:x val="-7.4318554606686042E-3"/>
                  <c:y val="3.0540474296791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02C-44EB-AFAB-888548323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Planilha1!$E$2:$E$17</c:f>
              <c:numCache>
                <c:formatCode>0%</c:formatCode>
                <c:ptCount val="16"/>
                <c:pt idx="0">
                  <c:v>0.47267759562841533</c:v>
                </c:pt>
                <c:pt idx="1">
                  <c:v>0.46714456391875747</c:v>
                </c:pt>
                <c:pt idx="2">
                  <c:v>0.44754464285714285</c:v>
                </c:pt>
                <c:pt idx="3">
                  <c:v>0.48585485854858551</c:v>
                </c:pt>
                <c:pt idx="4">
                  <c:v>0.49655963302752293</c:v>
                </c:pt>
                <c:pt idx="5">
                  <c:v>0.47966507177033491</c:v>
                </c:pt>
                <c:pt idx="6">
                  <c:v>0.48791714614499426</c:v>
                </c:pt>
                <c:pt idx="7">
                  <c:v>0.49581589958158995</c:v>
                </c:pt>
                <c:pt idx="8">
                  <c:v>0.48959474260679081</c:v>
                </c:pt>
                <c:pt idx="9">
                  <c:v>0.46746347941567062</c:v>
                </c:pt>
                <c:pt idx="10">
                  <c:v>0.48360655737704916</c:v>
                </c:pt>
                <c:pt idx="11">
                  <c:v>0.49263984298331698</c:v>
                </c:pt>
                <c:pt idx="12">
                  <c:v>0.48222862632084534</c:v>
                </c:pt>
                <c:pt idx="13">
                  <c:v>0.48022598870056499</c:v>
                </c:pt>
                <c:pt idx="14">
                  <c:v>0.45945945945945948</c:v>
                </c:pt>
                <c:pt idx="15">
                  <c:v>0.37265711135611906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02C-44EB-AFAB-888548323322}"/>
            </c:ext>
          </c:extLst>
        </c:ser>
        <c:ser>
          <c:idx val="4"/>
          <c:order val="4"/>
          <c:tx>
            <c:strRef>
              <c:f>Planilha1!$H$1</c:f>
              <c:strCache>
                <c:ptCount val="1"/>
                <c:pt idx="0">
                  <c:v>7 - Alfa</c:v>
                </c:pt>
              </c:strCache>
            </c:strRef>
          </c:tx>
          <c:spPr>
            <a:ln w="28575" cap="rnd">
              <a:solidFill>
                <a:schemeClr val="accent6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1"/>
              <c:layout>
                <c:manualLayout>
                  <c:x val="-3.0797683159664701E-2"/>
                  <c:y val="-2.53174603827373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02C-44EB-AFAB-888548323322}"/>
                </c:ext>
              </c:extLst>
            </c:dLbl>
            <c:dLbl>
              <c:idx val="2"/>
              <c:layout>
                <c:manualLayout>
                  <c:x val="-3.0797683159664687E-2"/>
                  <c:y val="-4.09858852577805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02C-44EB-AFAB-888548323322}"/>
                </c:ext>
              </c:extLst>
            </c:dLbl>
            <c:dLbl>
              <c:idx val="4"/>
              <c:layout>
                <c:manualLayout>
                  <c:x val="-3.0797683159664746E-2"/>
                  <c:y val="-4.09858852577805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02C-44EB-AFAB-888548323322}"/>
                </c:ext>
              </c:extLst>
            </c:dLbl>
            <c:dLbl>
              <c:idx val="6"/>
              <c:layout>
                <c:manualLayout>
                  <c:x val="-3.0797683159664687E-2"/>
                  <c:y val="-2.79288645285779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02C-44EB-AFAB-888548323322}"/>
                </c:ext>
              </c:extLst>
            </c:dLbl>
            <c:dLbl>
              <c:idx val="15"/>
              <c:layout>
                <c:manualLayout>
                  <c:x val="-7.4318554606686042E-3"/>
                  <c:y val="-4.62086935494616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02C-44EB-AFAB-888548323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Planilha1!$H$2:$H$17</c:f>
              <c:numCache>
                <c:formatCode>0%</c:formatCode>
                <c:ptCount val="16"/>
                <c:pt idx="0">
                  <c:v>0.37610619469026546</c:v>
                </c:pt>
                <c:pt idx="1">
                  <c:v>0.49152542372881358</c:v>
                </c:pt>
                <c:pt idx="2">
                  <c:v>0.4621212121212121</c:v>
                </c:pt>
                <c:pt idx="3">
                  <c:v>0.47883597883597884</c:v>
                </c:pt>
                <c:pt idx="4">
                  <c:v>0.52709359605911332</c:v>
                </c:pt>
                <c:pt idx="5">
                  <c:v>0.48532731376975169</c:v>
                </c:pt>
                <c:pt idx="6">
                  <c:v>0.50871080139372826</c:v>
                </c:pt>
                <c:pt idx="7">
                  <c:v>0.48034398034398035</c:v>
                </c:pt>
                <c:pt idx="8">
                  <c:v>0.47163120567375888</c:v>
                </c:pt>
                <c:pt idx="9">
                  <c:v>0.4474053295932679</c:v>
                </c:pt>
                <c:pt idx="10">
                  <c:v>0.44530244530244528</c:v>
                </c:pt>
                <c:pt idx="11">
                  <c:v>0.47258225324027914</c:v>
                </c:pt>
                <c:pt idx="12">
                  <c:v>0.48129675810473815</c:v>
                </c:pt>
                <c:pt idx="13">
                  <c:v>0.47072784810126583</c:v>
                </c:pt>
                <c:pt idx="14">
                  <c:v>0.45639097744360901</c:v>
                </c:pt>
                <c:pt idx="15">
                  <c:v>0.41841004184100417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02C-44EB-AFAB-888548323322}"/>
            </c:ext>
          </c:extLst>
        </c:ser>
        <c:ser>
          <c:idx val="5"/>
          <c:order val="5"/>
          <c:tx>
            <c:strRef>
              <c:f>Planilha1!$C$1</c:f>
              <c:strCache>
                <c:ptCount val="1"/>
                <c:pt idx="0">
                  <c:v>2 - Silenciosa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  <a:alpha val="38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elete val="1"/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0%</c:formatCode>
                <c:ptCount val="16"/>
                <c:pt idx="0">
                  <c:v>0.40740740740740738</c:v>
                </c:pt>
                <c:pt idx="1">
                  <c:v>0.3968253968253968</c:v>
                </c:pt>
                <c:pt idx="2">
                  <c:v>0.36054421768707484</c:v>
                </c:pt>
                <c:pt idx="3">
                  <c:v>0.3984375</c:v>
                </c:pt>
                <c:pt idx="4">
                  <c:v>0.42307692307692307</c:v>
                </c:pt>
                <c:pt idx="5">
                  <c:v>0.4375</c:v>
                </c:pt>
                <c:pt idx="6">
                  <c:v>0.45161290322580644</c:v>
                </c:pt>
                <c:pt idx="7">
                  <c:v>0.43089430894308944</c:v>
                </c:pt>
                <c:pt idx="8">
                  <c:v>0.35877862595419846</c:v>
                </c:pt>
                <c:pt idx="9">
                  <c:v>0.44</c:v>
                </c:pt>
                <c:pt idx="10">
                  <c:v>0.47727272727272729</c:v>
                </c:pt>
                <c:pt idx="11">
                  <c:v>0.44029850746268656</c:v>
                </c:pt>
                <c:pt idx="12">
                  <c:v>0.33035714285714285</c:v>
                </c:pt>
                <c:pt idx="13">
                  <c:v>0.3380281690140845</c:v>
                </c:pt>
                <c:pt idx="14">
                  <c:v>0.42975206611570249</c:v>
                </c:pt>
                <c:pt idx="15">
                  <c:v>0.3359375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02C-44EB-AFAB-888548323322}"/>
            </c:ext>
          </c:extLst>
        </c:ser>
        <c:ser>
          <c:idx val="6"/>
          <c:order val="6"/>
          <c:tx>
            <c:strRef>
              <c:f>Planilha1!$D$1</c:f>
              <c:strCache>
                <c:ptCount val="1"/>
                <c:pt idx="0">
                  <c:v>3 - Baby boomers</c:v>
                </c:pt>
              </c:strCache>
            </c:strRef>
          </c:tx>
          <c:spPr>
            <a:ln w="28575" cap="rnd">
              <a:solidFill>
                <a:schemeClr val="tx2">
                  <a:lumMod val="60000"/>
                  <a:lumOff val="40000"/>
                  <a:alpha val="32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elete val="1"/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0%</c:formatCode>
                <c:ptCount val="16"/>
                <c:pt idx="0">
                  <c:v>0.42857142857142855</c:v>
                </c:pt>
                <c:pt idx="1">
                  <c:v>0.38147566718995291</c:v>
                </c:pt>
                <c:pt idx="2">
                  <c:v>0.35851648351648352</c:v>
                </c:pt>
                <c:pt idx="3">
                  <c:v>0.39434276206322794</c:v>
                </c:pt>
                <c:pt idx="4">
                  <c:v>0.39783281733746129</c:v>
                </c:pt>
                <c:pt idx="5">
                  <c:v>0.38738738738738737</c:v>
                </c:pt>
                <c:pt idx="6">
                  <c:v>0.39835164835164832</c:v>
                </c:pt>
                <c:pt idx="7">
                  <c:v>0.36278447121820617</c:v>
                </c:pt>
                <c:pt idx="8">
                  <c:v>0.37604456824512533</c:v>
                </c:pt>
                <c:pt idx="9">
                  <c:v>0.37719298245614036</c:v>
                </c:pt>
                <c:pt idx="10">
                  <c:v>0.39466666666666667</c:v>
                </c:pt>
                <c:pt idx="11">
                  <c:v>0.39583333333333331</c:v>
                </c:pt>
                <c:pt idx="12">
                  <c:v>0.38778054862842892</c:v>
                </c:pt>
                <c:pt idx="13">
                  <c:v>0.40943877551020408</c:v>
                </c:pt>
                <c:pt idx="14">
                  <c:v>0.38452380952380955</c:v>
                </c:pt>
                <c:pt idx="15">
                  <c:v>0.31746031746031744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02C-44EB-AFAB-88854832332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76726752"/>
        <c:axId val="776721760"/>
      </c:lineChart>
      <c:catAx>
        <c:axId val="77672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1760"/>
        <c:crosses val="autoZero"/>
        <c:auto val="1"/>
        <c:lblAlgn val="ctr"/>
        <c:lblOffset val="100"/>
        <c:noMultiLvlLbl val="0"/>
      </c:catAx>
      <c:valAx>
        <c:axId val="776721760"/>
        <c:scaling>
          <c:orientation val="minMax"/>
          <c:min val="0.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8154687251651048E-2"/>
          <c:y val="0.84564606961057598"/>
          <c:w val="0.86947874498811351"/>
          <c:h val="0.1543538461270178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>
          <a:lumMod val="95000"/>
          <a:lumOff val="5000"/>
        </a:schemeClr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496529322021496E-2"/>
          <c:y val="2.3431671434628824E-2"/>
          <c:w val="0.66851609132517309"/>
          <c:h val="0.8203476810528519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2 - Silenciosa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CIRURGIA GERAL</c:v>
                </c:pt>
                <c:pt idx="1">
                  <c:v>CLINICA MEDICA</c:v>
                </c:pt>
                <c:pt idx="2">
                  <c:v>PEDIATRIA</c:v>
                </c:pt>
                <c:pt idx="3">
                  <c:v>SEM ESPECIALIDADE</c:v>
                </c:pt>
              </c:strCache>
            </c:strRef>
          </c:cat>
          <c:val>
            <c:numRef>
              <c:f>Planilha1!$B$2:$B$5</c:f>
              <c:numCache>
                <c:formatCode>0%</c:formatCode>
                <c:ptCount val="4"/>
                <c:pt idx="0">
                  <c:v>1.6177017478616586E-2</c:v>
                </c:pt>
                <c:pt idx="1">
                  <c:v>3.2912386311588042E-2</c:v>
                </c:pt>
                <c:pt idx="2">
                  <c:v>5.7458055619397834E-4</c:v>
                </c:pt>
                <c:pt idx="3">
                  <c:v>2.7563310685608401E-2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C9-45AB-9CFE-46A3E0610681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3 - Baby boomers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CIRURGIA GERAL</c:v>
                </c:pt>
                <c:pt idx="1">
                  <c:v>CLINICA MEDICA</c:v>
                </c:pt>
                <c:pt idx="2">
                  <c:v>PEDIATRIA</c:v>
                </c:pt>
                <c:pt idx="3">
                  <c:v>SEM ESPECIALIDADE</c:v>
                </c:pt>
              </c:strCache>
            </c:strRef>
          </c:cat>
          <c:val>
            <c:numRef>
              <c:f>Planilha1!$C$2:$C$5</c:f>
              <c:numCache>
                <c:formatCode>0%</c:formatCode>
                <c:ptCount val="4"/>
                <c:pt idx="0">
                  <c:v>9.8177761249535145E-2</c:v>
                </c:pt>
                <c:pt idx="1">
                  <c:v>0.16227180527383367</c:v>
                </c:pt>
                <c:pt idx="2">
                  <c:v>3.7922316708802572E-3</c:v>
                </c:pt>
                <c:pt idx="3">
                  <c:v>0.13032736256948735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C9-45AB-9CFE-46A3E0610681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4 - Geração X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CIRURGIA GERAL</c:v>
                </c:pt>
                <c:pt idx="1">
                  <c:v>CLINICA MEDICA</c:v>
                </c:pt>
                <c:pt idx="2">
                  <c:v>PEDIATRIA</c:v>
                </c:pt>
                <c:pt idx="3">
                  <c:v>SEM ESPECIALIDADE</c:v>
                </c:pt>
              </c:strCache>
            </c:strRef>
          </c:cat>
          <c:val>
            <c:numRef>
              <c:f>Planilha1!$D$2:$D$5</c:f>
              <c:numCache>
                <c:formatCode>0%</c:formatCode>
                <c:ptCount val="4"/>
                <c:pt idx="0">
                  <c:v>0.18445518780215694</c:v>
                </c:pt>
                <c:pt idx="1">
                  <c:v>0.22410521494470981</c:v>
                </c:pt>
                <c:pt idx="2">
                  <c:v>9.8827855665364287E-3</c:v>
                </c:pt>
                <c:pt idx="3">
                  <c:v>0.19124459542927733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C9-45AB-9CFE-46A3E0610681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5 - Millennials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CIRURGIA GERAL</c:v>
                </c:pt>
                <c:pt idx="1">
                  <c:v>CLINICA MEDICA</c:v>
                </c:pt>
                <c:pt idx="2">
                  <c:v>PEDIATRIA</c:v>
                </c:pt>
                <c:pt idx="3">
                  <c:v>SEM ESPECIALIDADE</c:v>
                </c:pt>
              </c:strCache>
            </c:strRef>
          </c:cat>
          <c:val>
            <c:numRef>
              <c:f>Planilha1!$E$2:$E$5</c:f>
              <c:numCache>
                <c:formatCode>0%</c:formatCode>
                <c:ptCount val="4"/>
                <c:pt idx="0">
                  <c:v>0.29788025288211228</c:v>
                </c:pt>
                <c:pt idx="1">
                  <c:v>0.25812994830857816</c:v>
                </c:pt>
                <c:pt idx="2">
                  <c:v>1.3904849459894278E-2</c:v>
                </c:pt>
                <c:pt idx="3">
                  <c:v>0.25718035824583074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C9-45AB-9CFE-46A3E0610681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6 - Geração Z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CIRURGIA GERAL</c:v>
                </c:pt>
                <c:pt idx="1">
                  <c:v>CLINICA MEDICA</c:v>
                </c:pt>
                <c:pt idx="2">
                  <c:v>PEDIATRIA</c:v>
                </c:pt>
                <c:pt idx="3">
                  <c:v>SEM ESPECIALIDADE</c:v>
                </c:pt>
              </c:strCache>
            </c:strRef>
          </c:cat>
          <c:val>
            <c:numRef>
              <c:f>Planilha1!$F$2:$F$5</c:f>
              <c:numCache>
                <c:formatCode>0%</c:formatCode>
                <c:ptCount val="4"/>
                <c:pt idx="0">
                  <c:v>0.37281517292673855</c:v>
                </c:pt>
                <c:pt idx="1">
                  <c:v>0.26872996139501409</c:v>
                </c:pt>
                <c:pt idx="2">
                  <c:v>3.7002987818892212E-2</c:v>
                </c:pt>
                <c:pt idx="3">
                  <c:v>0.28937615812229772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0C9-45AB-9CFE-46A3E0610681}"/>
            </c:ext>
          </c:extLst>
        </c:ser>
        <c:ser>
          <c:idx val="5"/>
          <c:order val="5"/>
          <c:tx>
            <c:strRef>
              <c:f>Planilha1!$G$1</c:f>
              <c:strCache>
                <c:ptCount val="1"/>
                <c:pt idx="0">
                  <c:v>7 - Alfa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0C9-45AB-9CFE-46A3E06106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CIRURGIA GERAL</c:v>
                </c:pt>
                <c:pt idx="1">
                  <c:v>CLINICA MEDICA</c:v>
                </c:pt>
                <c:pt idx="2">
                  <c:v>PEDIATRIA</c:v>
                </c:pt>
                <c:pt idx="3">
                  <c:v>SEM ESPECIALIDADE</c:v>
                </c:pt>
              </c:strCache>
            </c:strRef>
          </c:cat>
          <c:val>
            <c:numRef>
              <c:f>Planilha1!$G$2:$G$5</c:f>
              <c:numCache>
                <c:formatCode>0%</c:formatCode>
                <c:ptCount val="4"/>
                <c:pt idx="0">
                  <c:v>2.2870955745630347E-2</c:v>
                </c:pt>
                <c:pt idx="1">
                  <c:v>4.7700058888961588E-2</c:v>
                </c:pt>
                <c:pt idx="2">
                  <c:v>0.92760284991955877</c:v>
                </c:pt>
                <c:pt idx="3">
                  <c:v>7.4814700432365655E-2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C9-45AB-9CFE-46A3E0610681}"/>
            </c:ext>
          </c:extLst>
        </c:ser>
        <c:ser>
          <c:idx val="6"/>
          <c:order val="6"/>
          <c:tx>
            <c:strRef>
              <c:f>Planilha1!$H$1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CIRURGIA GERAL</c:v>
                </c:pt>
                <c:pt idx="1">
                  <c:v>CLINICA MEDICA</c:v>
                </c:pt>
                <c:pt idx="2">
                  <c:v>PEDIATRIA</c:v>
                </c:pt>
                <c:pt idx="3">
                  <c:v>SEM ESPECIALIDADE</c:v>
                </c:pt>
              </c:strCache>
            </c:strRef>
          </c:cat>
          <c:val>
            <c:numRef>
              <c:f>Planilha1!$H$2:$H$5</c:f>
              <c:numCache>
                <c:formatCode>0%</c:formatCode>
                <c:ptCount val="4"/>
                <c:pt idx="0">
                  <c:v>7.6236519152101155E-3</c:v>
                </c:pt>
                <c:pt idx="1">
                  <c:v>6.1506248773146631E-3</c:v>
                </c:pt>
                <c:pt idx="2">
                  <c:v>7.2397150080441277E-3</c:v>
                </c:pt>
                <c:pt idx="3">
                  <c:v>2.9493514515132799E-2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0C9-45AB-9CFE-46A3E06106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787347280"/>
        <c:axId val="787348944"/>
      </c:barChart>
      <c:catAx>
        <c:axId val="787347280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787348944"/>
        <c:crosses val="autoZero"/>
        <c:auto val="1"/>
        <c:lblAlgn val="ctr"/>
        <c:lblOffset val="100"/>
        <c:noMultiLvlLbl val="0"/>
      </c:catAx>
      <c:valAx>
        <c:axId val="787348944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78734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342572649270859"/>
          <c:y val="0.97570184313493946"/>
          <c:w val="0.74708294672152331"/>
          <c:h val="2.42981568650604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448833355024092E-2"/>
          <c:y val="0.12678662669596574"/>
          <c:w val="0.95098604189833835"/>
          <c:h val="0.80527086866645703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CIRURGIA GERAL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0.66013071895424835</c:v>
                </c:pt>
                <c:pt idx="1">
                  <c:v>0.7420382165605095</c:v>
                </c:pt>
                <c:pt idx="2">
                  <c:v>0.72508591065292094</c:v>
                </c:pt>
                <c:pt idx="3">
                  <c:v>0.70408163265306123</c:v>
                </c:pt>
                <c:pt idx="4">
                  <c:v>0.72499999999999998</c:v>
                </c:pt>
                <c:pt idx="5">
                  <c:v>0.73270440251572322</c:v>
                </c:pt>
                <c:pt idx="6">
                  <c:v>0.68300653594771243</c:v>
                </c:pt>
                <c:pt idx="7">
                  <c:v>0.71257485029940115</c:v>
                </c:pt>
                <c:pt idx="8">
                  <c:v>0.71913580246913578</c:v>
                </c:pt>
                <c:pt idx="9">
                  <c:v>0.75966850828729282</c:v>
                </c:pt>
                <c:pt idx="10">
                  <c:v>0.76063829787234039</c:v>
                </c:pt>
                <c:pt idx="11">
                  <c:v>0.71827411167512689</c:v>
                </c:pt>
                <c:pt idx="12">
                  <c:v>0.72616136919315399</c:v>
                </c:pt>
                <c:pt idx="13">
                  <c:v>0.67091836734693877</c:v>
                </c:pt>
                <c:pt idx="14">
                  <c:v>0.71862348178137647</c:v>
                </c:pt>
                <c:pt idx="15">
                  <c:v>0.68896321070234112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DF-45F4-8DA7-2F7042C3013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CLINICA MEDICA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0%</c:formatCode>
                <c:ptCount val="16"/>
                <c:pt idx="0">
                  <c:v>0.390625</c:v>
                </c:pt>
                <c:pt idx="1">
                  <c:v>0.42780172413793105</c:v>
                </c:pt>
                <c:pt idx="2">
                  <c:v>0.42020665901262916</c:v>
                </c:pt>
                <c:pt idx="3">
                  <c:v>0.43160377358490565</c:v>
                </c:pt>
                <c:pt idx="4">
                  <c:v>0.4460431654676259</c:v>
                </c:pt>
                <c:pt idx="5">
                  <c:v>0.44370860927152317</c:v>
                </c:pt>
                <c:pt idx="6">
                  <c:v>0.40811724915445319</c:v>
                </c:pt>
                <c:pt idx="7">
                  <c:v>0.4609375</c:v>
                </c:pt>
                <c:pt idx="8">
                  <c:v>0.43767840152235965</c:v>
                </c:pt>
                <c:pt idx="9">
                  <c:v>0.42217484008528783</c:v>
                </c:pt>
                <c:pt idx="10">
                  <c:v>0.45548266166822871</c:v>
                </c:pt>
                <c:pt idx="11">
                  <c:v>0.44123314065510599</c:v>
                </c:pt>
                <c:pt idx="12">
                  <c:v>0.43248014121800532</c:v>
                </c:pt>
                <c:pt idx="13">
                  <c:v>0.44022617124394187</c:v>
                </c:pt>
                <c:pt idx="14">
                  <c:v>0.43432835820895521</c:v>
                </c:pt>
                <c:pt idx="15">
                  <c:v>0.3835946924004825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DF-45F4-8DA7-2F7042C30138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PEDIATRIA</c:v>
                </c:pt>
              </c:strCache>
            </c:strRef>
          </c:tx>
          <c:spPr>
            <a:ln w="28575" cap="rnd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2">
                  <a:lumMod val="50000"/>
                </a:schemeClr>
              </a:solidFill>
              <a:ln w="952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Lbls>
            <c:dLbl>
              <c:idx val="5"/>
              <c:layout>
                <c:manualLayout>
                  <c:x val="-3.4854338735013174E-2"/>
                  <c:y val="3.76256364545718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DF-45F4-8DA7-2F7042C301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0%</c:formatCode>
                <c:ptCount val="16"/>
                <c:pt idx="0">
                  <c:v>0.42944785276073622</c:v>
                </c:pt>
                <c:pt idx="1">
                  <c:v>0.51194539249146753</c:v>
                </c:pt>
                <c:pt idx="2">
                  <c:v>0.50501672240802675</c:v>
                </c:pt>
                <c:pt idx="3">
                  <c:v>0.49070631970260226</c:v>
                </c:pt>
                <c:pt idx="4">
                  <c:v>0.5374149659863946</c:v>
                </c:pt>
                <c:pt idx="5">
                  <c:v>0.53271028037383172</c:v>
                </c:pt>
                <c:pt idx="6">
                  <c:v>0.52714932126696834</c:v>
                </c:pt>
                <c:pt idx="7">
                  <c:v>0.5017301038062284</c:v>
                </c:pt>
                <c:pt idx="8">
                  <c:v>0.49331103678929766</c:v>
                </c:pt>
                <c:pt idx="9">
                  <c:v>0.46931407942238268</c:v>
                </c:pt>
                <c:pt idx="10">
                  <c:v>0.45155709342560552</c:v>
                </c:pt>
                <c:pt idx="11">
                  <c:v>0.45241199478487615</c:v>
                </c:pt>
                <c:pt idx="12">
                  <c:v>0.4799107142857143</c:v>
                </c:pt>
                <c:pt idx="13">
                  <c:v>0.47193347193347196</c:v>
                </c:pt>
                <c:pt idx="14">
                  <c:v>0.45255474452554745</c:v>
                </c:pt>
                <c:pt idx="15">
                  <c:v>0.41975308641975306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DF-45F4-8DA7-2F7042C30138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SEM ESPECIALIDADE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Planilha1!$E$2:$E$17</c:f>
              <c:numCache>
                <c:formatCode>0%</c:formatCode>
                <c:ptCount val="16"/>
                <c:pt idx="0">
                  <c:v>0.56937799043062198</c:v>
                </c:pt>
                <c:pt idx="1">
                  <c:v>0.59462759462759462</c:v>
                </c:pt>
                <c:pt idx="2">
                  <c:v>0.59594594594594597</c:v>
                </c:pt>
                <c:pt idx="3">
                  <c:v>0.57410296411856476</c:v>
                </c:pt>
                <c:pt idx="4">
                  <c:v>0.6024423337856174</c:v>
                </c:pt>
                <c:pt idx="5">
                  <c:v>0.54693877551020409</c:v>
                </c:pt>
                <c:pt idx="6">
                  <c:v>0.58176943699731909</c:v>
                </c:pt>
                <c:pt idx="7">
                  <c:v>0.55892255892255893</c:v>
                </c:pt>
                <c:pt idx="8">
                  <c:v>0.58510638297872342</c:v>
                </c:pt>
                <c:pt idx="9">
                  <c:v>0.56927297668038412</c:v>
                </c:pt>
                <c:pt idx="10">
                  <c:v>0.5934314835787089</c:v>
                </c:pt>
                <c:pt idx="11">
                  <c:v>0.61915125136017413</c:v>
                </c:pt>
                <c:pt idx="12">
                  <c:v>0.58723404255319145</c:v>
                </c:pt>
                <c:pt idx="13">
                  <c:v>0.58307210031347967</c:v>
                </c:pt>
                <c:pt idx="14">
                  <c:v>0.5765845070422535</c:v>
                </c:pt>
                <c:pt idx="15">
                  <c:v>0.55231143552311435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EDF-45F4-8DA7-2F7042C30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6726752"/>
        <c:axId val="776721760"/>
      </c:lineChart>
      <c:catAx>
        <c:axId val="77672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6721760"/>
        <c:crosses val="autoZero"/>
        <c:auto val="1"/>
        <c:lblAlgn val="ctr"/>
        <c:lblOffset val="100"/>
        <c:noMultiLvlLbl val="0"/>
      </c:catAx>
      <c:valAx>
        <c:axId val="776721760"/>
        <c:scaling>
          <c:orientation val="minMax"/>
          <c:min val="0.30000000000000004"/>
        </c:scaling>
        <c:delete val="1"/>
        <c:axPos val="l"/>
        <c:numFmt formatCode="0%" sourceLinked="1"/>
        <c:majorTickMark val="out"/>
        <c:minorTickMark val="none"/>
        <c:tickLblPos val="nextTo"/>
        <c:crossAx val="77672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0772132623490858"/>
          <c:y val="0.84526291106900753"/>
          <c:w val="0.57521685262851863"/>
          <c:h val="6.8759246753648445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800" b="1">
                <a:solidFill>
                  <a:schemeClr val="tx1"/>
                </a:solidFill>
              </a:rPr>
              <a:t>Top 3 Prescrições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Aerolin Spray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rgbClr val="4673C5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61</c:v>
                </c:pt>
                <c:pt idx="1">
                  <c:v>121</c:v>
                </c:pt>
                <c:pt idx="2">
                  <c:v>123</c:v>
                </c:pt>
                <c:pt idx="3">
                  <c:v>112</c:v>
                </c:pt>
                <c:pt idx="4">
                  <c:v>110</c:v>
                </c:pt>
                <c:pt idx="5">
                  <c:v>130</c:v>
                </c:pt>
                <c:pt idx="6">
                  <c:v>211</c:v>
                </c:pt>
                <c:pt idx="7">
                  <c:v>264</c:v>
                </c:pt>
                <c:pt idx="8">
                  <c:v>229</c:v>
                </c:pt>
                <c:pt idx="9">
                  <c:v>240</c:v>
                </c:pt>
                <c:pt idx="10">
                  <c:v>246</c:v>
                </c:pt>
                <c:pt idx="11">
                  <c:v>334</c:v>
                </c:pt>
                <c:pt idx="12">
                  <c:v>399</c:v>
                </c:pt>
                <c:pt idx="13">
                  <c:v>423</c:v>
                </c:pt>
                <c:pt idx="14">
                  <c:v>418</c:v>
                </c:pt>
                <c:pt idx="15">
                  <c:v>324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A4-4533-B5DC-F585B4A4E90A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Sulfato de Salbutamol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rgbClr val="A5A5A5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#,##0</c:formatCode>
                <c:ptCount val="16"/>
                <c:pt idx="0">
                  <c:v>46</c:v>
                </c:pt>
                <c:pt idx="1">
                  <c:v>62</c:v>
                </c:pt>
                <c:pt idx="2">
                  <c:v>73</c:v>
                </c:pt>
                <c:pt idx="3">
                  <c:v>61</c:v>
                </c:pt>
                <c:pt idx="4">
                  <c:v>82</c:v>
                </c:pt>
                <c:pt idx="5">
                  <c:v>75</c:v>
                </c:pt>
                <c:pt idx="6">
                  <c:v>94</c:v>
                </c:pt>
                <c:pt idx="7">
                  <c:v>178</c:v>
                </c:pt>
                <c:pt idx="8">
                  <c:v>182</c:v>
                </c:pt>
                <c:pt idx="9">
                  <c:v>162</c:v>
                </c:pt>
                <c:pt idx="10">
                  <c:v>158</c:v>
                </c:pt>
                <c:pt idx="11">
                  <c:v>231</c:v>
                </c:pt>
                <c:pt idx="12">
                  <c:v>300</c:v>
                </c:pt>
                <c:pt idx="13">
                  <c:v>302</c:v>
                </c:pt>
                <c:pt idx="14">
                  <c:v>316</c:v>
                </c:pt>
                <c:pt idx="15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A4-4533-B5DC-F585B4A4E90A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Avamys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rgbClr val="5F9DD6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#,##0</c:formatCode>
                <c:ptCount val="16"/>
                <c:pt idx="0">
                  <c:v>10</c:v>
                </c:pt>
                <c:pt idx="1">
                  <c:v>54</c:v>
                </c:pt>
                <c:pt idx="2">
                  <c:v>50</c:v>
                </c:pt>
                <c:pt idx="3">
                  <c:v>52</c:v>
                </c:pt>
                <c:pt idx="4">
                  <c:v>43</c:v>
                </c:pt>
                <c:pt idx="5">
                  <c:v>48</c:v>
                </c:pt>
                <c:pt idx="6">
                  <c:v>49</c:v>
                </c:pt>
                <c:pt idx="7">
                  <c:v>76</c:v>
                </c:pt>
                <c:pt idx="8">
                  <c:v>76</c:v>
                </c:pt>
                <c:pt idx="9">
                  <c:v>62</c:v>
                </c:pt>
                <c:pt idx="10">
                  <c:v>98</c:v>
                </c:pt>
                <c:pt idx="11">
                  <c:v>92</c:v>
                </c:pt>
                <c:pt idx="12">
                  <c:v>105</c:v>
                </c:pt>
                <c:pt idx="13">
                  <c:v>138</c:v>
                </c:pt>
                <c:pt idx="14">
                  <c:v>120</c:v>
                </c:pt>
                <c:pt idx="15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A4-4533-B5DC-F585B4A4E90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18200144"/>
        <c:axId val="418212208"/>
      </c:lineChart>
      <c:catAx>
        <c:axId val="41820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8212208"/>
        <c:crosses val="autoZero"/>
        <c:auto val="1"/>
        <c:lblAlgn val="ctr"/>
        <c:lblOffset val="100"/>
        <c:noMultiLvlLbl val="0"/>
      </c:catAx>
      <c:valAx>
        <c:axId val="41821220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1820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19050">
      <a:solidFill>
        <a:srgbClr val="3C0E6B"/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sz="700"/>
      </a:pPr>
      <a:endParaRPr lang="pt-B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800" b="1" dirty="0">
                <a:solidFill>
                  <a:schemeClr val="tx1"/>
                </a:solidFill>
              </a:rPr>
              <a:t>% Abertura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Aerolin Spray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rgbClr val="3B64AD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0.44262295081967212</c:v>
                </c:pt>
                <c:pt idx="1">
                  <c:v>0.57851239669421484</c:v>
                </c:pt>
                <c:pt idx="2">
                  <c:v>0.54471544715447151</c:v>
                </c:pt>
                <c:pt idx="3">
                  <c:v>0.4732142857142857</c:v>
                </c:pt>
                <c:pt idx="4">
                  <c:v>0.55454545454545456</c:v>
                </c:pt>
                <c:pt idx="5">
                  <c:v>0.5</c:v>
                </c:pt>
                <c:pt idx="6">
                  <c:v>0.51658767772511849</c:v>
                </c:pt>
                <c:pt idx="7">
                  <c:v>0.54166666666666663</c:v>
                </c:pt>
                <c:pt idx="8">
                  <c:v>0.51091703056768556</c:v>
                </c:pt>
                <c:pt idx="9">
                  <c:v>0.49583333333333335</c:v>
                </c:pt>
                <c:pt idx="10">
                  <c:v>0.491869918699187</c:v>
                </c:pt>
                <c:pt idx="11">
                  <c:v>0.53293413173652693</c:v>
                </c:pt>
                <c:pt idx="12">
                  <c:v>0.51378446115288223</c:v>
                </c:pt>
                <c:pt idx="13">
                  <c:v>0.50118203309692666</c:v>
                </c:pt>
                <c:pt idx="14">
                  <c:v>0.48325358851674644</c:v>
                </c:pt>
                <c:pt idx="15">
                  <c:v>0.48765432098765432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A4-4533-B5DC-F585B4A4E90A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Sulfato de Salbutamol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rgbClr val="A5A5A5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0%</c:formatCode>
                <c:ptCount val="16"/>
                <c:pt idx="0">
                  <c:v>0.47826086956521741</c:v>
                </c:pt>
                <c:pt idx="1">
                  <c:v>0.45161290322580644</c:v>
                </c:pt>
                <c:pt idx="2">
                  <c:v>0.42465753424657532</c:v>
                </c:pt>
                <c:pt idx="3">
                  <c:v>0.50819672131147542</c:v>
                </c:pt>
                <c:pt idx="4">
                  <c:v>0.53658536585365857</c:v>
                </c:pt>
                <c:pt idx="5">
                  <c:v>0.53333333333333333</c:v>
                </c:pt>
                <c:pt idx="6">
                  <c:v>0.58510638297872342</c:v>
                </c:pt>
                <c:pt idx="7">
                  <c:v>0.42696629213483145</c:v>
                </c:pt>
                <c:pt idx="8">
                  <c:v>0.46703296703296704</c:v>
                </c:pt>
                <c:pt idx="9">
                  <c:v>0.44444444444444442</c:v>
                </c:pt>
                <c:pt idx="10">
                  <c:v>0.41772151898734178</c:v>
                </c:pt>
                <c:pt idx="11">
                  <c:v>0.40259740259740262</c:v>
                </c:pt>
                <c:pt idx="12">
                  <c:v>0.45333333333333331</c:v>
                </c:pt>
                <c:pt idx="13">
                  <c:v>0.47350993377483441</c:v>
                </c:pt>
                <c:pt idx="14">
                  <c:v>0.45253164556962028</c:v>
                </c:pt>
                <c:pt idx="15">
                  <c:v>0.37727272727272726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A4-4533-B5DC-F585B4A4E90A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Avamys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5B9BD5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0%</c:formatCode>
                <c:ptCount val="16"/>
                <c:pt idx="0">
                  <c:v>0.3</c:v>
                </c:pt>
                <c:pt idx="1">
                  <c:v>0.61111111111111116</c:v>
                </c:pt>
                <c:pt idx="2">
                  <c:v>0.54</c:v>
                </c:pt>
                <c:pt idx="3">
                  <c:v>0.55769230769230771</c:v>
                </c:pt>
                <c:pt idx="4">
                  <c:v>0.51162790697674421</c:v>
                </c:pt>
                <c:pt idx="5">
                  <c:v>0.625</c:v>
                </c:pt>
                <c:pt idx="6">
                  <c:v>0.46938775510204084</c:v>
                </c:pt>
                <c:pt idx="7">
                  <c:v>0.53947368421052633</c:v>
                </c:pt>
                <c:pt idx="8">
                  <c:v>0.51315789473684215</c:v>
                </c:pt>
                <c:pt idx="9">
                  <c:v>0.5161290322580645</c:v>
                </c:pt>
                <c:pt idx="10">
                  <c:v>0.42857142857142855</c:v>
                </c:pt>
                <c:pt idx="11">
                  <c:v>0.47826086956521741</c:v>
                </c:pt>
                <c:pt idx="12">
                  <c:v>0.47619047619047616</c:v>
                </c:pt>
                <c:pt idx="13">
                  <c:v>0.46376811594202899</c:v>
                </c:pt>
                <c:pt idx="14">
                  <c:v>0.34166666666666667</c:v>
                </c:pt>
                <c:pt idx="15">
                  <c:v>0.39090909090909093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F3E-4073-8377-AD1C4D9C027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18200144"/>
        <c:axId val="418212208"/>
      </c:lineChart>
      <c:catAx>
        <c:axId val="41820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8212208"/>
        <c:crosses val="autoZero"/>
        <c:auto val="1"/>
        <c:lblAlgn val="ctr"/>
        <c:lblOffset val="100"/>
        <c:noMultiLvlLbl val="0"/>
      </c:catAx>
      <c:valAx>
        <c:axId val="418212208"/>
        <c:scaling>
          <c:orientation val="minMax"/>
          <c:max val="0.83000000000000007"/>
        </c:scaling>
        <c:delete val="1"/>
        <c:axPos val="l"/>
        <c:numFmt formatCode="0%" sourceLinked="1"/>
        <c:majorTickMark val="out"/>
        <c:minorTickMark val="none"/>
        <c:tickLblPos val="nextTo"/>
        <c:crossAx val="41820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19050">
      <a:solidFill>
        <a:srgbClr val="3C0E6B"/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sz="700"/>
      </a:pPr>
      <a:endParaRPr lang="pt-B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Itens Visualizados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7739860438388208E-2"/>
                  <c:y val="-5.05340880598177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1C-4B78-8FBD-562B45AD5D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#,##0</c:formatCode>
                <c:ptCount val="16"/>
                <c:pt idx="0">
                  <c:v>951</c:v>
                </c:pt>
                <c:pt idx="1">
                  <c:v>2179</c:v>
                </c:pt>
                <c:pt idx="2">
                  <c:v>2088</c:v>
                </c:pt>
                <c:pt idx="3">
                  <c:v>2010</c:v>
                </c:pt>
                <c:pt idx="4">
                  <c:v>2147</c:v>
                </c:pt>
                <c:pt idx="5">
                  <c:v>2053</c:v>
                </c:pt>
                <c:pt idx="6">
                  <c:v>2280</c:v>
                </c:pt>
                <c:pt idx="7">
                  <c:v>2591</c:v>
                </c:pt>
                <c:pt idx="8">
                  <c:v>2480</c:v>
                </c:pt>
                <c:pt idx="9">
                  <c:v>2032</c:v>
                </c:pt>
                <c:pt idx="10">
                  <c:v>2644</c:v>
                </c:pt>
                <c:pt idx="11">
                  <c:v>2784</c:v>
                </c:pt>
                <c:pt idx="12">
                  <c:v>2890</c:v>
                </c:pt>
                <c:pt idx="13">
                  <c:v>2945</c:v>
                </c:pt>
                <c:pt idx="14">
                  <c:v>3211</c:v>
                </c:pt>
                <c:pt idx="15">
                  <c:v>2064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1C-4B78-8FBD-562B45AD5D9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Itens Convertidos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#,##0</c:formatCode>
                <c:ptCount val="16"/>
                <c:pt idx="0">
                  <c:v>145</c:v>
                </c:pt>
                <c:pt idx="1">
                  <c:v>342</c:v>
                </c:pt>
                <c:pt idx="2">
                  <c:v>322</c:v>
                </c:pt>
                <c:pt idx="3">
                  <c:v>323</c:v>
                </c:pt>
                <c:pt idx="4">
                  <c:v>337</c:v>
                </c:pt>
                <c:pt idx="5">
                  <c:v>312</c:v>
                </c:pt>
                <c:pt idx="6">
                  <c:v>322</c:v>
                </c:pt>
                <c:pt idx="7">
                  <c:v>347</c:v>
                </c:pt>
                <c:pt idx="8">
                  <c:v>321</c:v>
                </c:pt>
                <c:pt idx="9">
                  <c:v>328</c:v>
                </c:pt>
                <c:pt idx="10">
                  <c:v>320</c:v>
                </c:pt>
                <c:pt idx="11">
                  <c:v>371</c:v>
                </c:pt>
                <c:pt idx="12">
                  <c:v>414</c:v>
                </c:pt>
                <c:pt idx="13">
                  <c:v>377</c:v>
                </c:pt>
                <c:pt idx="14">
                  <c:v>379</c:v>
                </c:pt>
                <c:pt idx="15">
                  <c:v>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1C-4B78-8FBD-562B45AD5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082095"/>
        <c:axId val="118096655"/>
      </c:lineChart>
      <c:lineChart>
        <c:grouping val="standard"/>
        <c:varyColors val="0"/>
        <c:ser>
          <c:idx val="2"/>
          <c:order val="2"/>
          <c:tx>
            <c:strRef>
              <c:f>Planilha1!$D$1</c:f>
              <c:strCache>
                <c:ptCount val="1"/>
                <c:pt idx="0">
                  <c:v>% Conversão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0%</c:formatCode>
                <c:ptCount val="16"/>
                <c:pt idx="0">
                  <c:v>0.15247108307045215</c:v>
                </c:pt>
                <c:pt idx="1">
                  <c:v>0.15695273061037174</c:v>
                </c:pt>
                <c:pt idx="2">
                  <c:v>0.15421455938697318</c:v>
                </c:pt>
                <c:pt idx="3">
                  <c:v>0.16069651741293534</c:v>
                </c:pt>
                <c:pt idx="4">
                  <c:v>0.15696320447135537</c:v>
                </c:pt>
                <c:pt idx="5">
                  <c:v>0.15197272284461763</c:v>
                </c:pt>
                <c:pt idx="6">
                  <c:v>0.14122807017543859</c:v>
                </c:pt>
                <c:pt idx="7">
                  <c:v>0.1339251254341953</c:v>
                </c:pt>
                <c:pt idx="8">
                  <c:v>0.12943548387096773</c:v>
                </c:pt>
                <c:pt idx="9">
                  <c:v>0.16141732283464566</c:v>
                </c:pt>
                <c:pt idx="10">
                  <c:v>0.12102874432677761</c:v>
                </c:pt>
                <c:pt idx="11">
                  <c:v>0.13326149425287356</c:v>
                </c:pt>
                <c:pt idx="12">
                  <c:v>0.14325259515570934</c:v>
                </c:pt>
                <c:pt idx="13">
                  <c:v>0.12801358234295415</c:v>
                </c:pt>
                <c:pt idx="14">
                  <c:v>0.11803176580504515</c:v>
                </c:pt>
                <c:pt idx="15">
                  <c:v>0.10852713178294573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1C-4B78-8FBD-562B45AD5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6925840"/>
        <c:axId val="696913776"/>
      </c:lineChart>
      <c:catAx>
        <c:axId val="118082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8096655"/>
        <c:crosses val="autoZero"/>
        <c:auto val="1"/>
        <c:lblAlgn val="ctr"/>
        <c:lblOffset val="100"/>
        <c:noMultiLvlLbl val="0"/>
      </c:catAx>
      <c:valAx>
        <c:axId val="118096655"/>
        <c:scaling>
          <c:orientation val="minMax"/>
          <c:max val="600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8082095"/>
        <c:crosses val="autoZero"/>
        <c:crossBetween val="between"/>
      </c:valAx>
      <c:valAx>
        <c:axId val="696913776"/>
        <c:scaling>
          <c:orientation val="minMax"/>
          <c:max val="0.17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96925840"/>
        <c:crosses val="max"/>
        <c:crossBetween val="between"/>
      </c:valAx>
      <c:catAx>
        <c:axId val="696925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969137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2 - Silenciosa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0.18518518518518517</c:v>
                </c:pt>
                <c:pt idx="1">
                  <c:v>0.32692307692307693</c:v>
                </c:pt>
                <c:pt idx="2">
                  <c:v>0.26785714285714285</c:v>
                </c:pt>
                <c:pt idx="3">
                  <c:v>0.25490196078431371</c:v>
                </c:pt>
                <c:pt idx="4">
                  <c:v>0.35</c:v>
                </c:pt>
                <c:pt idx="5">
                  <c:v>0.19607843137254902</c:v>
                </c:pt>
                <c:pt idx="6">
                  <c:v>0.1</c:v>
                </c:pt>
                <c:pt idx="7">
                  <c:v>0.15789473684210525</c:v>
                </c:pt>
                <c:pt idx="8">
                  <c:v>0.25</c:v>
                </c:pt>
                <c:pt idx="9">
                  <c:v>0.24324324324324326</c:v>
                </c:pt>
                <c:pt idx="10">
                  <c:v>0.12857142857142856</c:v>
                </c:pt>
                <c:pt idx="11">
                  <c:v>0.24242424242424243</c:v>
                </c:pt>
                <c:pt idx="12">
                  <c:v>0.13513513513513514</c:v>
                </c:pt>
                <c:pt idx="13">
                  <c:v>0.26530612244897961</c:v>
                </c:pt>
                <c:pt idx="14">
                  <c:v>0.20754716981132076</c:v>
                </c:pt>
                <c:pt idx="15">
                  <c:v>9.3023255813953487E-2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DC-4984-8714-4CE4D5CD43C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8140335"/>
        <c:axId val="118143247"/>
      </c:lineChart>
      <c:catAx>
        <c:axId val="118140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8143247"/>
        <c:crosses val="autoZero"/>
        <c:auto val="1"/>
        <c:lblAlgn val="ctr"/>
        <c:lblOffset val="100"/>
        <c:noMultiLvlLbl val="0"/>
      </c:catAx>
      <c:valAx>
        <c:axId val="11814324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814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3 - Baby boomers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0.19327731092436976</c:v>
                </c:pt>
                <c:pt idx="1">
                  <c:v>0.18359375</c:v>
                </c:pt>
                <c:pt idx="2">
                  <c:v>0.26666666666666666</c:v>
                </c:pt>
                <c:pt idx="3">
                  <c:v>0.13765182186234817</c:v>
                </c:pt>
                <c:pt idx="4">
                  <c:v>0.20149253731343283</c:v>
                </c:pt>
                <c:pt idx="5">
                  <c:v>0.21167883211678831</c:v>
                </c:pt>
                <c:pt idx="6">
                  <c:v>0.22875816993464052</c:v>
                </c:pt>
                <c:pt idx="7">
                  <c:v>0.19377162629757785</c:v>
                </c:pt>
                <c:pt idx="8">
                  <c:v>0.2185430463576159</c:v>
                </c:pt>
                <c:pt idx="9">
                  <c:v>0.25</c:v>
                </c:pt>
                <c:pt idx="10">
                  <c:v>0.22115384615384615</c:v>
                </c:pt>
                <c:pt idx="11">
                  <c:v>0.17419354838709677</c:v>
                </c:pt>
                <c:pt idx="12">
                  <c:v>0.19687499999999999</c:v>
                </c:pt>
                <c:pt idx="13">
                  <c:v>0.20958083832335328</c:v>
                </c:pt>
                <c:pt idx="14">
                  <c:v>0.12716763005780346</c:v>
                </c:pt>
                <c:pt idx="15">
                  <c:v>0.1951219512195122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DC-4984-8714-4CE4D5CD43C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8140335"/>
        <c:axId val="118143247"/>
      </c:lineChart>
      <c:catAx>
        <c:axId val="1181403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8143247"/>
        <c:crosses val="autoZero"/>
        <c:auto val="1"/>
        <c:lblAlgn val="ctr"/>
        <c:lblOffset val="100"/>
        <c:noMultiLvlLbl val="0"/>
      </c:catAx>
      <c:valAx>
        <c:axId val="11814324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814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4 - Geração X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0.16759776536312848</c:v>
                </c:pt>
                <c:pt idx="1">
                  <c:v>0.18581907090464547</c:v>
                </c:pt>
                <c:pt idx="2">
                  <c:v>0.19339622641509435</c:v>
                </c:pt>
                <c:pt idx="3">
                  <c:v>0.18719211822660098</c:v>
                </c:pt>
                <c:pt idx="4">
                  <c:v>0.16222222222222221</c:v>
                </c:pt>
                <c:pt idx="5">
                  <c:v>0.18764845605700711</c:v>
                </c:pt>
                <c:pt idx="6">
                  <c:v>0.18161434977578475</c:v>
                </c:pt>
                <c:pt idx="7">
                  <c:v>0.1465863453815261</c:v>
                </c:pt>
                <c:pt idx="8">
                  <c:v>0.14285714285714285</c:v>
                </c:pt>
                <c:pt idx="9">
                  <c:v>0.21236559139784947</c:v>
                </c:pt>
                <c:pt idx="10">
                  <c:v>0.1440329218106996</c:v>
                </c:pt>
                <c:pt idx="11">
                  <c:v>0.1791907514450867</c:v>
                </c:pt>
                <c:pt idx="12">
                  <c:v>0.14677103718199608</c:v>
                </c:pt>
                <c:pt idx="13">
                  <c:v>0.15689981096408318</c:v>
                </c:pt>
                <c:pt idx="14">
                  <c:v>0.16453382084095064</c:v>
                </c:pt>
                <c:pt idx="15">
                  <c:v>0.12643678160919541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DC-4984-8714-4CE4D5CD43C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8140335"/>
        <c:axId val="118143247"/>
      </c:lineChart>
      <c:catAx>
        <c:axId val="1181403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8143247"/>
        <c:crosses val="autoZero"/>
        <c:auto val="1"/>
        <c:lblAlgn val="ctr"/>
        <c:lblOffset val="100"/>
        <c:noMultiLvlLbl val="0"/>
      </c:catAx>
      <c:valAx>
        <c:axId val="11814324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814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5 - Millennials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0.1803921568627451</c:v>
                </c:pt>
                <c:pt idx="1">
                  <c:v>0.16387959866220736</c:v>
                </c:pt>
                <c:pt idx="2">
                  <c:v>0.1407942238267148</c:v>
                </c:pt>
                <c:pt idx="3">
                  <c:v>0.18888888888888888</c:v>
                </c:pt>
                <c:pt idx="4">
                  <c:v>0.16493055555555555</c:v>
                </c:pt>
                <c:pt idx="5">
                  <c:v>0.13051823416506717</c:v>
                </c:pt>
                <c:pt idx="6">
                  <c:v>0.11290322580645161</c:v>
                </c:pt>
                <c:pt idx="7">
                  <c:v>0.14421553090332806</c:v>
                </c:pt>
                <c:pt idx="8">
                  <c:v>0.12739965095986039</c:v>
                </c:pt>
                <c:pt idx="9">
                  <c:v>0.14893617021276595</c:v>
                </c:pt>
                <c:pt idx="10">
                  <c:v>0.10698365527488855</c:v>
                </c:pt>
                <c:pt idx="11">
                  <c:v>0.14683153013910355</c:v>
                </c:pt>
                <c:pt idx="12">
                  <c:v>0.15349544072948329</c:v>
                </c:pt>
                <c:pt idx="13">
                  <c:v>0.14017341040462428</c:v>
                </c:pt>
                <c:pt idx="14">
                  <c:v>0.12015503875968993</c:v>
                </c:pt>
                <c:pt idx="15">
                  <c:v>9.8393574297188757E-2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DC-4984-8714-4CE4D5CD43C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8140335"/>
        <c:axId val="118143247"/>
      </c:lineChart>
      <c:catAx>
        <c:axId val="1181403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8143247"/>
        <c:crosses val="autoZero"/>
        <c:auto val="1"/>
        <c:lblAlgn val="ctr"/>
        <c:lblOffset val="100"/>
        <c:noMultiLvlLbl val="0"/>
      </c:catAx>
      <c:valAx>
        <c:axId val="11814324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814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6 - Geração Z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0.1111111111111111</c:v>
                </c:pt>
                <c:pt idx="1">
                  <c:v>0.10880829015544041</c:v>
                </c:pt>
                <c:pt idx="2">
                  <c:v>9.0056285178236398E-2</c:v>
                </c:pt>
                <c:pt idx="3">
                  <c:v>0.13226452905811623</c:v>
                </c:pt>
                <c:pt idx="4">
                  <c:v>0.13555992141453832</c:v>
                </c:pt>
                <c:pt idx="5">
                  <c:v>0.1157684630738523</c:v>
                </c:pt>
                <c:pt idx="6">
                  <c:v>0.10555555555555556</c:v>
                </c:pt>
                <c:pt idx="7">
                  <c:v>0.11488673139158576</c:v>
                </c:pt>
                <c:pt idx="8">
                  <c:v>9.2532467532467536E-2</c:v>
                </c:pt>
                <c:pt idx="9">
                  <c:v>0.1111111111111111</c:v>
                </c:pt>
                <c:pt idx="10">
                  <c:v>8.8414634146341459E-2</c:v>
                </c:pt>
                <c:pt idx="11">
                  <c:v>7.9178885630498533E-2</c:v>
                </c:pt>
                <c:pt idx="12">
                  <c:v>0.11225997045790251</c:v>
                </c:pt>
                <c:pt idx="13">
                  <c:v>9.7674418604651161E-2</c:v>
                </c:pt>
                <c:pt idx="14">
                  <c:v>9.796437659033079E-2</c:v>
                </c:pt>
                <c:pt idx="15">
                  <c:v>6.6929133858267723E-2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DC-4984-8714-4CE4D5CD43C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8140335"/>
        <c:axId val="118143247"/>
      </c:lineChart>
      <c:catAx>
        <c:axId val="1181403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8143247"/>
        <c:crosses val="autoZero"/>
        <c:auto val="1"/>
        <c:lblAlgn val="ctr"/>
        <c:lblOffset val="100"/>
        <c:noMultiLvlLbl val="0"/>
      </c:catAx>
      <c:valAx>
        <c:axId val="11814324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814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7 - Alfa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0.125</c:v>
                </c:pt>
                <c:pt idx="1">
                  <c:v>0.1111111111111111</c:v>
                </c:pt>
                <c:pt idx="2">
                  <c:v>8.9947089947089942E-2</c:v>
                </c:pt>
                <c:pt idx="3">
                  <c:v>9.5959595959595953E-2</c:v>
                </c:pt>
                <c:pt idx="4">
                  <c:v>7.6576576576576572E-2</c:v>
                </c:pt>
                <c:pt idx="5">
                  <c:v>0.11842105263157894</c:v>
                </c:pt>
                <c:pt idx="6">
                  <c:v>0.1118421052631579</c:v>
                </c:pt>
                <c:pt idx="7">
                  <c:v>8.4541062801932368E-2</c:v>
                </c:pt>
                <c:pt idx="8">
                  <c:v>0.10336538461538461</c:v>
                </c:pt>
                <c:pt idx="9">
                  <c:v>0.1419939577039275</c:v>
                </c:pt>
                <c:pt idx="10">
                  <c:v>9.8092643051771122E-2</c:v>
                </c:pt>
                <c:pt idx="11">
                  <c:v>9.8989898989898989E-2</c:v>
                </c:pt>
                <c:pt idx="12">
                  <c:v>0.12091503267973856</c:v>
                </c:pt>
                <c:pt idx="13">
                  <c:v>6.9620253164556958E-2</c:v>
                </c:pt>
                <c:pt idx="14">
                  <c:v>8.0824088748019024E-2</c:v>
                </c:pt>
                <c:pt idx="15">
                  <c:v>0.10926365795724466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DC-4984-8714-4CE4D5CD43C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8140335"/>
        <c:axId val="118143247"/>
      </c:lineChart>
      <c:catAx>
        <c:axId val="1181403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8143247"/>
        <c:crosses val="autoZero"/>
        <c:auto val="1"/>
        <c:lblAlgn val="ctr"/>
        <c:lblOffset val="100"/>
        <c:noMultiLvlLbl val="0"/>
      </c:catAx>
      <c:valAx>
        <c:axId val="11814324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814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Mais Visualizados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Planilha1!$A$2:$A$23</c:f>
              <c:strCache>
                <c:ptCount val="22"/>
                <c:pt idx="0">
                  <c:v>Paracetamol</c:v>
                </c:pt>
                <c:pt idx="1">
                  <c:v>Aerolin Spray</c:v>
                </c:pt>
                <c:pt idx="2">
                  <c:v>Avamys</c:v>
                </c:pt>
                <c:pt idx="3">
                  <c:v>Sulfato de Salbutamol</c:v>
                </c:pt>
                <c:pt idx="4">
                  <c:v>Glifage XR</c:v>
                </c:pt>
                <c:pt idx="5">
                  <c:v>Budesonida (Spray)</c:v>
                </c:pt>
                <c:pt idx="6">
                  <c:v>Diprospan</c:v>
                </c:pt>
                <c:pt idx="7">
                  <c:v>Acetilcisteína</c:v>
                </c:pt>
                <c:pt idx="8">
                  <c:v>Fluconazol</c:v>
                </c:pt>
                <c:pt idx="9">
                  <c:v>Cloridrato de Fluoxetina</c:v>
                </c:pt>
                <c:pt idx="10">
                  <c:v>Ansitec</c:v>
                </c:pt>
                <c:pt idx="11">
                  <c:v>Carbonato de Lítio</c:v>
                </c:pt>
                <c:pt idx="12">
                  <c:v>Daforin</c:v>
                </c:pt>
                <c:pt idx="13">
                  <c:v>Novamox</c:v>
                </c:pt>
                <c:pt idx="14">
                  <c:v>Arcoxia</c:v>
                </c:pt>
                <c:pt idx="15">
                  <c:v>Donaren Retard</c:v>
                </c:pt>
                <c:pt idx="16">
                  <c:v>Cloridrato de Clindamicina</c:v>
                </c:pt>
                <c:pt idx="17">
                  <c:v>Clavulin</c:v>
                </c:pt>
                <c:pt idx="18">
                  <c:v>Cloridrato de sertralina</c:v>
                </c:pt>
                <c:pt idx="19">
                  <c:v>Codein</c:v>
                </c:pt>
                <c:pt idx="20">
                  <c:v>Vigadexa</c:v>
                </c:pt>
                <c:pt idx="21">
                  <c:v>Fosfomicina Trometamol</c:v>
                </c:pt>
              </c:strCache>
            </c:strRef>
          </c:cat>
          <c:val>
            <c:numRef>
              <c:f>Planilha1!$B$2:$B$23</c:f>
              <c:numCache>
                <c:formatCode>#,##0</c:formatCode>
                <c:ptCount val="22"/>
                <c:pt idx="0">
                  <c:v>3432</c:v>
                </c:pt>
                <c:pt idx="1">
                  <c:v>2770</c:v>
                </c:pt>
                <c:pt idx="2">
                  <c:v>2354</c:v>
                </c:pt>
                <c:pt idx="3">
                  <c:v>1956</c:v>
                </c:pt>
                <c:pt idx="4">
                  <c:v>1940</c:v>
                </c:pt>
                <c:pt idx="5">
                  <c:v>1797</c:v>
                </c:pt>
                <c:pt idx="6">
                  <c:v>1456</c:v>
                </c:pt>
                <c:pt idx="7">
                  <c:v>1328</c:v>
                </c:pt>
                <c:pt idx="8">
                  <c:v>1069</c:v>
                </c:pt>
                <c:pt idx="9">
                  <c:v>587</c:v>
                </c:pt>
                <c:pt idx="10">
                  <c:v>505</c:v>
                </c:pt>
                <c:pt idx="11">
                  <c:v>400</c:v>
                </c:pt>
                <c:pt idx="12">
                  <c:v>369</c:v>
                </c:pt>
                <c:pt idx="13">
                  <c:v>329</c:v>
                </c:pt>
                <c:pt idx="14">
                  <c:v>307</c:v>
                </c:pt>
                <c:pt idx="15">
                  <c:v>302</c:v>
                </c:pt>
                <c:pt idx="16">
                  <c:v>291</c:v>
                </c:pt>
                <c:pt idx="17">
                  <c:v>264</c:v>
                </c:pt>
                <c:pt idx="18">
                  <c:v>259</c:v>
                </c:pt>
                <c:pt idx="19">
                  <c:v>239</c:v>
                </c:pt>
                <c:pt idx="20">
                  <c:v>53</c:v>
                </c:pt>
                <c:pt idx="2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2-4119-9FE8-E64137B6C0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8063375"/>
        <c:axId val="118060463"/>
      </c:barChart>
      <c:catAx>
        <c:axId val="11806337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8060463"/>
        <c:crosses val="autoZero"/>
        <c:auto val="1"/>
        <c:lblAlgn val="ctr"/>
        <c:lblOffset val="100"/>
        <c:noMultiLvlLbl val="0"/>
      </c:catAx>
      <c:valAx>
        <c:axId val="118060463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1180633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solidFill>
            <a:schemeClr val="bg1"/>
          </a:solidFill>
        </a:defRPr>
      </a:pPr>
      <a:endParaRPr lang="pt-B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madrugada</c:v>
                </c:pt>
              </c:strCache>
            </c:strRef>
          </c:tx>
          <c:spPr>
            <a:solidFill>
              <a:schemeClr val="accent1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Planilha1!$B$2:$B$17</c:f>
              <c:numCache>
                <c:formatCode>0%</c:formatCode>
                <c:ptCount val="16"/>
                <c:pt idx="0">
                  <c:v>0.19827586206896552</c:v>
                </c:pt>
                <c:pt idx="1">
                  <c:v>0.14840182648401826</c:v>
                </c:pt>
                <c:pt idx="2">
                  <c:v>0.10926365795724466</c:v>
                </c:pt>
                <c:pt idx="3">
                  <c:v>0.12098765432098765</c:v>
                </c:pt>
                <c:pt idx="4">
                  <c:v>0.14617169373549885</c:v>
                </c:pt>
                <c:pt idx="5">
                  <c:v>0.15203426124197003</c:v>
                </c:pt>
                <c:pt idx="6">
                  <c:v>0.16302521008403362</c:v>
                </c:pt>
                <c:pt idx="7">
                  <c:v>0.14994232987312572</c:v>
                </c:pt>
                <c:pt idx="8">
                  <c:v>0.20584926884139482</c:v>
                </c:pt>
                <c:pt idx="9">
                  <c:v>0.21621621621621623</c:v>
                </c:pt>
                <c:pt idx="10">
                  <c:v>0.19397590361445782</c:v>
                </c:pt>
                <c:pt idx="11">
                  <c:v>0.16236867239732569</c:v>
                </c:pt>
                <c:pt idx="12">
                  <c:v>0.17837411207576953</c:v>
                </c:pt>
                <c:pt idx="13">
                  <c:v>0.19330855018587362</c:v>
                </c:pt>
                <c:pt idx="14">
                  <c:v>0.17592592592592593</c:v>
                </c:pt>
                <c:pt idx="15">
                  <c:v>0.20039682539682541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CB-47E9-A2B7-B95A02EA145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manhã</c:v>
                </c:pt>
              </c:strCache>
            </c:strRef>
          </c:tx>
          <c:spPr>
            <a:solidFill>
              <a:schemeClr val="accent1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Planilha1!$C$2:$C$17</c:f>
              <c:numCache>
                <c:formatCode>0%</c:formatCode>
                <c:ptCount val="16"/>
                <c:pt idx="0">
                  <c:v>0.11206896551724138</c:v>
                </c:pt>
                <c:pt idx="1">
                  <c:v>7.7625570776255703E-2</c:v>
                </c:pt>
                <c:pt idx="2">
                  <c:v>0.11163895486935867</c:v>
                </c:pt>
                <c:pt idx="3">
                  <c:v>9.8765432098765427E-2</c:v>
                </c:pt>
                <c:pt idx="4">
                  <c:v>0.1136890951276102</c:v>
                </c:pt>
                <c:pt idx="5">
                  <c:v>0.12633832976445397</c:v>
                </c:pt>
                <c:pt idx="6">
                  <c:v>0.13445378151260504</c:v>
                </c:pt>
                <c:pt idx="7">
                  <c:v>9.919261822376009E-2</c:v>
                </c:pt>
                <c:pt idx="8">
                  <c:v>0.11811023622047244</c:v>
                </c:pt>
                <c:pt idx="9">
                  <c:v>0.11351351351351352</c:v>
                </c:pt>
                <c:pt idx="10">
                  <c:v>0.11325301204819277</c:v>
                </c:pt>
                <c:pt idx="11">
                  <c:v>0.1069723018147087</c:v>
                </c:pt>
                <c:pt idx="12">
                  <c:v>0.11760063141278611</c:v>
                </c:pt>
                <c:pt idx="13">
                  <c:v>0.11970260223048328</c:v>
                </c:pt>
                <c:pt idx="14">
                  <c:v>0.10826210826210826</c:v>
                </c:pt>
                <c:pt idx="15">
                  <c:v>0.11607142857142858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CB-47E9-A2B7-B95A02EA145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tarde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Planilha1!$D$2:$D$17</c:f>
              <c:numCache>
                <c:formatCode>0%</c:formatCode>
                <c:ptCount val="16"/>
                <c:pt idx="0">
                  <c:v>0.40948275862068967</c:v>
                </c:pt>
                <c:pt idx="1">
                  <c:v>0.46118721461187212</c:v>
                </c:pt>
                <c:pt idx="2">
                  <c:v>0.45843230403800472</c:v>
                </c:pt>
                <c:pt idx="3">
                  <c:v>0.49629629629629629</c:v>
                </c:pt>
                <c:pt idx="4">
                  <c:v>0.46171693735498842</c:v>
                </c:pt>
                <c:pt idx="5">
                  <c:v>0.47109207708779444</c:v>
                </c:pt>
                <c:pt idx="6">
                  <c:v>0.47394957983193275</c:v>
                </c:pt>
                <c:pt idx="7">
                  <c:v>0.46366782006920415</c:v>
                </c:pt>
                <c:pt idx="8">
                  <c:v>0.38807649043869519</c:v>
                </c:pt>
                <c:pt idx="9">
                  <c:v>0.41621621621621624</c:v>
                </c:pt>
                <c:pt idx="10">
                  <c:v>0.42168674698795183</c:v>
                </c:pt>
                <c:pt idx="11">
                  <c:v>0.45940783190066858</c:v>
                </c:pt>
                <c:pt idx="12">
                  <c:v>0.42146803472770322</c:v>
                </c:pt>
                <c:pt idx="13">
                  <c:v>0.4029739776951673</c:v>
                </c:pt>
                <c:pt idx="14">
                  <c:v>0.4465811965811966</c:v>
                </c:pt>
                <c:pt idx="15">
                  <c:v>0.41666666666666669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CB-47E9-A2B7-B95A02EA1450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noite</c:v>
                </c:pt>
              </c:strCache>
            </c:strRef>
          </c:tx>
          <c:spPr>
            <a:solidFill>
              <a:schemeClr val="accent1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cat>
          <c:val>
            <c:numRef>
              <c:f>Planilha1!$E$2:$E$17</c:f>
              <c:numCache>
                <c:formatCode>0%</c:formatCode>
                <c:ptCount val="16"/>
                <c:pt idx="0">
                  <c:v>0.28017241379310343</c:v>
                </c:pt>
                <c:pt idx="1">
                  <c:v>0.31278538812785389</c:v>
                </c:pt>
                <c:pt idx="2">
                  <c:v>0.32066508313539194</c:v>
                </c:pt>
                <c:pt idx="3">
                  <c:v>0.2839506172839506</c:v>
                </c:pt>
                <c:pt idx="4">
                  <c:v>0.27842227378190254</c:v>
                </c:pt>
                <c:pt idx="5">
                  <c:v>0.25053533190578159</c:v>
                </c:pt>
                <c:pt idx="6">
                  <c:v>0.22857142857142856</c:v>
                </c:pt>
                <c:pt idx="7">
                  <c:v>0.28719723183391005</c:v>
                </c:pt>
                <c:pt idx="8">
                  <c:v>0.2879640044994376</c:v>
                </c:pt>
                <c:pt idx="9">
                  <c:v>0.25405405405405407</c:v>
                </c:pt>
                <c:pt idx="10">
                  <c:v>0.27108433734939757</c:v>
                </c:pt>
                <c:pt idx="11">
                  <c:v>0.27125119388729702</c:v>
                </c:pt>
                <c:pt idx="12">
                  <c:v>0.2825572217837411</c:v>
                </c:pt>
                <c:pt idx="13">
                  <c:v>0.28401486988847585</c:v>
                </c:pt>
                <c:pt idx="14">
                  <c:v>0.26923076923076922</c:v>
                </c:pt>
                <c:pt idx="15">
                  <c:v>0.26686507936507936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FCB-47E9-A2B7-B95A02EA14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490880624"/>
        <c:axId val="1490882704"/>
      </c:barChart>
      <c:catAx>
        <c:axId val="1490880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90882704"/>
        <c:crosses val="autoZero"/>
        <c:auto val="1"/>
        <c:lblAlgn val="ctr"/>
        <c:lblOffset val="100"/>
        <c:noMultiLvlLbl val="0"/>
      </c:catAx>
      <c:valAx>
        <c:axId val="14908827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9088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>
              <a:lumMod val="95000"/>
              <a:lumOff val="5000"/>
            </a:schemeClr>
          </a:solidFill>
        </a:defRPr>
      </a:pPr>
      <a:endParaRPr lang="pt-B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MktPlace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E6-48C2-9DDE-BD2AA34BC38B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E6-48C2-9DDE-BD2AA34BC38B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E6-48C2-9DDE-BD2AA34BC38B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3E6-48C2-9DDE-BD2AA34BC38B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madrugada</c:v>
                </c:pt>
                <c:pt idx="1">
                  <c:v>manhã</c:v>
                </c:pt>
                <c:pt idx="2">
                  <c:v>noite</c:v>
                </c:pt>
                <c:pt idx="3">
                  <c:v>tarde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7.3221757322175732E-3</c:v>
                </c:pt>
                <c:pt idx="1">
                  <c:v>2.4844720496894408E-2</c:v>
                </c:pt>
                <c:pt idx="2">
                  <c:v>1.2828344532681736E-2</c:v>
                </c:pt>
                <c:pt idx="3">
                  <c:v>1.9390581717451522E-2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975E-45DB-8384-2FE6EC58FA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Loja Física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madrugada</c:v>
                </c:pt>
                <c:pt idx="1">
                  <c:v>manhã</c:v>
                </c:pt>
                <c:pt idx="2">
                  <c:v>noite</c:v>
                </c:pt>
                <c:pt idx="3">
                  <c:v>tarde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8.4728033472803346E-2</c:v>
                </c:pt>
                <c:pt idx="1">
                  <c:v>7.4534161490683232E-2</c:v>
                </c:pt>
                <c:pt idx="2">
                  <c:v>8.8576664630421506E-2</c:v>
                </c:pt>
                <c:pt idx="3">
                  <c:v>8.1915314602295217E-2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3E6-48C2-9DDE-BD2AA34BC3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%" sourceLinked="0"/>
        <c:majorTickMark val="out"/>
        <c:minorTickMark val="none"/>
        <c:tickLblPos val="nextTo"/>
        <c:crossAx val="-2068027336"/>
        <c:crosses val="autoZero"/>
        <c:crossBetween val="between"/>
        <c:majorUnit val="5.0000000000000001E-3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200">
          <a:solidFill>
            <a:schemeClr val="tx1">
              <a:lumMod val="95000"/>
              <a:lumOff val="5000"/>
            </a:schemeClr>
          </a:solidFill>
          <a:latin typeface="+mn-lt"/>
        </a:defRPr>
      </a:pPr>
      <a:endParaRPr lang="pt-B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0.0%</c:formatCode>
                <c:ptCount val="4"/>
                <c:pt idx="0">
                  <c:v>9.2050209205020925E-2</c:v>
                </c:pt>
                <c:pt idx="1">
                  <c:v>9.9378881987577633E-2</c:v>
                </c:pt>
                <c:pt idx="2">
                  <c:v>0.10140500916310324</c:v>
                </c:pt>
                <c:pt idx="3">
                  <c:v>0.10130589631974674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F7-4976-B1C6-BA04633986D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388548464"/>
        <c:axId val="1388553456"/>
      </c:lineChart>
      <c:catAx>
        <c:axId val="13885484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88553456"/>
        <c:crosses val="autoZero"/>
        <c:auto val="1"/>
        <c:lblAlgn val="ctr"/>
        <c:lblOffset val="100"/>
        <c:noMultiLvlLbl val="0"/>
      </c:catAx>
      <c:valAx>
        <c:axId val="1388553456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38854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53FACC-3BF8-4AB3-B01E-D62EF46F6685}" type="doc">
      <dgm:prSet loTypeId="urn:microsoft.com/office/officeart/2005/8/layout/hChevron3" loCatId="process" qsTypeId="urn:microsoft.com/office/officeart/2005/8/quickstyle/simple1" qsCatId="simple" csTypeId="urn:microsoft.com/office/officeart/2005/8/colors/accent1_4" csCatId="accent1" phldr="1"/>
      <dgm:spPr/>
    </dgm:pt>
    <dgm:pt modelId="{662DB3AD-1E8C-423D-AD2B-BE64EDAC0689}">
      <dgm:prSet phldrT="[Texto]" custT="1"/>
      <dgm:spPr>
        <a:solidFill>
          <a:srgbClr val="7F7F7F"/>
        </a:solidFill>
        <a:ln>
          <a:noFill/>
        </a:ln>
      </dgm:spPr>
      <dgm:t>
        <a:bodyPr/>
        <a:lstStyle/>
        <a:p>
          <a:pPr algn="ctr"/>
          <a:r>
            <a:rPr lang="pt-BR" sz="1800" b="1" dirty="0"/>
            <a:t>Importação</a:t>
          </a:r>
        </a:p>
      </dgm:t>
    </dgm:pt>
    <dgm:pt modelId="{3F9314B6-A591-4F0A-BA03-EADE76DE61CC}" type="parTrans" cxnId="{20061121-C7A0-42FD-9529-C2AFAD8C125F}">
      <dgm:prSet/>
      <dgm:spPr/>
      <dgm:t>
        <a:bodyPr/>
        <a:lstStyle/>
        <a:p>
          <a:pPr algn="ctr"/>
          <a:endParaRPr lang="pt-BR" sz="1400" b="1"/>
        </a:p>
      </dgm:t>
    </dgm:pt>
    <dgm:pt modelId="{784ABCA3-698A-4273-BC0C-24E42949AFBE}" type="sibTrans" cxnId="{20061121-C7A0-42FD-9529-C2AFAD8C125F}">
      <dgm:prSet/>
      <dgm:spPr/>
      <dgm:t>
        <a:bodyPr/>
        <a:lstStyle/>
        <a:p>
          <a:pPr algn="ctr"/>
          <a:endParaRPr lang="pt-BR" sz="1400" b="1"/>
        </a:p>
      </dgm:t>
    </dgm:pt>
    <dgm:pt modelId="{CBCCC2AB-6CA8-4278-8A36-2609E77CE3DD}">
      <dgm:prSet phldrT="[Texto]" custT="1"/>
      <dgm:spPr>
        <a:solidFill>
          <a:srgbClr val="774184"/>
        </a:solidFill>
        <a:ln>
          <a:noFill/>
        </a:ln>
      </dgm:spPr>
      <dgm:t>
        <a:bodyPr/>
        <a:lstStyle/>
        <a:p>
          <a:pPr algn="ctr"/>
          <a:r>
            <a:rPr lang="pt-BR" sz="1800" b="1" dirty="0"/>
            <a:t>Padronização</a:t>
          </a:r>
        </a:p>
      </dgm:t>
    </dgm:pt>
    <dgm:pt modelId="{F70F372C-0273-42CB-B94C-269BDBAF71E4}" type="parTrans" cxnId="{B3552C0F-5C42-4AD2-98DF-FC380C26ABBA}">
      <dgm:prSet/>
      <dgm:spPr/>
      <dgm:t>
        <a:bodyPr/>
        <a:lstStyle/>
        <a:p>
          <a:pPr algn="ctr"/>
          <a:endParaRPr lang="pt-BR" sz="1400" b="1"/>
        </a:p>
      </dgm:t>
    </dgm:pt>
    <dgm:pt modelId="{E7538544-BF84-4790-BB55-8B66CCFF4468}" type="sibTrans" cxnId="{B3552C0F-5C42-4AD2-98DF-FC380C26ABBA}">
      <dgm:prSet/>
      <dgm:spPr/>
      <dgm:t>
        <a:bodyPr/>
        <a:lstStyle/>
        <a:p>
          <a:pPr algn="ctr"/>
          <a:endParaRPr lang="pt-BR" sz="1400" b="1"/>
        </a:p>
      </dgm:t>
    </dgm:pt>
    <dgm:pt modelId="{512CDB4A-DBC0-426A-A078-86899BB92A55}">
      <dgm:prSet phldrT="[Texto]" custT="1"/>
      <dgm:spPr>
        <a:solidFill>
          <a:srgbClr val="552476"/>
        </a:solidFill>
        <a:ln>
          <a:noFill/>
        </a:ln>
      </dgm:spPr>
      <dgm:t>
        <a:bodyPr/>
        <a:lstStyle/>
        <a:p>
          <a:pPr algn="ctr"/>
          <a:r>
            <a:rPr lang="pt-BR" sz="1800" b="1" dirty="0"/>
            <a:t>Análises</a:t>
          </a:r>
        </a:p>
      </dgm:t>
    </dgm:pt>
    <dgm:pt modelId="{B8D3C378-3641-4F12-8D4C-B68757712447}" type="parTrans" cxnId="{A149F8A4-97D2-4FA6-87CD-0429C026757C}">
      <dgm:prSet/>
      <dgm:spPr/>
      <dgm:t>
        <a:bodyPr/>
        <a:lstStyle/>
        <a:p>
          <a:pPr algn="ctr"/>
          <a:endParaRPr lang="pt-BR" sz="1400" b="1"/>
        </a:p>
      </dgm:t>
    </dgm:pt>
    <dgm:pt modelId="{261F4041-53A0-4101-8911-D2159730767E}" type="sibTrans" cxnId="{A149F8A4-97D2-4FA6-87CD-0429C026757C}">
      <dgm:prSet/>
      <dgm:spPr/>
      <dgm:t>
        <a:bodyPr/>
        <a:lstStyle/>
        <a:p>
          <a:pPr algn="ctr"/>
          <a:endParaRPr lang="pt-BR" sz="1400" b="1"/>
        </a:p>
      </dgm:t>
    </dgm:pt>
    <dgm:pt modelId="{CE3C3DFA-24D7-4AC4-A636-74CED8C63E95}">
      <dgm:prSet phldrT="[Texto]" custT="1"/>
      <dgm:spPr>
        <a:solidFill>
          <a:srgbClr val="3C0E6B"/>
        </a:solidFill>
        <a:ln>
          <a:noFill/>
        </a:ln>
      </dgm:spPr>
      <dgm:t>
        <a:bodyPr/>
        <a:lstStyle/>
        <a:p>
          <a:pPr algn="ctr"/>
          <a:r>
            <a:rPr lang="pt-BR" sz="1800" b="1" dirty="0"/>
            <a:t>Comunicação</a:t>
          </a:r>
        </a:p>
      </dgm:t>
    </dgm:pt>
    <dgm:pt modelId="{6D98273B-6700-4E99-9706-9242C8CEF03C}" type="parTrans" cxnId="{F60AE992-C5B7-4E98-B14E-A2364ABF8E84}">
      <dgm:prSet/>
      <dgm:spPr/>
      <dgm:t>
        <a:bodyPr/>
        <a:lstStyle/>
        <a:p>
          <a:pPr algn="ctr"/>
          <a:endParaRPr lang="pt-BR" sz="1400" b="1"/>
        </a:p>
      </dgm:t>
    </dgm:pt>
    <dgm:pt modelId="{5B1C2EE9-D9A9-45EE-B743-E11BD079DE1E}" type="sibTrans" cxnId="{F60AE992-C5B7-4E98-B14E-A2364ABF8E84}">
      <dgm:prSet/>
      <dgm:spPr/>
      <dgm:t>
        <a:bodyPr/>
        <a:lstStyle/>
        <a:p>
          <a:pPr algn="ctr"/>
          <a:endParaRPr lang="pt-BR" sz="1400" b="1"/>
        </a:p>
      </dgm:t>
    </dgm:pt>
    <dgm:pt modelId="{A8DFA168-9185-40E5-BE4C-5A0701B8337D}" type="pres">
      <dgm:prSet presAssocID="{D653FACC-3BF8-4AB3-B01E-D62EF46F6685}" presName="Name0" presStyleCnt="0">
        <dgm:presLayoutVars>
          <dgm:dir/>
          <dgm:resizeHandles val="exact"/>
        </dgm:presLayoutVars>
      </dgm:prSet>
      <dgm:spPr/>
    </dgm:pt>
    <dgm:pt modelId="{6325D4B9-3EBD-4017-8FD2-A151352B6EF3}" type="pres">
      <dgm:prSet presAssocID="{662DB3AD-1E8C-423D-AD2B-BE64EDAC0689}" presName="parTxOnly" presStyleLbl="node1" presStyleIdx="0" presStyleCnt="4">
        <dgm:presLayoutVars>
          <dgm:bulletEnabled val="1"/>
        </dgm:presLayoutVars>
      </dgm:prSet>
      <dgm:spPr/>
    </dgm:pt>
    <dgm:pt modelId="{1B28FF61-E277-4BF0-A11D-B2FD78CD2C33}" type="pres">
      <dgm:prSet presAssocID="{784ABCA3-698A-4273-BC0C-24E42949AFBE}" presName="parSpace" presStyleCnt="0"/>
      <dgm:spPr/>
    </dgm:pt>
    <dgm:pt modelId="{2B633278-69D3-4AB5-8F4E-98CA0CBAC33A}" type="pres">
      <dgm:prSet presAssocID="{CBCCC2AB-6CA8-4278-8A36-2609E77CE3DD}" presName="parTxOnly" presStyleLbl="node1" presStyleIdx="1" presStyleCnt="4" custLinFactNeighborX="-2016">
        <dgm:presLayoutVars>
          <dgm:bulletEnabled val="1"/>
        </dgm:presLayoutVars>
      </dgm:prSet>
      <dgm:spPr/>
    </dgm:pt>
    <dgm:pt modelId="{978B8C31-D130-4DD8-9697-49E9661EB4F1}" type="pres">
      <dgm:prSet presAssocID="{E7538544-BF84-4790-BB55-8B66CCFF4468}" presName="parSpace" presStyleCnt="0"/>
      <dgm:spPr/>
    </dgm:pt>
    <dgm:pt modelId="{378ED4EC-F71F-464B-AFEE-F98F5FD08F1C}" type="pres">
      <dgm:prSet presAssocID="{512CDB4A-DBC0-426A-A078-86899BB92A55}" presName="parTxOnly" presStyleLbl="node1" presStyleIdx="2" presStyleCnt="4">
        <dgm:presLayoutVars>
          <dgm:bulletEnabled val="1"/>
        </dgm:presLayoutVars>
      </dgm:prSet>
      <dgm:spPr/>
    </dgm:pt>
    <dgm:pt modelId="{FD329713-50F4-4ACF-902C-FA8EA15CFB28}" type="pres">
      <dgm:prSet presAssocID="{261F4041-53A0-4101-8911-D2159730767E}" presName="parSpace" presStyleCnt="0"/>
      <dgm:spPr/>
    </dgm:pt>
    <dgm:pt modelId="{0C74E44A-9C0E-447B-BE94-774309CD6FCC}" type="pres">
      <dgm:prSet presAssocID="{CE3C3DFA-24D7-4AC4-A636-74CED8C63E95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8180BA07-A5A7-424A-9BC4-2E539C3F1BD9}" type="presOf" srcId="{512CDB4A-DBC0-426A-A078-86899BB92A55}" destId="{378ED4EC-F71F-464B-AFEE-F98F5FD08F1C}" srcOrd="0" destOrd="0" presId="urn:microsoft.com/office/officeart/2005/8/layout/hChevron3"/>
    <dgm:cxn modelId="{B3552C0F-5C42-4AD2-98DF-FC380C26ABBA}" srcId="{D653FACC-3BF8-4AB3-B01E-D62EF46F6685}" destId="{CBCCC2AB-6CA8-4278-8A36-2609E77CE3DD}" srcOrd="1" destOrd="0" parTransId="{F70F372C-0273-42CB-B94C-269BDBAF71E4}" sibTransId="{E7538544-BF84-4790-BB55-8B66CCFF4468}"/>
    <dgm:cxn modelId="{20061121-C7A0-42FD-9529-C2AFAD8C125F}" srcId="{D653FACC-3BF8-4AB3-B01E-D62EF46F6685}" destId="{662DB3AD-1E8C-423D-AD2B-BE64EDAC0689}" srcOrd="0" destOrd="0" parTransId="{3F9314B6-A591-4F0A-BA03-EADE76DE61CC}" sibTransId="{784ABCA3-698A-4273-BC0C-24E42949AFBE}"/>
    <dgm:cxn modelId="{4A5D1090-B164-43EA-A825-AFEF1D92BEEC}" type="presOf" srcId="{CE3C3DFA-24D7-4AC4-A636-74CED8C63E95}" destId="{0C74E44A-9C0E-447B-BE94-774309CD6FCC}" srcOrd="0" destOrd="0" presId="urn:microsoft.com/office/officeart/2005/8/layout/hChevron3"/>
    <dgm:cxn modelId="{F60AE992-C5B7-4E98-B14E-A2364ABF8E84}" srcId="{D653FACC-3BF8-4AB3-B01E-D62EF46F6685}" destId="{CE3C3DFA-24D7-4AC4-A636-74CED8C63E95}" srcOrd="3" destOrd="0" parTransId="{6D98273B-6700-4E99-9706-9242C8CEF03C}" sibTransId="{5B1C2EE9-D9A9-45EE-B743-E11BD079DE1E}"/>
    <dgm:cxn modelId="{FAF84E93-1553-450D-BE43-E5D874FFD8D5}" type="presOf" srcId="{D653FACC-3BF8-4AB3-B01E-D62EF46F6685}" destId="{A8DFA168-9185-40E5-BE4C-5A0701B8337D}" srcOrd="0" destOrd="0" presId="urn:microsoft.com/office/officeart/2005/8/layout/hChevron3"/>
    <dgm:cxn modelId="{A149F8A4-97D2-4FA6-87CD-0429C026757C}" srcId="{D653FACC-3BF8-4AB3-B01E-D62EF46F6685}" destId="{512CDB4A-DBC0-426A-A078-86899BB92A55}" srcOrd="2" destOrd="0" parTransId="{B8D3C378-3641-4F12-8D4C-B68757712447}" sibTransId="{261F4041-53A0-4101-8911-D2159730767E}"/>
    <dgm:cxn modelId="{72A4D2D7-DEC7-418C-AA27-53461C23FE59}" type="presOf" srcId="{CBCCC2AB-6CA8-4278-8A36-2609E77CE3DD}" destId="{2B633278-69D3-4AB5-8F4E-98CA0CBAC33A}" srcOrd="0" destOrd="0" presId="urn:microsoft.com/office/officeart/2005/8/layout/hChevron3"/>
    <dgm:cxn modelId="{14D3A8E0-A841-4AE1-A5E0-173539CD1A59}" type="presOf" srcId="{662DB3AD-1E8C-423D-AD2B-BE64EDAC0689}" destId="{6325D4B9-3EBD-4017-8FD2-A151352B6EF3}" srcOrd="0" destOrd="0" presId="urn:microsoft.com/office/officeart/2005/8/layout/hChevron3"/>
    <dgm:cxn modelId="{5822F669-D32C-4767-B19E-E62C88A1B53C}" type="presParOf" srcId="{A8DFA168-9185-40E5-BE4C-5A0701B8337D}" destId="{6325D4B9-3EBD-4017-8FD2-A151352B6EF3}" srcOrd="0" destOrd="0" presId="urn:microsoft.com/office/officeart/2005/8/layout/hChevron3"/>
    <dgm:cxn modelId="{E61BFD4C-03AC-43F0-B10B-60D8F4F28D4E}" type="presParOf" srcId="{A8DFA168-9185-40E5-BE4C-5A0701B8337D}" destId="{1B28FF61-E277-4BF0-A11D-B2FD78CD2C33}" srcOrd="1" destOrd="0" presId="urn:microsoft.com/office/officeart/2005/8/layout/hChevron3"/>
    <dgm:cxn modelId="{CE38A495-2B31-4531-B243-58DE7E90ECF6}" type="presParOf" srcId="{A8DFA168-9185-40E5-BE4C-5A0701B8337D}" destId="{2B633278-69D3-4AB5-8F4E-98CA0CBAC33A}" srcOrd="2" destOrd="0" presId="urn:microsoft.com/office/officeart/2005/8/layout/hChevron3"/>
    <dgm:cxn modelId="{1AB3BC44-CC1F-4619-A573-63A897AD59F0}" type="presParOf" srcId="{A8DFA168-9185-40E5-BE4C-5A0701B8337D}" destId="{978B8C31-D130-4DD8-9697-49E9661EB4F1}" srcOrd="3" destOrd="0" presId="urn:microsoft.com/office/officeart/2005/8/layout/hChevron3"/>
    <dgm:cxn modelId="{CFBA03AA-7BE6-463F-9116-ED895E8B1941}" type="presParOf" srcId="{A8DFA168-9185-40E5-BE4C-5A0701B8337D}" destId="{378ED4EC-F71F-464B-AFEE-F98F5FD08F1C}" srcOrd="4" destOrd="0" presId="urn:microsoft.com/office/officeart/2005/8/layout/hChevron3"/>
    <dgm:cxn modelId="{223BE92C-59F2-4576-9F18-7F04D871EE3C}" type="presParOf" srcId="{A8DFA168-9185-40E5-BE4C-5A0701B8337D}" destId="{FD329713-50F4-4ACF-902C-FA8EA15CFB28}" srcOrd="5" destOrd="0" presId="urn:microsoft.com/office/officeart/2005/8/layout/hChevron3"/>
    <dgm:cxn modelId="{13A5ACA8-1D02-499C-BFF3-D6D20D051B05}" type="presParOf" srcId="{A8DFA168-9185-40E5-BE4C-5A0701B8337D}" destId="{0C74E44A-9C0E-447B-BE94-774309CD6FCC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5D4B9-3EBD-4017-8FD2-A151352B6EF3}">
      <dsp:nvSpPr>
        <dsp:cNvPr id="0" name=""/>
        <dsp:cNvSpPr/>
      </dsp:nvSpPr>
      <dsp:spPr>
        <a:xfrm>
          <a:off x="2472" y="0"/>
          <a:ext cx="2480467" cy="452485"/>
        </a:xfrm>
        <a:prstGeom prst="homePlate">
          <a:avLst/>
        </a:prstGeom>
        <a:solidFill>
          <a:srgbClr val="7F7F7F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Importação</a:t>
          </a:r>
        </a:p>
      </dsp:txBody>
      <dsp:txXfrm>
        <a:off x="2472" y="0"/>
        <a:ext cx="2367346" cy="452485"/>
      </dsp:txXfrm>
    </dsp:sp>
    <dsp:sp modelId="{2B633278-69D3-4AB5-8F4E-98CA0CBAC33A}">
      <dsp:nvSpPr>
        <dsp:cNvPr id="0" name=""/>
        <dsp:cNvSpPr/>
      </dsp:nvSpPr>
      <dsp:spPr>
        <a:xfrm>
          <a:off x="1976845" y="0"/>
          <a:ext cx="2480467" cy="452485"/>
        </a:xfrm>
        <a:prstGeom prst="chevron">
          <a:avLst/>
        </a:prstGeom>
        <a:solidFill>
          <a:srgbClr val="774184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Padronização</a:t>
          </a:r>
        </a:p>
      </dsp:txBody>
      <dsp:txXfrm>
        <a:off x="2203088" y="0"/>
        <a:ext cx="2027982" cy="452485"/>
      </dsp:txXfrm>
    </dsp:sp>
    <dsp:sp modelId="{378ED4EC-F71F-464B-AFEE-F98F5FD08F1C}">
      <dsp:nvSpPr>
        <dsp:cNvPr id="0" name=""/>
        <dsp:cNvSpPr/>
      </dsp:nvSpPr>
      <dsp:spPr>
        <a:xfrm>
          <a:off x="3971220" y="0"/>
          <a:ext cx="2480467" cy="452485"/>
        </a:xfrm>
        <a:prstGeom prst="chevron">
          <a:avLst/>
        </a:prstGeom>
        <a:solidFill>
          <a:srgbClr val="55247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Análises</a:t>
          </a:r>
        </a:p>
      </dsp:txBody>
      <dsp:txXfrm>
        <a:off x="4197463" y="0"/>
        <a:ext cx="2027982" cy="452485"/>
      </dsp:txXfrm>
    </dsp:sp>
    <dsp:sp modelId="{0C74E44A-9C0E-447B-BE94-774309CD6FCC}">
      <dsp:nvSpPr>
        <dsp:cNvPr id="0" name=""/>
        <dsp:cNvSpPr/>
      </dsp:nvSpPr>
      <dsp:spPr>
        <a:xfrm>
          <a:off x="5955594" y="0"/>
          <a:ext cx="2480467" cy="452485"/>
        </a:xfrm>
        <a:prstGeom prst="chevron">
          <a:avLst/>
        </a:prstGeom>
        <a:solidFill>
          <a:srgbClr val="3C0E6B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Comunicação</a:t>
          </a:r>
        </a:p>
      </dsp:txBody>
      <dsp:txXfrm>
        <a:off x="6181837" y="0"/>
        <a:ext cx="2027982" cy="452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A0E5F-0CC3-4378-AA9C-656191FC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4C5DA-D00C-4D5E-84F9-F178F9FCA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EFFC62-354E-4365-82C0-A4E84A2B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B5FEBD-4F59-4238-BD8C-065DE327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049634-037F-4071-BFF7-BA4211F55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88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DA67E-EC57-41FB-9F02-FB6B4388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18F194-0CE7-4B01-B8DA-DEF8A8657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1788D9-E202-4F5A-861E-F7A73AFF1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A084C3-517C-4240-85CF-134FEFC8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90B9A2-BFB9-4B29-A073-186BC0D8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08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D0131-BF4E-4E97-B837-41DE2481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35A191-62DC-4852-9928-5F4B3FD58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BC2836-ACD0-4F1B-8F9C-E69D73EC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8DC625-50BD-4FF9-861D-C41759DD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E2A1C1-A2FF-420C-9DF1-16FC7F48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6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354FC-B06D-489D-A0FB-B6ABD114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22A484-242A-414C-97E4-E7A61A230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1A378F-4DA4-410E-B4D3-DED10588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2ECF93-01FA-4D9B-963E-3AD42812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06BBE7-BBE5-4FBE-94E7-43764013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1432-918A-4151-99A3-B633DFFE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00ACF-4D2D-401D-93A7-8B8F784C3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8DCAAF-3286-4C7A-A9E4-69256BA37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A7AD12-74DA-4D2F-87E7-42010DDB2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AC21FF-3881-4C36-A149-14524EA54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55E9F9-D430-4A1E-9E08-A9878BA87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5E3C71-3561-4334-9B38-B4E36F006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BBB00E-031E-4928-A381-E5433AC0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DF8015-F5F9-4A11-B679-200A7E15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45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1E67-948D-4C89-8742-828A36B3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0D3328-560C-4C39-B492-549B730C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012BF8-60EC-4A02-97C3-CCE96344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A1F3DC-A27E-4912-9AFF-5D3206C3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48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CBD5CF-81BB-49CB-A343-4E9C759B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F3793D-7C34-416C-B275-3E27C6F6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ECF1DF-0AA6-4085-99E6-D5530EB7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85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EFBFF-206D-4095-A60A-3D47511F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A36B77-3E91-4A5E-9343-1ECEBCDD1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5765C9-9D23-4D44-8841-3F6265140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51D8F4-2FB0-4C37-950F-DE991925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92CF5A-C027-49FA-959A-12A4A15E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386615-D29E-43E5-9D6B-4762FA35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28DE6-A92F-4181-B7EF-2E1193E3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29936B-80AB-46B4-BD39-E0ECADFED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7755D9-A189-4770-843C-57CE98034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D0AF8C-2CC1-4398-A985-450803F9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64EB1B-C44D-49F5-BB18-C9C42AD0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6E9121-C4E3-43FE-9544-28F1099B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60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E97C8-06CE-4609-A04B-B2033B70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E378F4-C5E3-4C7C-9FCF-99A7ACA18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E74E5F-C67A-4D33-A91F-A1F58910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A91F02-D6C9-4F09-8255-99D6C447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52113D-8BDA-4226-83BD-9380C8AD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68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F41895-49A6-48D7-BD10-7FC9D65A2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742FE1-6B5F-4B17-8850-CBAA59379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3EE723-BE95-465E-8291-EC92104E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3A04A-4725-4826-BC2F-EDADBA01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62423A-6BA8-41D3-A1CC-2FF34F5E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9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472D88-939C-4884-84CA-128EA87B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54F620-D655-4CE4-984A-FDE92DCDA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C98DA3-1A5B-45F0-9875-DFDF61632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BB0D7-CCB2-4A23-85C1-FAA99F80FF69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1259D3-FA12-4F55-A5EF-6E9DD340C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015587-6789-486E-A895-E76AC6D07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E52-61F3-41BA-8B53-D1905B78F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5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wiki.mlz-garching.de/panda:index" TargetMode="External"/><Relationship Id="rId18" Type="http://schemas.openxmlformats.org/officeDocument/2006/relationships/image" Target="../media/image7.jpg"/><Relationship Id="rId26" Type="http://schemas.openxmlformats.org/officeDocument/2006/relationships/hyperlink" Target="https://br.freepik.com/vetores-premium/icone-de-invencao-invencao-simples-icone-plano-colorido-em-fundo-branco-isolado_154268419.htm" TargetMode="External"/><Relationship Id="rId3" Type="http://schemas.openxmlformats.org/officeDocument/2006/relationships/diagramLayout" Target="../diagrams/layout1.xml"/><Relationship Id="rId21" Type="http://schemas.openxmlformats.org/officeDocument/2006/relationships/hyperlink" Target="https://freepngimg.com/png/28754-silver-clipart" TargetMode="External"/><Relationship Id="rId34" Type="http://schemas.openxmlformats.org/officeDocument/2006/relationships/hyperlink" Target="https://www.istockphoto.com/br/vetor/lendo-o-projeto-do-%C3%ADcone-do-estilo-da-linha-gm1154840567-314180143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5.svg"/><Relationship Id="rId17" Type="http://schemas.openxmlformats.org/officeDocument/2006/relationships/hyperlink" Target="https://pixabay.com/pt/chave-inglesa-ferramenta-repara%C3%A7%C3%A3o-41267/" TargetMode="External"/><Relationship Id="rId25" Type="http://schemas.openxmlformats.org/officeDocument/2006/relationships/image" Target="../media/image11.jpg"/><Relationship Id="rId33" Type="http://schemas.openxmlformats.org/officeDocument/2006/relationships/image" Target="../media/image15.jpg"/><Relationship Id="rId2" Type="http://schemas.openxmlformats.org/officeDocument/2006/relationships/diagramData" Target="../diagrams/data1.xml"/><Relationship Id="rId16" Type="http://schemas.openxmlformats.org/officeDocument/2006/relationships/image" Target="../media/image6.png"/><Relationship Id="rId20" Type="http://schemas.openxmlformats.org/officeDocument/2006/relationships/image" Target="../media/image8.pn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4.png"/><Relationship Id="rId24" Type="http://schemas.openxmlformats.org/officeDocument/2006/relationships/hyperlink" Target="https://svgsilh.com/e91e63/image/24268.html" TargetMode="External"/><Relationship Id="rId32" Type="http://schemas.openxmlformats.org/officeDocument/2006/relationships/hyperlink" Target="https://labex.io/pt/tutorials/cpp-how-to-simplify-nested-conditional-logic-419095" TargetMode="External"/><Relationship Id="rId5" Type="http://schemas.openxmlformats.org/officeDocument/2006/relationships/diagramColors" Target="../diagrams/colors1.xml"/><Relationship Id="rId15" Type="http://schemas.microsoft.com/office/2007/relationships/hdphoto" Target="../media/hdphoto1.wdp"/><Relationship Id="rId23" Type="http://schemas.openxmlformats.org/officeDocument/2006/relationships/image" Target="../media/image10.svg"/><Relationship Id="rId28" Type="http://schemas.openxmlformats.org/officeDocument/2006/relationships/hyperlink" Target="https://www.iconfinder.com/icons/342929/table_icon" TargetMode="External"/><Relationship Id="rId10" Type="http://schemas.openxmlformats.org/officeDocument/2006/relationships/hyperlink" Target="https://www.freepik.com/icon/import_8984535" TargetMode="External"/><Relationship Id="rId19" Type="http://schemas.openxmlformats.org/officeDocument/2006/relationships/hyperlink" Target="https://www.vecteezy.com/vector-art/17543278-cluster-analysis-glyph-two-color-icon" TargetMode="External"/><Relationship Id="rId31" Type="http://schemas.openxmlformats.org/officeDocument/2006/relationships/image" Target="../media/image1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Relationship Id="rId14" Type="http://schemas.openxmlformats.org/officeDocument/2006/relationships/image" Target="../media/image1.png"/><Relationship Id="rId22" Type="http://schemas.openxmlformats.org/officeDocument/2006/relationships/image" Target="../media/image9.png"/><Relationship Id="rId27" Type="http://schemas.openxmlformats.org/officeDocument/2006/relationships/image" Target="../media/image12.png"/><Relationship Id="rId30" Type="http://schemas.openxmlformats.org/officeDocument/2006/relationships/hyperlink" Target="https://fortnite.gamepedia.com/Gold" TargetMode="External"/><Relationship Id="rId8" Type="http://schemas.openxmlformats.org/officeDocument/2006/relationships/hyperlink" Target="https://en.wikipedia.org/wiki/Databrick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microsoft.com/office/2007/relationships/hdphoto" Target="../media/hdphoto1.wdp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9.xml"/><Relationship Id="rId7" Type="http://schemas.openxmlformats.org/officeDocument/2006/relationships/hyperlink" Target="https://www.pngitem.com/middle/hbJhRx_doctor-health-icon-button-medical-transparent-background-doctor/" TargetMode="Externa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br.freepik.com/icone/prescricao-medica_2268940" TargetMode="External"/><Relationship Id="rId10" Type="http://schemas.openxmlformats.org/officeDocument/2006/relationships/chart" Target="../charts/chart10.xml"/><Relationship Id="rId4" Type="http://schemas.openxmlformats.org/officeDocument/2006/relationships/image" Target="../media/image16.png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ecteezy.com/vector-art/18783469-pediatrics-icon-from-medical-collection-simple-line-element-pediatrics-symbol-for-templates-web-design-and-infographics" TargetMode="External"/><Relationship Id="rId3" Type="http://schemas.openxmlformats.org/officeDocument/2006/relationships/hyperlink" Target="https://br.freepik.com/fotos-vetores-gratis/simbolo-cirurgia" TargetMode="External"/><Relationship Id="rId7" Type="http://schemas.openxmlformats.org/officeDocument/2006/relationships/image" Target="../media/image25.jpg"/><Relationship Id="rId12" Type="http://schemas.openxmlformats.org/officeDocument/2006/relationships/chart" Target="../charts/chart1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.vecteezy.com/arte-vectorial/16653462-icono-de-linea-para-especialidades" TargetMode="External"/><Relationship Id="rId11" Type="http://schemas.openxmlformats.org/officeDocument/2006/relationships/chart" Target="../charts/chart15.xml"/><Relationship Id="rId5" Type="http://schemas.microsoft.com/office/2007/relationships/hdphoto" Target="../media/hdphoto2.wdp"/><Relationship Id="rId10" Type="http://schemas.openxmlformats.org/officeDocument/2006/relationships/hyperlink" Target="https://openclipart.org/detail/213230/public-health-icon-by-simpleicons" TargetMode="External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r.freepik.com/icone/prescricao-medica_2268940" TargetMode="Externa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jktransportes.blogspot.com/2021/06/conheca-sobre-as-geracoes-x-y-e-z.html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chart" Target="../charts/chart1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6.xml"/><Relationship Id="rId3" Type="http://schemas.openxmlformats.org/officeDocument/2006/relationships/chart" Target="../charts/chart21.xml"/><Relationship Id="rId7" Type="http://schemas.openxmlformats.org/officeDocument/2006/relationships/chart" Target="../charts/chart25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reepik.com/icon/hypothesis_8089730" TargetMode="Externa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chart" Target="../charts/chart28.xml"/><Relationship Id="rId7" Type="http://schemas.openxmlformats.org/officeDocument/2006/relationships/image" Target="../media/image37.png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chart" Target="../charts/chart2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hyperlink" Target="https://www.freepik.com/premium-vector/hand-drawn-gen-alpha-illustration_171724284.htm" TargetMode="External"/><Relationship Id="rId7" Type="http://schemas.openxmlformats.org/officeDocument/2006/relationships/hyperlink" Target="https://www.flaticon.com/free-icon/generation-x_10755161" TargetMode="External"/><Relationship Id="rId12" Type="http://schemas.microsoft.com/office/2007/relationships/hdphoto" Target="../media/hdphoto1.wdp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13" Type="http://schemas.openxmlformats.org/officeDocument/2006/relationships/hyperlink" Target="https://www.freepik.com/premium-vector/hand-drawn-gen-alpha-illustration_171724284.htm" TargetMode="External"/><Relationship Id="rId3" Type="http://schemas.openxmlformats.org/officeDocument/2006/relationships/hyperlink" Target="https://www.freepik.com/premium-vector/silent-generation-icon-vector-image-can-be-used-generation-gap_163093458.htm" TargetMode="External"/><Relationship Id="rId7" Type="http://schemas.openxmlformats.org/officeDocument/2006/relationships/hyperlink" Target="https://www.flaticon.com/free-icon/generation-x_10755161" TargetMode="External"/><Relationship Id="rId12" Type="http://schemas.openxmlformats.org/officeDocument/2006/relationships/image" Target="../media/image39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hyperlink" Target="https://www.vecteezy.com/vector-art/21235827-generation-z-vector-icon-design" TargetMode="External"/><Relationship Id="rId5" Type="http://schemas.openxmlformats.org/officeDocument/2006/relationships/hyperlink" Target="https://www.freepik.com/premium-vector/baby-boomers-vector-icon-illustration-generation-gap-iconset_249643254.htm" TargetMode="External"/><Relationship Id="rId15" Type="http://schemas.microsoft.com/office/2007/relationships/hdphoto" Target="../media/hdphoto1.wdp"/><Relationship Id="rId10" Type="http://schemas.openxmlformats.org/officeDocument/2006/relationships/image" Target="../media/image49.jpg"/><Relationship Id="rId4" Type="http://schemas.openxmlformats.org/officeDocument/2006/relationships/image" Target="../media/image47.png"/><Relationship Id="rId9" Type="http://schemas.openxmlformats.org/officeDocument/2006/relationships/hyperlink" Target="https://www.vecteezy.com/vector-art/21098415-millennials-vector-icon-design" TargetMode="External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BDAF2B5-5126-4647-BF51-963EA16AC1CB}"/>
              </a:ext>
            </a:extLst>
          </p:cNvPr>
          <p:cNvSpPr/>
          <p:nvPr/>
        </p:nvSpPr>
        <p:spPr>
          <a:xfrm>
            <a:off x="3309257" y="-19320"/>
            <a:ext cx="8882743" cy="6877319"/>
          </a:xfrm>
          <a:prstGeom prst="rect">
            <a:avLst/>
          </a:prstGeom>
          <a:gradFill flip="none" rotWithShape="1">
            <a:gsLst>
              <a:gs pos="0">
                <a:srgbClr val="3C0E6B"/>
              </a:gs>
              <a:gs pos="0">
                <a:srgbClr val="FFB6BF"/>
              </a:gs>
              <a:gs pos="90000">
                <a:srgbClr val="3C0E6B"/>
              </a:gs>
            </a:gsLst>
            <a:path path="circle">
              <a:fillToRect l="100000" b="100000"/>
            </a:path>
            <a:tileRect t="-100000" r="-10000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4E0EA4-9EC2-4B8F-8A5C-FA7AD7B6E64A}"/>
              </a:ext>
            </a:extLst>
          </p:cNvPr>
          <p:cNvSpPr/>
          <p:nvPr/>
        </p:nvSpPr>
        <p:spPr>
          <a:xfrm>
            <a:off x="0" y="2047965"/>
            <a:ext cx="3309257" cy="2762069"/>
          </a:xfrm>
          <a:prstGeom prst="rect">
            <a:avLst/>
          </a:prstGeom>
          <a:solidFill>
            <a:srgbClr val="FFFFFF">
              <a:lumMod val="85000"/>
              <a:alpha val="38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461D46-5B85-45B5-817B-436BB5F0C44A}"/>
              </a:ext>
            </a:extLst>
          </p:cNvPr>
          <p:cNvSpPr txBox="1"/>
          <p:nvPr/>
        </p:nvSpPr>
        <p:spPr>
          <a:xfrm>
            <a:off x="132728" y="2319038"/>
            <a:ext cx="3043801" cy="220060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rgbClr val="3C0E6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Case </a:t>
            </a:r>
          </a:p>
          <a:p>
            <a:pPr algn="ctr">
              <a:spcAft>
                <a:spcPts val="600"/>
              </a:spcAft>
            </a:pPr>
            <a:r>
              <a:rPr lang="pt-BR" sz="4400" b="1" dirty="0">
                <a:solidFill>
                  <a:srgbClr val="3C0E6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Técnico</a:t>
            </a:r>
          </a:p>
          <a:p>
            <a:pPr algn="ctr">
              <a:spcAft>
                <a:spcPts val="600"/>
              </a:spcAft>
            </a:pPr>
            <a:r>
              <a:rPr lang="pt-BR" sz="4400" b="1" dirty="0">
                <a:solidFill>
                  <a:srgbClr val="3C0E6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srgbClr val="6969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Analytics</a:t>
            </a:r>
            <a:endParaRPr lang="pt-BR" sz="4000" b="1" dirty="0">
              <a:solidFill>
                <a:srgbClr val="69696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35DD0BF-B29F-480A-BF9C-794DA2786562}"/>
              </a:ext>
            </a:extLst>
          </p:cNvPr>
          <p:cNvSpPr/>
          <p:nvPr/>
        </p:nvSpPr>
        <p:spPr>
          <a:xfrm>
            <a:off x="3309257" y="2047965"/>
            <a:ext cx="8882743" cy="2762069"/>
          </a:xfrm>
          <a:prstGeom prst="rect">
            <a:avLst/>
          </a:prstGeom>
          <a:solidFill>
            <a:srgbClr val="FFFFFF">
              <a:lumMod val="85000"/>
              <a:alpha val="2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FFFEE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1E3413-08FC-4489-87F6-AB8A3012699B}"/>
              </a:ext>
            </a:extLst>
          </p:cNvPr>
          <p:cNvSpPr txBox="1"/>
          <p:nvPr/>
        </p:nvSpPr>
        <p:spPr>
          <a:xfrm>
            <a:off x="3693885" y="2580296"/>
            <a:ext cx="8033658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 Prescrição ao Desfecho: A História dos Dados na Saúde+</a:t>
            </a:r>
          </a:p>
          <a:p>
            <a:r>
              <a:rPr lang="pt-BR" sz="2000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Outubro/25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E59F452-BB3E-484C-A507-122D53AD5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0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FC9470B2-DB84-45B9-B999-8CE14992D8B3}"/>
              </a:ext>
            </a:extLst>
          </p:cNvPr>
          <p:cNvSpPr txBox="1"/>
          <p:nvPr/>
        </p:nvSpPr>
        <p:spPr>
          <a:xfrm>
            <a:off x="9610524" y="5739929"/>
            <a:ext cx="1695809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Conclusões, hipóteses e inferências </a:t>
            </a:r>
            <a:r>
              <a:rPr lang="pt-BR" sz="1000" dirty="0">
                <a:latin typeface="+mj-lt"/>
              </a:rPr>
              <a:t>levantadas nesse trabalho, concentrando nos pontos que mais indicam alterar os resultados</a:t>
            </a:r>
          </a:p>
        </p:txBody>
      </p:sp>
      <p:sp>
        <p:nvSpPr>
          <p:cNvPr id="86" name="Forma Livre: Forma 85">
            <a:extLst>
              <a:ext uri="{FF2B5EF4-FFF2-40B4-BE49-F238E27FC236}">
                <a16:creationId xmlns:a16="http://schemas.microsoft.com/office/drawing/2014/main" id="{BCED0A34-95B0-409C-BB4C-2720DAE3D435}"/>
              </a:ext>
            </a:extLst>
          </p:cNvPr>
          <p:cNvSpPr/>
          <p:nvPr/>
        </p:nvSpPr>
        <p:spPr>
          <a:xfrm>
            <a:off x="8204142" y="5118384"/>
            <a:ext cx="1013577" cy="568170"/>
          </a:xfrm>
          <a:custGeom>
            <a:avLst/>
            <a:gdLst>
              <a:gd name="connsiteX0" fmla="*/ 905522 w 1013577"/>
              <a:gd name="connsiteY0" fmla="*/ 0 h 568170"/>
              <a:gd name="connsiteX1" fmla="*/ 932155 w 1013577"/>
              <a:gd name="connsiteY1" fmla="*/ 204186 h 568170"/>
              <a:gd name="connsiteX2" fmla="*/ 0 w 1013577"/>
              <a:gd name="connsiteY2" fmla="*/ 568170 h 568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3577" h="568170">
                <a:moveTo>
                  <a:pt x="905522" y="0"/>
                </a:moveTo>
                <a:cubicBezTo>
                  <a:pt x="994298" y="54745"/>
                  <a:pt x="1083075" y="109491"/>
                  <a:pt x="932155" y="204186"/>
                </a:cubicBezTo>
                <a:cubicBezTo>
                  <a:pt x="781235" y="298881"/>
                  <a:pt x="146481" y="507506"/>
                  <a:pt x="0" y="568170"/>
                </a:cubicBezTo>
              </a:path>
            </a:pathLst>
          </a:custGeom>
          <a:noFill/>
          <a:ln w="22225">
            <a:solidFill>
              <a:schemeClr val="bg1">
                <a:lumMod val="65000"/>
                <a:alpha val="58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Forma Livre: Forma 71">
            <a:extLst>
              <a:ext uri="{FF2B5EF4-FFF2-40B4-BE49-F238E27FC236}">
                <a16:creationId xmlns:a16="http://schemas.microsoft.com/office/drawing/2014/main" id="{F7A1DFC7-994B-40C0-A16D-86494D9104A1}"/>
              </a:ext>
            </a:extLst>
          </p:cNvPr>
          <p:cNvSpPr/>
          <p:nvPr/>
        </p:nvSpPr>
        <p:spPr>
          <a:xfrm>
            <a:off x="7637972" y="2483950"/>
            <a:ext cx="1334890" cy="2332604"/>
          </a:xfrm>
          <a:custGeom>
            <a:avLst/>
            <a:gdLst>
              <a:gd name="connsiteX0" fmla="*/ 1352561 w 1371611"/>
              <a:gd name="connsiteY0" fmla="*/ 0 h 2857500"/>
              <a:gd name="connsiteX1" fmla="*/ 11 w 1371611"/>
              <a:gd name="connsiteY1" fmla="*/ 1047750 h 2857500"/>
              <a:gd name="connsiteX2" fmla="*/ 1371611 w 1371611"/>
              <a:gd name="connsiteY2" fmla="*/ 2857500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11" h="2857500">
                <a:moveTo>
                  <a:pt x="1352561" y="0"/>
                </a:moveTo>
                <a:cubicBezTo>
                  <a:pt x="674698" y="285750"/>
                  <a:pt x="-3164" y="571500"/>
                  <a:pt x="11" y="1047750"/>
                </a:cubicBezTo>
                <a:cubicBezTo>
                  <a:pt x="3186" y="1524000"/>
                  <a:pt x="687398" y="2190750"/>
                  <a:pt x="1371611" y="2857500"/>
                </a:cubicBezTo>
              </a:path>
            </a:pathLst>
          </a:custGeom>
          <a:noFill/>
          <a:ln w="22225">
            <a:solidFill>
              <a:schemeClr val="bg1">
                <a:lumMod val="65000"/>
                <a:alpha val="58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DA22EC91-5EC8-4B26-8F63-256EED3F4A00}"/>
              </a:ext>
            </a:extLst>
          </p:cNvPr>
          <p:cNvSpPr/>
          <p:nvPr/>
        </p:nvSpPr>
        <p:spPr>
          <a:xfrm>
            <a:off x="3531242" y="2483949"/>
            <a:ext cx="1074471" cy="2813271"/>
          </a:xfrm>
          <a:custGeom>
            <a:avLst/>
            <a:gdLst>
              <a:gd name="connsiteX0" fmla="*/ 1352561 w 1371611"/>
              <a:gd name="connsiteY0" fmla="*/ 0 h 2857500"/>
              <a:gd name="connsiteX1" fmla="*/ 11 w 1371611"/>
              <a:gd name="connsiteY1" fmla="*/ 1047750 h 2857500"/>
              <a:gd name="connsiteX2" fmla="*/ 1371611 w 1371611"/>
              <a:gd name="connsiteY2" fmla="*/ 2857500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11" h="2857500">
                <a:moveTo>
                  <a:pt x="1352561" y="0"/>
                </a:moveTo>
                <a:cubicBezTo>
                  <a:pt x="674698" y="285750"/>
                  <a:pt x="-3164" y="571500"/>
                  <a:pt x="11" y="1047750"/>
                </a:cubicBezTo>
                <a:cubicBezTo>
                  <a:pt x="3186" y="1524000"/>
                  <a:pt x="687398" y="2190750"/>
                  <a:pt x="1371611" y="2857500"/>
                </a:cubicBezTo>
              </a:path>
            </a:pathLst>
          </a:custGeom>
          <a:noFill/>
          <a:ln w="22225">
            <a:solidFill>
              <a:schemeClr val="bg1">
                <a:lumMod val="65000"/>
                <a:alpha val="58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88DFF3F0-F629-42AC-966F-5B2C9B2999C4}"/>
              </a:ext>
            </a:extLst>
          </p:cNvPr>
          <p:cNvCxnSpPr>
            <a:cxnSpLocks/>
          </p:cNvCxnSpPr>
          <p:nvPr/>
        </p:nvCxnSpPr>
        <p:spPr>
          <a:xfrm>
            <a:off x="5419155" y="2010919"/>
            <a:ext cx="0" cy="457807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0CBB8AC-685B-4AFF-B4A5-3192BAEA0959}"/>
              </a:ext>
            </a:extLst>
          </p:cNvPr>
          <p:cNvCxnSpPr>
            <a:cxnSpLocks/>
          </p:cNvCxnSpPr>
          <p:nvPr/>
        </p:nvCxnSpPr>
        <p:spPr>
          <a:xfrm>
            <a:off x="7397588" y="2020200"/>
            <a:ext cx="0" cy="457807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BD1FE96-231C-4E0B-8736-EDE467E8D44D}"/>
              </a:ext>
            </a:extLst>
          </p:cNvPr>
          <p:cNvCxnSpPr>
            <a:cxnSpLocks/>
          </p:cNvCxnSpPr>
          <p:nvPr/>
        </p:nvCxnSpPr>
        <p:spPr>
          <a:xfrm>
            <a:off x="9414121" y="1999450"/>
            <a:ext cx="0" cy="461617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EA6E52C-325A-478B-B3C6-DB71E43216B3}"/>
              </a:ext>
            </a:extLst>
          </p:cNvPr>
          <p:cNvSpPr/>
          <p:nvPr/>
        </p:nvSpPr>
        <p:spPr>
          <a:xfrm>
            <a:off x="220294" y="1264138"/>
            <a:ext cx="3103464" cy="5403362"/>
          </a:xfrm>
          <a:prstGeom prst="roundRect">
            <a:avLst>
              <a:gd name="adj" fmla="val 4472"/>
            </a:avLst>
          </a:prstGeom>
          <a:solidFill>
            <a:schemeClr val="bg1"/>
          </a:solidFill>
          <a:ln>
            <a:solidFill>
              <a:srgbClr val="3C0E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113AB92-E9CA-48C2-A4C9-3957CA08797F}"/>
              </a:ext>
            </a:extLst>
          </p:cNvPr>
          <p:cNvSpPr/>
          <p:nvPr/>
        </p:nvSpPr>
        <p:spPr>
          <a:xfrm>
            <a:off x="662539" y="1113324"/>
            <a:ext cx="2305780" cy="301628"/>
          </a:xfrm>
          <a:prstGeom prst="rect">
            <a:avLst/>
          </a:prstGeom>
          <a:solidFill>
            <a:srgbClr val="3C0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Premissas</a:t>
            </a:r>
          </a:p>
        </p:txBody>
      </p:sp>
      <p:graphicFrame>
        <p:nvGraphicFramePr>
          <p:cNvPr id="30" name="Diagrama 29">
            <a:extLst>
              <a:ext uri="{FF2B5EF4-FFF2-40B4-BE49-F238E27FC236}">
                <a16:creationId xmlns:a16="http://schemas.microsoft.com/office/drawing/2014/main" id="{CD40E34C-876C-41D3-AA3A-0FF6042986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5138579"/>
              </p:ext>
            </p:extLst>
          </p:nvPr>
        </p:nvGraphicFramePr>
        <p:xfrm>
          <a:off x="3423263" y="1558434"/>
          <a:ext cx="8438535" cy="452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Retângulo 21">
            <a:extLst>
              <a:ext uri="{FF2B5EF4-FFF2-40B4-BE49-F238E27FC236}">
                <a16:creationId xmlns:a16="http://schemas.microsoft.com/office/drawing/2014/main" id="{1CADECDF-B556-4592-9F45-CBA0AA404D90}"/>
              </a:ext>
            </a:extLst>
          </p:cNvPr>
          <p:cNvSpPr/>
          <p:nvPr/>
        </p:nvSpPr>
        <p:spPr>
          <a:xfrm>
            <a:off x="3423263" y="1032044"/>
            <a:ext cx="8438535" cy="497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Etapas da construção analítica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B2B888DE-847F-4A9A-BD08-2ADDF6CD5B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295912" y="2256146"/>
            <a:ext cx="1044378" cy="547507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D25C14F-053B-4BBD-A3C5-B44974132435}"/>
              </a:ext>
            </a:extLst>
          </p:cNvPr>
          <p:cNvSpPr txBox="1"/>
          <p:nvPr/>
        </p:nvSpPr>
        <p:spPr>
          <a:xfrm>
            <a:off x="3367923" y="4008333"/>
            <a:ext cx="1204078" cy="13696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Importação das bases </a:t>
            </a:r>
            <a:r>
              <a:rPr lang="pt-BR" sz="900" dirty="0">
                <a:latin typeface="+mj-lt"/>
              </a:rPr>
              <a:t>disponibilizadas para download, procura de novas informações e pesquisas para análises (nome de cidades e tamanho populacional)</a:t>
            </a:r>
            <a:endParaRPr lang="pt-BR" sz="1000" b="1" dirty="0">
              <a:latin typeface="+mj-lt"/>
            </a:endParaRP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483DA97-206A-4467-BB7F-D314DC8F37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455250" y="3618999"/>
            <a:ext cx="428259" cy="428259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DB722B8F-1310-459B-A472-551C68EB784D}"/>
              </a:ext>
            </a:extLst>
          </p:cNvPr>
          <p:cNvSpPr txBox="1"/>
          <p:nvPr/>
        </p:nvSpPr>
        <p:spPr>
          <a:xfrm>
            <a:off x="4067178" y="2794417"/>
            <a:ext cx="1318264" cy="5386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latin typeface="+mj-lt"/>
              </a:rPr>
              <a:t>Escolha da Plataforma </a:t>
            </a:r>
            <a:r>
              <a:rPr lang="pt-BR" sz="900" dirty="0">
                <a:latin typeface="+mj-lt"/>
              </a:rPr>
              <a:t>e navegações para setup do ambiente </a:t>
            </a:r>
          </a:p>
        </p:txBody>
      </p:sp>
      <p:pic>
        <p:nvPicPr>
          <p:cNvPr id="46" name="Gráfico 45">
            <a:extLst>
              <a:ext uri="{FF2B5EF4-FFF2-40B4-BE49-F238E27FC236}">
                <a16:creationId xmlns:a16="http://schemas.microsoft.com/office/drawing/2014/main" id="{55E389EC-3400-4959-B21B-466CDBFC51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4451048" y="5246709"/>
            <a:ext cx="586478" cy="586478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0B78282B-3644-4ED5-96FA-0E289368DCBC}"/>
              </a:ext>
            </a:extLst>
          </p:cNvPr>
          <p:cNvSpPr txBox="1"/>
          <p:nvPr/>
        </p:nvSpPr>
        <p:spPr>
          <a:xfrm>
            <a:off x="4196028" y="5686554"/>
            <a:ext cx="1204078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Verificação de Integridade </a:t>
            </a:r>
            <a:r>
              <a:rPr lang="pt-BR" sz="900" dirty="0">
                <a:latin typeface="+mj-lt"/>
              </a:rPr>
              <a:t>explorando as tabelas e campos para conferir as informações</a:t>
            </a:r>
            <a:endParaRPr lang="pt-BR" sz="1000" b="1" dirty="0">
              <a:latin typeface="+mj-lt"/>
            </a:endParaRPr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E83F9E8F-DBB0-47CC-BEA3-67F2A61166DF}"/>
              </a:ext>
            </a:extLst>
          </p:cNvPr>
          <p:cNvSpPr/>
          <p:nvPr/>
        </p:nvSpPr>
        <p:spPr>
          <a:xfrm>
            <a:off x="5685839" y="2483949"/>
            <a:ext cx="1074471" cy="2813271"/>
          </a:xfrm>
          <a:custGeom>
            <a:avLst/>
            <a:gdLst>
              <a:gd name="connsiteX0" fmla="*/ 1352561 w 1371611"/>
              <a:gd name="connsiteY0" fmla="*/ 0 h 2857500"/>
              <a:gd name="connsiteX1" fmla="*/ 11 w 1371611"/>
              <a:gd name="connsiteY1" fmla="*/ 1047750 h 2857500"/>
              <a:gd name="connsiteX2" fmla="*/ 1371611 w 1371611"/>
              <a:gd name="connsiteY2" fmla="*/ 2857500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11" h="2857500">
                <a:moveTo>
                  <a:pt x="1352561" y="0"/>
                </a:moveTo>
                <a:cubicBezTo>
                  <a:pt x="674698" y="285750"/>
                  <a:pt x="-3164" y="571500"/>
                  <a:pt x="11" y="1047750"/>
                </a:cubicBezTo>
                <a:cubicBezTo>
                  <a:pt x="3186" y="1524000"/>
                  <a:pt x="687398" y="2190750"/>
                  <a:pt x="1371611" y="2857500"/>
                </a:cubicBezTo>
              </a:path>
            </a:pathLst>
          </a:custGeom>
          <a:noFill/>
          <a:ln w="22225">
            <a:solidFill>
              <a:schemeClr val="bg1">
                <a:lumMod val="65000"/>
                <a:alpha val="58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4CDFF3C-DACB-4BE9-8F57-A8FC62449372}"/>
              </a:ext>
            </a:extLst>
          </p:cNvPr>
          <p:cNvSpPr txBox="1"/>
          <p:nvPr/>
        </p:nvSpPr>
        <p:spPr>
          <a:xfrm>
            <a:off x="5522520" y="4008333"/>
            <a:ext cx="1204078" cy="10926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Agrupamento de variáveis </a:t>
            </a:r>
            <a:r>
              <a:rPr lang="pt-BR" sz="900" dirty="0">
                <a:latin typeface="+mj-lt"/>
              </a:rPr>
              <a:t>para facilitar as análises, como geração, tamanho da cidade e grupo de especialidades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E70A0DE-9F3D-4F76-8DC5-64899208C2DE}"/>
              </a:ext>
            </a:extLst>
          </p:cNvPr>
          <p:cNvSpPr txBox="1"/>
          <p:nvPr/>
        </p:nvSpPr>
        <p:spPr>
          <a:xfrm>
            <a:off x="6046603" y="2825169"/>
            <a:ext cx="1318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latin typeface="+mj-lt"/>
              </a:rPr>
              <a:t>Correção de campos </a:t>
            </a:r>
            <a:r>
              <a:rPr lang="pt-BR" sz="1000" dirty="0">
                <a:latin typeface="+mj-lt"/>
              </a:rPr>
              <a:t>e </a:t>
            </a:r>
            <a:r>
              <a:rPr lang="pt-BR" sz="900" dirty="0">
                <a:latin typeface="+mj-lt"/>
              </a:rPr>
              <a:t>padronização das marcações, como itens controlados e portaria 344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148FDFE-ABD6-4125-818A-256DA7FF09AB}"/>
              </a:ext>
            </a:extLst>
          </p:cNvPr>
          <p:cNvSpPr txBox="1"/>
          <p:nvPr/>
        </p:nvSpPr>
        <p:spPr>
          <a:xfrm>
            <a:off x="5816653" y="5686554"/>
            <a:ext cx="120407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Criação de tabelas </a:t>
            </a:r>
            <a:r>
              <a:rPr lang="pt-BR" sz="900" dirty="0">
                <a:latin typeface="+mj-lt"/>
              </a:rPr>
              <a:t>na camada </a:t>
            </a:r>
            <a:r>
              <a:rPr lang="pt-BR" sz="900" dirty="0" err="1">
                <a:latin typeface="+mj-lt"/>
              </a:rPr>
              <a:t>silver</a:t>
            </a:r>
            <a:r>
              <a:rPr lang="pt-BR" sz="900" dirty="0">
                <a:latin typeface="+mj-lt"/>
              </a:rPr>
              <a:t> pra análises</a:t>
            </a:r>
          </a:p>
        </p:txBody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7292C740-377C-4D48-BD02-F91320687BD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096A7CC0-F3D1-43E3-AF6D-6A3F972C570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6725756" y="2262634"/>
            <a:ext cx="361168" cy="366255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D104560E-9D7B-4007-BA7F-586E3A426D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5547616" y="3614763"/>
            <a:ext cx="406040" cy="406040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CE7C4932-EDDF-4A23-8F34-0D27B2A2876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6641629" y="5297221"/>
            <a:ext cx="686669" cy="429168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BFC027D9-E4A7-480F-80CE-D383784D3DF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tretch>
            <a:fillRect/>
          </a:stretch>
        </p:blipFill>
        <p:spPr>
          <a:xfrm>
            <a:off x="8738742" y="2275099"/>
            <a:ext cx="462942" cy="462942"/>
          </a:xfrm>
          <a:prstGeom prst="rect">
            <a:avLst/>
          </a:prstGeom>
        </p:spPr>
      </p:pic>
      <p:sp>
        <p:nvSpPr>
          <p:cNvPr id="73" name="CaixaDeTexto 72">
            <a:extLst>
              <a:ext uri="{FF2B5EF4-FFF2-40B4-BE49-F238E27FC236}">
                <a16:creationId xmlns:a16="http://schemas.microsoft.com/office/drawing/2014/main" id="{7978EB46-142E-4E71-89FC-1DF194BEE04F}"/>
              </a:ext>
            </a:extLst>
          </p:cNvPr>
          <p:cNvSpPr txBox="1"/>
          <p:nvPr/>
        </p:nvSpPr>
        <p:spPr>
          <a:xfrm>
            <a:off x="7474653" y="3696441"/>
            <a:ext cx="1204078" cy="10926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Revisão dos conceitos </a:t>
            </a:r>
            <a:r>
              <a:rPr lang="pt-BR" sz="900" dirty="0">
                <a:latin typeface="+mj-lt"/>
              </a:rPr>
              <a:t>e premissas, como a data mínima de prescrição como âncora da data de prescrição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2E120D57-32C7-4216-A07B-B10B55D95A8B}"/>
              </a:ext>
            </a:extLst>
          </p:cNvPr>
          <p:cNvSpPr txBox="1"/>
          <p:nvPr/>
        </p:nvSpPr>
        <p:spPr>
          <a:xfrm>
            <a:off x="7998736" y="2769335"/>
            <a:ext cx="131826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latin typeface="+mj-lt"/>
              </a:rPr>
              <a:t>Exploração dos números </a:t>
            </a:r>
            <a:r>
              <a:rPr lang="pt-BR" sz="1000" dirty="0">
                <a:latin typeface="+mj-lt"/>
              </a:rPr>
              <a:t>e </a:t>
            </a:r>
            <a:r>
              <a:rPr lang="pt-BR" sz="900" dirty="0">
                <a:latin typeface="+mj-lt"/>
              </a:rPr>
              <a:t>validação dos principais KPIS</a:t>
            </a:r>
          </a:p>
        </p:txBody>
      </p:sp>
      <p:pic>
        <p:nvPicPr>
          <p:cNvPr id="80" name="Imagem 79">
            <a:extLst>
              <a:ext uri="{FF2B5EF4-FFF2-40B4-BE49-F238E27FC236}">
                <a16:creationId xmlns:a16="http://schemas.microsoft.com/office/drawing/2014/main" id="{76089CA4-FD6E-471E-BFFC-A5A8DEC7690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6"/>
              </a:ext>
            </a:extLst>
          </a:blip>
          <a:stretch>
            <a:fillRect/>
          </a:stretch>
        </p:blipFill>
        <p:spPr>
          <a:xfrm>
            <a:off x="7499748" y="3254268"/>
            <a:ext cx="454643" cy="454643"/>
          </a:xfrm>
          <a:prstGeom prst="rect">
            <a:avLst/>
          </a:prstGeom>
        </p:spPr>
      </p:pic>
      <p:pic>
        <p:nvPicPr>
          <p:cNvPr id="84" name="Imagem 83">
            <a:extLst>
              <a:ext uri="{FF2B5EF4-FFF2-40B4-BE49-F238E27FC236}">
                <a16:creationId xmlns:a16="http://schemas.microsoft.com/office/drawing/2014/main" id="{918D3E67-3B61-4F83-BF7F-86694E82DAD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8"/>
              </a:ext>
            </a:extLst>
          </a:blip>
          <a:stretch>
            <a:fillRect/>
          </a:stretch>
        </p:blipFill>
        <p:spPr>
          <a:xfrm>
            <a:off x="8898112" y="4490199"/>
            <a:ext cx="449062" cy="449062"/>
          </a:xfrm>
          <a:prstGeom prst="rect">
            <a:avLst/>
          </a:prstGeom>
        </p:spPr>
      </p:pic>
      <p:sp>
        <p:nvSpPr>
          <p:cNvPr id="75" name="CaixaDeTexto 74">
            <a:extLst>
              <a:ext uri="{FF2B5EF4-FFF2-40B4-BE49-F238E27FC236}">
                <a16:creationId xmlns:a16="http://schemas.microsoft.com/office/drawing/2014/main" id="{EDA52F81-739A-4DC7-88AB-ED0CD05EDEFC}"/>
              </a:ext>
            </a:extLst>
          </p:cNvPr>
          <p:cNvSpPr txBox="1"/>
          <p:nvPr/>
        </p:nvSpPr>
        <p:spPr>
          <a:xfrm>
            <a:off x="8090801" y="4921768"/>
            <a:ext cx="11713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Criação de tabelas </a:t>
            </a:r>
            <a:r>
              <a:rPr lang="pt-BR" sz="900" dirty="0">
                <a:latin typeface="+mj-lt"/>
              </a:rPr>
              <a:t>voláteis com análises e agrupamentos</a:t>
            </a: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51DCBB91-D7D2-4D19-AFEB-AA7320FC2FC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0"/>
              </a:ext>
            </a:extLst>
          </a:blip>
          <a:stretch>
            <a:fillRect/>
          </a:stretch>
        </p:blipFill>
        <p:spPr>
          <a:xfrm>
            <a:off x="7695495" y="5573023"/>
            <a:ext cx="446930" cy="446930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87E12FFF-FE3F-41E7-8236-728361CC7304}"/>
              </a:ext>
            </a:extLst>
          </p:cNvPr>
          <p:cNvSpPr txBox="1"/>
          <p:nvPr/>
        </p:nvSpPr>
        <p:spPr>
          <a:xfrm>
            <a:off x="8144608" y="5739929"/>
            <a:ext cx="11713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Criação de cubo </a:t>
            </a:r>
            <a:r>
              <a:rPr lang="pt-BR" sz="900" b="1" dirty="0">
                <a:latin typeface="+mj-lt"/>
              </a:rPr>
              <a:t>final</a:t>
            </a:r>
            <a:r>
              <a:rPr lang="pt-BR" sz="900" dirty="0">
                <a:latin typeface="+mj-lt"/>
              </a:rPr>
              <a:t> para facilitar o trabalho de análise</a:t>
            </a:r>
          </a:p>
        </p:txBody>
      </p:sp>
      <p:pic>
        <p:nvPicPr>
          <p:cNvPr id="96" name="Imagem 95">
            <a:extLst>
              <a:ext uri="{FF2B5EF4-FFF2-40B4-BE49-F238E27FC236}">
                <a16:creationId xmlns:a16="http://schemas.microsoft.com/office/drawing/2014/main" id="{7199762C-1FD1-4998-B09C-398AA0D82BD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2"/>
              </a:ext>
            </a:extLst>
          </a:blip>
          <a:stretch>
            <a:fillRect/>
          </a:stretch>
        </p:blipFill>
        <p:spPr>
          <a:xfrm>
            <a:off x="11179373" y="2262634"/>
            <a:ext cx="426361" cy="426361"/>
          </a:xfrm>
          <a:prstGeom prst="rect">
            <a:avLst/>
          </a:prstGeom>
        </p:spPr>
      </p:pic>
      <p:sp>
        <p:nvSpPr>
          <p:cNvPr id="97" name="CaixaDeTexto 96">
            <a:extLst>
              <a:ext uri="{FF2B5EF4-FFF2-40B4-BE49-F238E27FC236}">
                <a16:creationId xmlns:a16="http://schemas.microsoft.com/office/drawing/2014/main" id="{4986BE14-D1F5-42EE-9117-784A0DD71BC8}"/>
              </a:ext>
            </a:extLst>
          </p:cNvPr>
          <p:cNvSpPr txBox="1"/>
          <p:nvPr/>
        </p:nvSpPr>
        <p:spPr>
          <a:xfrm>
            <a:off x="10520241" y="2769335"/>
            <a:ext cx="1318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latin typeface="+mj-lt"/>
              </a:rPr>
              <a:t>Definição da linha lógica </a:t>
            </a:r>
            <a:r>
              <a:rPr lang="pt-BR" sz="1000" dirty="0">
                <a:latin typeface="+mj-lt"/>
              </a:rPr>
              <a:t>(Prescrição &gt; Abertura &gt; Conversão)</a:t>
            </a:r>
            <a:endParaRPr lang="pt-BR" sz="900" dirty="0">
              <a:latin typeface="+mj-lt"/>
            </a:endParaRPr>
          </a:p>
        </p:txBody>
      </p:sp>
      <p:sp>
        <p:nvSpPr>
          <p:cNvPr id="98" name="Forma Livre: Forma 97">
            <a:extLst>
              <a:ext uri="{FF2B5EF4-FFF2-40B4-BE49-F238E27FC236}">
                <a16:creationId xmlns:a16="http://schemas.microsoft.com/office/drawing/2014/main" id="{B6E5FD18-43F1-4EC8-9111-9DED0F85E9C6}"/>
              </a:ext>
            </a:extLst>
          </p:cNvPr>
          <p:cNvSpPr/>
          <p:nvPr/>
        </p:nvSpPr>
        <p:spPr>
          <a:xfrm>
            <a:off x="9858950" y="2483949"/>
            <a:ext cx="1074471" cy="2813271"/>
          </a:xfrm>
          <a:custGeom>
            <a:avLst/>
            <a:gdLst>
              <a:gd name="connsiteX0" fmla="*/ 1352561 w 1371611"/>
              <a:gd name="connsiteY0" fmla="*/ 0 h 2857500"/>
              <a:gd name="connsiteX1" fmla="*/ 11 w 1371611"/>
              <a:gd name="connsiteY1" fmla="*/ 1047750 h 2857500"/>
              <a:gd name="connsiteX2" fmla="*/ 1371611 w 1371611"/>
              <a:gd name="connsiteY2" fmla="*/ 2857500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11" h="2857500">
                <a:moveTo>
                  <a:pt x="1352561" y="0"/>
                </a:moveTo>
                <a:cubicBezTo>
                  <a:pt x="674698" y="285750"/>
                  <a:pt x="-3164" y="571500"/>
                  <a:pt x="11" y="1047750"/>
                </a:cubicBezTo>
                <a:cubicBezTo>
                  <a:pt x="3186" y="1524000"/>
                  <a:pt x="687398" y="2190750"/>
                  <a:pt x="1371611" y="2857500"/>
                </a:cubicBezTo>
              </a:path>
            </a:pathLst>
          </a:custGeom>
          <a:noFill/>
          <a:ln w="22225">
            <a:solidFill>
              <a:schemeClr val="bg1">
                <a:lumMod val="65000"/>
                <a:alpha val="58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7A51E8E5-10DB-4AA4-914E-4103A1880F12}"/>
              </a:ext>
            </a:extLst>
          </p:cNvPr>
          <p:cNvSpPr txBox="1"/>
          <p:nvPr/>
        </p:nvSpPr>
        <p:spPr>
          <a:xfrm>
            <a:off x="10005275" y="4098985"/>
            <a:ext cx="120407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+mj-lt"/>
              </a:rPr>
              <a:t>Transformação de dados em informações</a:t>
            </a:r>
            <a:endParaRPr lang="pt-BR" sz="900" dirty="0">
              <a:latin typeface="+mj-lt"/>
            </a:endParaRP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F308B833-0832-457E-9AA8-D5EA36FDEAA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9583609" y="4188520"/>
            <a:ext cx="373398" cy="373398"/>
          </a:xfrm>
          <a:prstGeom prst="rect">
            <a:avLst/>
          </a:prstGeom>
        </p:spPr>
      </p:pic>
      <p:sp>
        <p:nvSpPr>
          <p:cNvPr id="106" name="Seta: Curva para Baixo 105">
            <a:extLst>
              <a:ext uri="{FF2B5EF4-FFF2-40B4-BE49-F238E27FC236}">
                <a16:creationId xmlns:a16="http://schemas.microsoft.com/office/drawing/2014/main" id="{920AD8E3-4FA2-4C3A-A157-09ABC8A813D5}"/>
              </a:ext>
            </a:extLst>
          </p:cNvPr>
          <p:cNvSpPr/>
          <p:nvPr/>
        </p:nvSpPr>
        <p:spPr>
          <a:xfrm rot="19800000">
            <a:off x="8891069" y="3874454"/>
            <a:ext cx="735390" cy="449062"/>
          </a:xfrm>
          <a:prstGeom prst="curvedDownArrow">
            <a:avLst/>
          </a:prstGeom>
          <a:solidFill>
            <a:srgbClr val="552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8" name="Seta: Curva para Baixo 107">
            <a:extLst>
              <a:ext uri="{FF2B5EF4-FFF2-40B4-BE49-F238E27FC236}">
                <a16:creationId xmlns:a16="http://schemas.microsoft.com/office/drawing/2014/main" id="{8CED9C1F-D99A-44A6-9AF7-C4BF733343B5}"/>
              </a:ext>
            </a:extLst>
          </p:cNvPr>
          <p:cNvSpPr/>
          <p:nvPr/>
        </p:nvSpPr>
        <p:spPr>
          <a:xfrm rot="9000000">
            <a:off x="9311905" y="4749180"/>
            <a:ext cx="735390" cy="449062"/>
          </a:xfrm>
          <a:prstGeom prst="curvedDownArrow">
            <a:avLst/>
          </a:prstGeom>
          <a:solidFill>
            <a:srgbClr val="552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10" name="Imagem 109">
            <a:extLst>
              <a:ext uri="{FF2B5EF4-FFF2-40B4-BE49-F238E27FC236}">
                <a16:creationId xmlns:a16="http://schemas.microsoft.com/office/drawing/2014/main" id="{5C3F61E5-6D95-49ED-966B-CB43B17455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4"/>
              </a:ext>
            </a:extLst>
          </a:blip>
          <a:stretch>
            <a:fillRect/>
          </a:stretch>
        </p:blipFill>
        <p:spPr>
          <a:xfrm>
            <a:off x="10933421" y="5312443"/>
            <a:ext cx="665422" cy="591318"/>
          </a:xfrm>
          <a:prstGeom prst="rect">
            <a:avLst/>
          </a:prstGeom>
        </p:spPr>
      </p:pic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B37C51A7-E7ED-42A8-A4CF-DFDB7C2E68CF}"/>
              </a:ext>
            </a:extLst>
          </p:cNvPr>
          <p:cNvSpPr txBox="1"/>
          <p:nvPr/>
        </p:nvSpPr>
        <p:spPr>
          <a:xfrm>
            <a:off x="444519" y="1675595"/>
            <a:ext cx="272414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A data mínima de prescrição atribuído para </a:t>
            </a:r>
            <a:r>
              <a:rPr lang="pt-BR" sz="1200" b="1" dirty="0" err="1">
                <a:latin typeface="+mj-lt"/>
              </a:rPr>
              <a:t>idprescricao</a:t>
            </a:r>
            <a:endParaRPr lang="pt-BR" sz="1200" b="1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b="1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Prescrição </a:t>
            </a:r>
            <a:r>
              <a:rPr lang="pt-BR" sz="1200" dirty="0">
                <a:latin typeface="+mj-lt"/>
              </a:rPr>
              <a:t>contabilizada por </a:t>
            </a:r>
            <a:r>
              <a:rPr lang="pt-BR" sz="1200" dirty="0" err="1">
                <a:latin typeface="+mj-lt"/>
              </a:rPr>
              <a:t>distinct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idprescricao</a:t>
            </a: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Data da Prescrição </a:t>
            </a:r>
            <a:r>
              <a:rPr lang="pt-BR" sz="1200" dirty="0">
                <a:latin typeface="+mj-lt"/>
              </a:rPr>
              <a:t>considera a data mínima por </a:t>
            </a:r>
            <a:r>
              <a:rPr lang="pt-BR" sz="1200" dirty="0" err="1">
                <a:latin typeface="+mj-lt"/>
              </a:rPr>
              <a:t>idprescricao</a:t>
            </a: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b="1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Abertura </a:t>
            </a:r>
            <a:r>
              <a:rPr lang="pt-BR" sz="1200" dirty="0">
                <a:latin typeface="+mj-lt"/>
              </a:rPr>
              <a:t>na visão </a:t>
            </a:r>
            <a:r>
              <a:rPr lang="pt-BR" sz="1200" dirty="0" err="1">
                <a:latin typeface="+mj-lt"/>
              </a:rPr>
              <a:t>distinct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idprescricao</a:t>
            </a: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b="1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dirty="0">
                <a:latin typeface="+mj-lt"/>
              </a:rPr>
              <a:t>A métrica para </a:t>
            </a:r>
            <a:r>
              <a:rPr lang="pt-BR" sz="1200" b="1" dirty="0">
                <a:latin typeface="+mj-lt"/>
              </a:rPr>
              <a:t>conversão </a:t>
            </a:r>
            <a:r>
              <a:rPr lang="pt-BR" sz="1200" dirty="0">
                <a:latin typeface="+mj-lt"/>
              </a:rPr>
              <a:t>difere do início do funil e está calculada </a:t>
            </a:r>
            <a:r>
              <a:rPr lang="pt-BR" sz="1200" b="1" dirty="0">
                <a:latin typeface="+mj-lt"/>
              </a:rPr>
              <a:t>sobre item</a:t>
            </a: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b="1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Gerações: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b="1" dirty="0">
              <a:solidFill>
                <a:srgbClr val="C72E0F"/>
              </a:solidFill>
              <a:effectLst/>
              <a:latin typeface="Menlo"/>
            </a:endParaRPr>
          </a:p>
          <a:p>
            <a:r>
              <a:rPr lang="pt-BR" sz="1200" dirty="0">
                <a:effectLst/>
                <a:latin typeface="Menlo"/>
              </a:rPr>
              <a:t>1 – </a:t>
            </a:r>
            <a:r>
              <a:rPr lang="pt-BR" sz="1200" dirty="0" err="1">
                <a:effectLst/>
                <a:latin typeface="Menlo"/>
              </a:rPr>
              <a:t>Greatest</a:t>
            </a:r>
            <a:r>
              <a:rPr lang="pt-BR" sz="1200" dirty="0">
                <a:latin typeface="Menlo"/>
              </a:rPr>
              <a:t>: &lt;=1927</a:t>
            </a:r>
          </a:p>
          <a:p>
            <a:r>
              <a:rPr lang="pt-BR" sz="1200" dirty="0">
                <a:effectLst/>
                <a:latin typeface="Menlo"/>
              </a:rPr>
              <a:t>2 – Silenciosa: 1928 – 1944</a:t>
            </a:r>
          </a:p>
          <a:p>
            <a:r>
              <a:rPr lang="pt-BR" sz="1200" dirty="0">
                <a:effectLst/>
                <a:latin typeface="Menlo"/>
              </a:rPr>
              <a:t>3 – Baby boomers: 1945 – 1964</a:t>
            </a:r>
          </a:p>
          <a:p>
            <a:r>
              <a:rPr lang="pt-BR" sz="1200" dirty="0">
                <a:effectLst/>
                <a:latin typeface="Menlo"/>
              </a:rPr>
              <a:t>4 – Geração X: 1965 – 1981</a:t>
            </a:r>
          </a:p>
          <a:p>
            <a:r>
              <a:rPr lang="pt-BR" sz="1200" dirty="0">
                <a:effectLst/>
                <a:latin typeface="Menlo"/>
              </a:rPr>
              <a:t>5 – </a:t>
            </a:r>
            <a:r>
              <a:rPr lang="pt-BR" sz="1200" dirty="0" err="1">
                <a:effectLst/>
                <a:latin typeface="Menlo"/>
              </a:rPr>
              <a:t>Millennials</a:t>
            </a:r>
            <a:r>
              <a:rPr lang="pt-BR" sz="1200" dirty="0">
                <a:effectLst/>
                <a:latin typeface="Menlo"/>
              </a:rPr>
              <a:t>: 1982 – 1994</a:t>
            </a:r>
          </a:p>
          <a:p>
            <a:r>
              <a:rPr lang="pt-BR" sz="1200" dirty="0">
                <a:effectLst/>
                <a:latin typeface="Menlo"/>
              </a:rPr>
              <a:t>6 – Geração Z: 1995 – 2010</a:t>
            </a:r>
          </a:p>
          <a:p>
            <a:r>
              <a:rPr lang="pt-BR" sz="1200" dirty="0">
                <a:effectLst/>
                <a:latin typeface="Menlo"/>
              </a:rPr>
              <a:t>7 – Alfa: &gt;2010</a:t>
            </a:r>
          </a:p>
          <a:p>
            <a:endParaRPr lang="pt-BR" sz="1200" b="0" dirty="0">
              <a:solidFill>
                <a:srgbClr val="3B3B3B"/>
              </a:solidFill>
              <a:effectLst/>
              <a:latin typeface="Menlo"/>
            </a:endParaRPr>
          </a:p>
          <a:p>
            <a:endParaRPr lang="pt-BR" sz="1200" b="0" dirty="0">
              <a:solidFill>
                <a:srgbClr val="3B3B3B"/>
              </a:solidFill>
              <a:effectLst/>
              <a:latin typeface="Menlo"/>
            </a:endParaRPr>
          </a:p>
          <a:p>
            <a:endParaRPr lang="pt-BR" sz="1200" b="0" dirty="0">
              <a:solidFill>
                <a:srgbClr val="3B3B3B"/>
              </a:solidFill>
              <a:effectLst/>
              <a:latin typeface="Menlo"/>
            </a:endParaRPr>
          </a:p>
          <a:p>
            <a:endParaRPr lang="pt-BR" sz="1200" b="0" dirty="0">
              <a:solidFill>
                <a:srgbClr val="C72E0F"/>
              </a:solidFill>
              <a:effectLst/>
              <a:latin typeface="Menlo"/>
            </a:endParaRPr>
          </a:p>
          <a:p>
            <a:endParaRPr lang="pt-BR" sz="1200" b="0" dirty="0">
              <a:solidFill>
                <a:srgbClr val="3B3B3B"/>
              </a:solidFill>
              <a:effectLst/>
              <a:latin typeface="Menlo"/>
            </a:endParaRPr>
          </a:p>
          <a:p>
            <a:pPr marL="628650" lvl="1" indent="-171450">
              <a:buFont typeface="Wingdings" panose="05000000000000000000" pitchFamily="2" charset="2"/>
              <a:buChar char="q"/>
            </a:pPr>
            <a:endParaRPr lang="pt-BR" sz="1200" b="0" dirty="0">
              <a:solidFill>
                <a:srgbClr val="3B3B3B"/>
              </a:solidFill>
              <a:effectLst/>
              <a:latin typeface="Menlo"/>
            </a:endParaRPr>
          </a:p>
          <a:p>
            <a:pPr marL="628650" lvl="1" indent="-171450">
              <a:buFont typeface="Wingdings" panose="05000000000000000000" pitchFamily="2" charset="2"/>
              <a:buChar char="q"/>
            </a:pPr>
            <a:endParaRPr lang="pt-BR" sz="1200" b="0" dirty="0">
              <a:solidFill>
                <a:srgbClr val="3B3B3B"/>
              </a:solidFill>
              <a:effectLst/>
              <a:latin typeface="Menlo"/>
            </a:endParaRPr>
          </a:p>
          <a:p>
            <a:endParaRPr lang="pt-BR" sz="1200" b="1" dirty="0">
              <a:latin typeface="+mj-lt"/>
            </a:endParaRPr>
          </a:p>
        </p:txBody>
      </p:sp>
      <p:sp>
        <p:nvSpPr>
          <p:cNvPr id="113" name="Título 4">
            <a:extLst>
              <a:ext uri="{FF2B5EF4-FFF2-40B4-BE49-F238E27FC236}">
                <a16:creationId xmlns:a16="http://schemas.microsoft.com/office/drawing/2014/main" id="{2F30C579-158F-4F85-9A1B-B443C041D522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Passo a passo do Estudo de Caso</a:t>
            </a:r>
          </a:p>
        </p:txBody>
      </p:sp>
    </p:spTree>
    <p:extLst>
      <p:ext uri="{BB962C8B-B14F-4D97-AF65-F5344CB8AC3E}">
        <p14:creationId xmlns:p14="http://schemas.microsoft.com/office/powerpoint/2010/main" val="99311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tângulo 153">
            <a:extLst>
              <a:ext uri="{FF2B5EF4-FFF2-40B4-BE49-F238E27FC236}">
                <a16:creationId xmlns:a16="http://schemas.microsoft.com/office/drawing/2014/main" id="{42057F18-A43E-4139-8700-983336D767B5}"/>
              </a:ext>
            </a:extLst>
          </p:cNvPr>
          <p:cNvSpPr/>
          <p:nvPr/>
        </p:nvSpPr>
        <p:spPr>
          <a:xfrm>
            <a:off x="5383160" y="1719240"/>
            <a:ext cx="4851087" cy="4181578"/>
          </a:xfrm>
          <a:prstGeom prst="rect">
            <a:avLst/>
          </a:prstGeom>
          <a:solidFill>
            <a:srgbClr val="BDEEFF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5" name="Google Shape;1169;p41">
            <a:extLst>
              <a:ext uri="{FF2B5EF4-FFF2-40B4-BE49-F238E27FC236}">
                <a16:creationId xmlns:a16="http://schemas.microsoft.com/office/drawing/2014/main" id="{810E9B3B-216A-4495-A572-42647DAA449A}"/>
              </a:ext>
            </a:extLst>
          </p:cNvPr>
          <p:cNvSpPr txBox="1"/>
          <p:nvPr/>
        </p:nvSpPr>
        <p:spPr>
          <a:xfrm>
            <a:off x="-799168" y="4695698"/>
            <a:ext cx="11258769" cy="120511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  <a:defRPr/>
            </a:pPr>
            <a:endParaRPr sz="1200" kern="0" dirty="0">
              <a:solidFill>
                <a:srgbClr val="00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177;p41">
            <a:extLst>
              <a:ext uri="{FF2B5EF4-FFF2-40B4-BE49-F238E27FC236}">
                <a16:creationId xmlns:a16="http://schemas.microsoft.com/office/drawing/2014/main" id="{15BED07F-4AB7-4FB5-8AFB-1A1484672050}"/>
              </a:ext>
            </a:extLst>
          </p:cNvPr>
          <p:cNvSpPr txBox="1"/>
          <p:nvPr/>
        </p:nvSpPr>
        <p:spPr>
          <a:xfrm>
            <a:off x="-782942" y="3200691"/>
            <a:ext cx="11258770" cy="1205119"/>
          </a:xfrm>
          <a:prstGeom prst="rect">
            <a:avLst/>
          </a:prstGeom>
          <a:solidFill>
            <a:srgbClr val="EEEEEE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rgbClr val="000000"/>
              </a:buClr>
              <a:buFont typeface="Arial"/>
              <a:buNone/>
              <a:defRPr/>
            </a:pPr>
            <a:endParaRPr sz="1200" kern="0" dirty="0">
              <a:solidFill>
                <a:srgbClr val="00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185;p41">
            <a:extLst>
              <a:ext uri="{FF2B5EF4-FFF2-40B4-BE49-F238E27FC236}">
                <a16:creationId xmlns:a16="http://schemas.microsoft.com/office/drawing/2014/main" id="{0567189D-5439-4F23-9CC4-4B03D764DFE3}"/>
              </a:ext>
            </a:extLst>
          </p:cNvPr>
          <p:cNvSpPr txBox="1"/>
          <p:nvPr/>
        </p:nvSpPr>
        <p:spPr>
          <a:xfrm>
            <a:off x="-790200" y="1719258"/>
            <a:ext cx="11258770" cy="1205119"/>
          </a:xfrm>
          <a:prstGeom prst="rect">
            <a:avLst/>
          </a:prstGeom>
          <a:solidFill>
            <a:srgbClr val="EEEEEE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rgbClr val="000000"/>
              </a:buClr>
              <a:buFont typeface="Arial"/>
              <a:buNone/>
              <a:defRPr/>
            </a:pPr>
            <a:endParaRPr sz="1200" kern="0" dirty="0">
              <a:solidFill>
                <a:srgbClr val="00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58" name="Retângulo 157">
            <a:extLst>
              <a:ext uri="{FF2B5EF4-FFF2-40B4-BE49-F238E27FC236}">
                <a16:creationId xmlns:a16="http://schemas.microsoft.com/office/drawing/2014/main" id="{A62BFDB2-02F5-4614-820A-4B7D45CEF3DD}"/>
              </a:ext>
            </a:extLst>
          </p:cNvPr>
          <p:cNvSpPr/>
          <p:nvPr/>
        </p:nvSpPr>
        <p:spPr>
          <a:xfrm>
            <a:off x="2467945" y="1719238"/>
            <a:ext cx="87906" cy="4181578"/>
          </a:xfrm>
          <a:prstGeom prst="rect">
            <a:avLst/>
          </a:prstGeom>
          <a:solidFill>
            <a:srgbClr val="FFFFFF">
              <a:lumMod val="75000"/>
              <a:alpha val="1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9" name="Retângulo 158">
            <a:extLst>
              <a:ext uri="{FF2B5EF4-FFF2-40B4-BE49-F238E27FC236}">
                <a16:creationId xmlns:a16="http://schemas.microsoft.com/office/drawing/2014/main" id="{6707E2AE-FE7F-49B4-81FD-C42EDC0DF716}"/>
              </a:ext>
            </a:extLst>
          </p:cNvPr>
          <p:cNvSpPr/>
          <p:nvPr/>
        </p:nvSpPr>
        <p:spPr>
          <a:xfrm>
            <a:off x="10226947" y="1719238"/>
            <a:ext cx="87906" cy="4181578"/>
          </a:xfrm>
          <a:prstGeom prst="rect">
            <a:avLst/>
          </a:prstGeom>
          <a:solidFill>
            <a:srgbClr val="FFFFFF">
              <a:lumMod val="75000"/>
              <a:alpha val="1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0" name="Retângulo 159">
            <a:extLst>
              <a:ext uri="{FF2B5EF4-FFF2-40B4-BE49-F238E27FC236}">
                <a16:creationId xmlns:a16="http://schemas.microsoft.com/office/drawing/2014/main" id="{A3F6956D-4057-4B0C-BC56-9D349A9A26FE}"/>
              </a:ext>
            </a:extLst>
          </p:cNvPr>
          <p:cNvSpPr/>
          <p:nvPr/>
        </p:nvSpPr>
        <p:spPr>
          <a:xfrm>
            <a:off x="6816252" y="1719240"/>
            <a:ext cx="243937" cy="4181578"/>
          </a:xfrm>
          <a:prstGeom prst="rect">
            <a:avLst/>
          </a:prstGeom>
          <a:solidFill>
            <a:srgbClr val="FFFFFF">
              <a:lumMod val="75000"/>
              <a:alpha val="1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161" name="Gráfico 160">
            <a:extLst>
              <a:ext uri="{FF2B5EF4-FFF2-40B4-BE49-F238E27FC236}">
                <a16:creationId xmlns:a16="http://schemas.microsoft.com/office/drawing/2014/main" id="{99B750CB-67F5-498F-BC9E-6D5196E8B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7453674"/>
              </p:ext>
            </p:extLst>
          </p:nvPr>
        </p:nvGraphicFramePr>
        <p:xfrm>
          <a:off x="2044912" y="4860393"/>
          <a:ext cx="8414689" cy="1301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2" name="Google Shape;1171;p41">
            <a:extLst>
              <a:ext uri="{FF2B5EF4-FFF2-40B4-BE49-F238E27FC236}">
                <a16:creationId xmlns:a16="http://schemas.microsoft.com/office/drawing/2014/main" id="{7DF05CFB-3A5B-470C-A2A5-201C65B026A8}"/>
              </a:ext>
            </a:extLst>
          </p:cNvPr>
          <p:cNvSpPr/>
          <p:nvPr/>
        </p:nvSpPr>
        <p:spPr>
          <a:xfrm>
            <a:off x="-1205203" y="4682092"/>
            <a:ext cx="1992465" cy="1384402"/>
          </a:xfrm>
          <a:custGeom>
            <a:avLst/>
            <a:gdLst/>
            <a:ahLst/>
            <a:cxnLst/>
            <a:rect l="l" t="t" r="r" b="b"/>
            <a:pathLst>
              <a:path w="62106" h="33142" extrusionOk="0">
                <a:moveTo>
                  <a:pt x="0" y="0"/>
                </a:moveTo>
                <a:lnTo>
                  <a:pt x="14025" y="28865"/>
                </a:lnTo>
                <a:cubicBezTo>
                  <a:pt x="14025" y="28865"/>
                  <a:pt x="21644" y="33141"/>
                  <a:pt x="31053" y="33141"/>
                </a:cubicBezTo>
                <a:cubicBezTo>
                  <a:pt x="40482" y="33141"/>
                  <a:pt x="48101" y="28865"/>
                  <a:pt x="48101" y="28865"/>
                </a:cubicBezTo>
                <a:lnTo>
                  <a:pt x="62105" y="0"/>
                </a:lnTo>
                <a:lnTo>
                  <a:pt x="62105" y="0"/>
                </a:lnTo>
                <a:cubicBezTo>
                  <a:pt x="62105" y="0"/>
                  <a:pt x="48220" y="4496"/>
                  <a:pt x="31053" y="4496"/>
                </a:cubicBezTo>
                <a:cubicBezTo>
                  <a:pt x="13906" y="4496"/>
                  <a:pt x="1" y="0"/>
                  <a:pt x="0" y="0"/>
                </a:cubicBezTo>
                <a:close/>
              </a:path>
            </a:pathLst>
          </a:custGeom>
          <a:solidFill>
            <a:srgbClr val="9E63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  <a:defRPr/>
            </a:pPr>
            <a:endParaRPr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163" name="Google Shape;1172;p41">
            <a:extLst>
              <a:ext uri="{FF2B5EF4-FFF2-40B4-BE49-F238E27FC236}">
                <a16:creationId xmlns:a16="http://schemas.microsoft.com/office/drawing/2014/main" id="{010900F1-7969-4E1A-B909-5F6257A9C836}"/>
              </a:ext>
            </a:extLst>
          </p:cNvPr>
          <p:cNvSpPr/>
          <p:nvPr/>
        </p:nvSpPr>
        <p:spPr>
          <a:xfrm>
            <a:off x="-1205203" y="4493470"/>
            <a:ext cx="1992465" cy="376448"/>
          </a:xfrm>
          <a:custGeom>
            <a:avLst/>
            <a:gdLst/>
            <a:ahLst/>
            <a:cxnLst/>
            <a:rect l="l" t="t" r="r" b="b"/>
            <a:pathLst>
              <a:path w="62106" h="9012" extrusionOk="0">
                <a:moveTo>
                  <a:pt x="31053" y="1"/>
                </a:moveTo>
                <a:cubicBezTo>
                  <a:pt x="13905" y="1"/>
                  <a:pt x="0" y="4516"/>
                  <a:pt x="0" y="4516"/>
                </a:cubicBezTo>
                <a:cubicBezTo>
                  <a:pt x="0" y="4516"/>
                  <a:pt x="13905" y="9012"/>
                  <a:pt x="31053" y="9012"/>
                </a:cubicBezTo>
                <a:cubicBezTo>
                  <a:pt x="48200" y="9012"/>
                  <a:pt x="62105" y="4516"/>
                  <a:pt x="62105" y="4516"/>
                </a:cubicBezTo>
                <a:cubicBezTo>
                  <a:pt x="62105" y="4516"/>
                  <a:pt x="48200" y="1"/>
                  <a:pt x="31053" y="1"/>
                </a:cubicBez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4" name="Google Shape;1173;p41">
            <a:extLst>
              <a:ext uri="{FF2B5EF4-FFF2-40B4-BE49-F238E27FC236}">
                <a16:creationId xmlns:a16="http://schemas.microsoft.com/office/drawing/2014/main" id="{A09E719A-3B1D-4284-87BE-3743AA1E1774}"/>
              </a:ext>
            </a:extLst>
          </p:cNvPr>
          <p:cNvSpPr/>
          <p:nvPr/>
        </p:nvSpPr>
        <p:spPr>
          <a:xfrm>
            <a:off x="-1205203" y="4493470"/>
            <a:ext cx="1992465" cy="376448"/>
          </a:xfrm>
          <a:custGeom>
            <a:avLst/>
            <a:gdLst/>
            <a:ahLst/>
            <a:cxnLst/>
            <a:rect l="l" t="t" r="r" b="b"/>
            <a:pathLst>
              <a:path w="62106" h="9012" extrusionOk="0">
                <a:moveTo>
                  <a:pt x="31053" y="1"/>
                </a:moveTo>
                <a:cubicBezTo>
                  <a:pt x="13905" y="1"/>
                  <a:pt x="0" y="4516"/>
                  <a:pt x="0" y="4516"/>
                </a:cubicBezTo>
                <a:cubicBezTo>
                  <a:pt x="0" y="4516"/>
                  <a:pt x="13905" y="9012"/>
                  <a:pt x="31053" y="9012"/>
                </a:cubicBezTo>
                <a:cubicBezTo>
                  <a:pt x="48200" y="9012"/>
                  <a:pt x="62105" y="4516"/>
                  <a:pt x="62105" y="4516"/>
                </a:cubicBezTo>
                <a:cubicBezTo>
                  <a:pt x="62105" y="4516"/>
                  <a:pt x="48200" y="1"/>
                  <a:pt x="31053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5" name="Google Shape;1179;p41">
            <a:extLst>
              <a:ext uri="{FF2B5EF4-FFF2-40B4-BE49-F238E27FC236}">
                <a16:creationId xmlns:a16="http://schemas.microsoft.com/office/drawing/2014/main" id="{837B979F-C5F5-414A-A79B-AED00A013CE7}"/>
              </a:ext>
            </a:extLst>
          </p:cNvPr>
          <p:cNvSpPr/>
          <p:nvPr/>
        </p:nvSpPr>
        <p:spPr>
          <a:xfrm>
            <a:off x="-1947760" y="3034096"/>
            <a:ext cx="3086323" cy="332420"/>
          </a:xfrm>
          <a:custGeom>
            <a:avLst/>
            <a:gdLst/>
            <a:ahLst/>
            <a:cxnLst/>
            <a:rect l="l" t="t" r="r" b="b"/>
            <a:pathLst>
              <a:path w="96202" h="7958" extrusionOk="0">
                <a:moveTo>
                  <a:pt x="48101" y="0"/>
                </a:moveTo>
                <a:cubicBezTo>
                  <a:pt x="21544" y="0"/>
                  <a:pt x="0" y="3979"/>
                  <a:pt x="0" y="3979"/>
                </a:cubicBezTo>
                <a:cubicBezTo>
                  <a:pt x="0" y="3979"/>
                  <a:pt x="21544" y="7957"/>
                  <a:pt x="48101" y="7957"/>
                </a:cubicBezTo>
                <a:cubicBezTo>
                  <a:pt x="74677" y="7957"/>
                  <a:pt x="96201" y="3979"/>
                  <a:pt x="96201" y="3979"/>
                </a:cubicBezTo>
                <a:cubicBezTo>
                  <a:pt x="96201" y="3979"/>
                  <a:pt x="74677" y="0"/>
                  <a:pt x="48101" y="0"/>
                </a:cubicBez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6" name="Google Shape;1180;p41">
            <a:extLst>
              <a:ext uri="{FF2B5EF4-FFF2-40B4-BE49-F238E27FC236}">
                <a16:creationId xmlns:a16="http://schemas.microsoft.com/office/drawing/2014/main" id="{15B94CDD-6598-4D54-8F3D-D7FC5D741D2B}"/>
              </a:ext>
            </a:extLst>
          </p:cNvPr>
          <p:cNvSpPr/>
          <p:nvPr/>
        </p:nvSpPr>
        <p:spPr>
          <a:xfrm>
            <a:off x="-1947760" y="3034096"/>
            <a:ext cx="3086323" cy="332420"/>
          </a:xfrm>
          <a:custGeom>
            <a:avLst/>
            <a:gdLst/>
            <a:ahLst/>
            <a:cxnLst/>
            <a:rect l="l" t="t" r="r" b="b"/>
            <a:pathLst>
              <a:path w="96202" h="7958" extrusionOk="0">
                <a:moveTo>
                  <a:pt x="48101" y="0"/>
                </a:moveTo>
                <a:cubicBezTo>
                  <a:pt x="21544" y="0"/>
                  <a:pt x="0" y="3979"/>
                  <a:pt x="0" y="3979"/>
                </a:cubicBezTo>
                <a:cubicBezTo>
                  <a:pt x="0" y="3979"/>
                  <a:pt x="21544" y="7957"/>
                  <a:pt x="48101" y="7957"/>
                </a:cubicBezTo>
                <a:cubicBezTo>
                  <a:pt x="74677" y="7957"/>
                  <a:pt x="96201" y="3979"/>
                  <a:pt x="96201" y="3979"/>
                </a:cubicBezTo>
                <a:cubicBezTo>
                  <a:pt x="96201" y="3979"/>
                  <a:pt x="74677" y="0"/>
                  <a:pt x="48101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7" name="Google Shape;1181;p41">
            <a:extLst>
              <a:ext uri="{FF2B5EF4-FFF2-40B4-BE49-F238E27FC236}">
                <a16:creationId xmlns:a16="http://schemas.microsoft.com/office/drawing/2014/main" id="{A700C066-9F59-4486-B6BB-E55DA0C74644}"/>
              </a:ext>
            </a:extLst>
          </p:cNvPr>
          <p:cNvSpPr/>
          <p:nvPr/>
        </p:nvSpPr>
        <p:spPr>
          <a:xfrm>
            <a:off x="-1947760" y="3200247"/>
            <a:ext cx="3086323" cy="1391086"/>
          </a:xfrm>
          <a:custGeom>
            <a:avLst/>
            <a:gdLst/>
            <a:ahLst/>
            <a:cxnLst/>
            <a:rect l="l" t="t" r="r" b="b"/>
            <a:pathLst>
              <a:path w="96202" h="33302" extrusionOk="0">
                <a:moveTo>
                  <a:pt x="0" y="1"/>
                </a:moveTo>
                <a:lnTo>
                  <a:pt x="14025" y="28865"/>
                </a:lnTo>
                <a:cubicBezTo>
                  <a:pt x="14025" y="28865"/>
                  <a:pt x="29282" y="33301"/>
                  <a:pt x="48101" y="33301"/>
                </a:cubicBezTo>
                <a:cubicBezTo>
                  <a:pt x="66939" y="33301"/>
                  <a:pt x="82197" y="28865"/>
                  <a:pt x="82197" y="28865"/>
                </a:cubicBezTo>
                <a:lnTo>
                  <a:pt x="96201" y="1"/>
                </a:lnTo>
                <a:lnTo>
                  <a:pt x="96201" y="1"/>
                </a:lnTo>
                <a:cubicBezTo>
                  <a:pt x="96200" y="1"/>
                  <a:pt x="74677" y="3979"/>
                  <a:pt x="48101" y="3979"/>
                </a:cubicBezTo>
                <a:cubicBezTo>
                  <a:pt x="21544" y="3979"/>
                  <a:pt x="1" y="1"/>
                  <a:pt x="0" y="1"/>
                </a:cubicBezTo>
                <a:close/>
              </a:path>
            </a:pathLst>
          </a:custGeom>
          <a:solidFill>
            <a:srgbClr val="5E2C7A"/>
          </a:solidFill>
          <a:ln>
            <a:noFill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  <a:defRPr/>
            </a:pPr>
            <a:endParaRPr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168" name="Google Shape;1187;p41">
            <a:extLst>
              <a:ext uri="{FF2B5EF4-FFF2-40B4-BE49-F238E27FC236}">
                <a16:creationId xmlns:a16="http://schemas.microsoft.com/office/drawing/2014/main" id="{EA3AFD34-4DFD-451F-8CA0-003020EBDD90}"/>
              </a:ext>
            </a:extLst>
          </p:cNvPr>
          <p:cNvSpPr/>
          <p:nvPr/>
        </p:nvSpPr>
        <p:spPr>
          <a:xfrm>
            <a:off x="-2685545" y="1500754"/>
            <a:ext cx="4179538" cy="437937"/>
          </a:xfrm>
          <a:custGeom>
            <a:avLst/>
            <a:gdLst/>
            <a:ahLst/>
            <a:cxnLst/>
            <a:rect l="l" t="t" r="r" b="b"/>
            <a:pathLst>
              <a:path w="130278" h="10484" extrusionOk="0">
                <a:moveTo>
                  <a:pt x="65129" y="0"/>
                </a:moveTo>
                <a:cubicBezTo>
                  <a:pt x="29163" y="0"/>
                  <a:pt x="0" y="5232"/>
                  <a:pt x="0" y="5232"/>
                </a:cubicBezTo>
                <a:cubicBezTo>
                  <a:pt x="0" y="5232"/>
                  <a:pt x="29163" y="10484"/>
                  <a:pt x="65129" y="10484"/>
                </a:cubicBezTo>
                <a:cubicBezTo>
                  <a:pt x="101115" y="10484"/>
                  <a:pt x="130277" y="5232"/>
                  <a:pt x="130277" y="5232"/>
                </a:cubicBezTo>
                <a:cubicBezTo>
                  <a:pt x="130277" y="5232"/>
                  <a:pt x="101115" y="0"/>
                  <a:pt x="65129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9" name="Google Shape;1188;p41">
            <a:extLst>
              <a:ext uri="{FF2B5EF4-FFF2-40B4-BE49-F238E27FC236}">
                <a16:creationId xmlns:a16="http://schemas.microsoft.com/office/drawing/2014/main" id="{24967323-BEAE-45C4-B070-259CD7696ADF}"/>
              </a:ext>
            </a:extLst>
          </p:cNvPr>
          <p:cNvSpPr/>
          <p:nvPr/>
        </p:nvSpPr>
        <p:spPr>
          <a:xfrm>
            <a:off x="-2685545" y="1719239"/>
            <a:ext cx="4179538" cy="1425131"/>
          </a:xfrm>
          <a:custGeom>
            <a:avLst/>
            <a:gdLst/>
            <a:ahLst/>
            <a:cxnLst/>
            <a:rect l="l" t="t" r="r" b="b"/>
            <a:pathLst>
              <a:path w="130278" h="34117" extrusionOk="0">
                <a:moveTo>
                  <a:pt x="0" y="1"/>
                </a:moveTo>
                <a:lnTo>
                  <a:pt x="14005" y="28865"/>
                </a:lnTo>
                <a:cubicBezTo>
                  <a:pt x="14005" y="28865"/>
                  <a:pt x="36901" y="34117"/>
                  <a:pt x="65129" y="34117"/>
                </a:cubicBezTo>
                <a:cubicBezTo>
                  <a:pt x="93376" y="34117"/>
                  <a:pt x="116273" y="28865"/>
                  <a:pt x="116273" y="28865"/>
                </a:cubicBezTo>
                <a:lnTo>
                  <a:pt x="130277" y="1"/>
                </a:lnTo>
                <a:lnTo>
                  <a:pt x="130277" y="1"/>
                </a:lnTo>
                <a:cubicBezTo>
                  <a:pt x="130276" y="1"/>
                  <a:pt x="101114" y="5253"/>
                  <a:pt x="65129" y="5253"/>
                </a:cubicBezTo>
                <a:cubicBezTo>
                  <a:pt x="29163" y="5253"/>
                  <a:pt x="1" y="1"/>
                  <a:pt x="0" y="1"/>
                </a:cubicBezTo>
                <a:close/>
              </a:path>
            </a:pathLst>
          </a:custGeom>
          <a:solidFill>
            <a:srgbClr val="3C0E6B"/>
          </a:solidFill>
          <a:ln>
            <a:noFill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  <a:defRPr/>
            </a:pPr>
            <a:endParaRPr b="1" kern="0" dirty="0">
              <a:solidFill>
                <a:srgbClr val="FFFFFF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70" name="Título 4">
            <a:extLst>
              <a:ext uri="{FF2B5EF4-FFF2-40B4-BE49-F238E27FC236}">
                <a16:creationId xmlns:a16="http://schemas.microsoft.com/office/drawing/2014/main" id="{DDCC89FC-5194-417A-8587-B83864DE581C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Evolução das principais métricas e primeiras análises</a:t>
            </a:r>
          </a:p>
        </p:txBody>
      </p:sp>
      <p:graphicFrame>
        <p:nvGraphicFramePr>
          <p:cNvPr id="171" name="Gráfico 170">
            <a:extLst>
              <a:ext uri="{FF2B5EF4-FFF2-40B4-BE49-F238E27FC236}">
                <a16:creationId xmlns:a16="http://schemas.microsoft.com/office/drawing/2014/main" id="{ACB8F1B8-0188-4FA1-9B11-65B82B008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7704534"/>
              </p:ext>
            </p:extLst>
          </p:nvPr>
        </p:nvGraphicFramePr>
        <p:xfrm>
          <a:off x="1964436" y="1728008"/>
          <a:ext cx="8495165" cy="1182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2" name="Gráfico 171">
            <a:extLst>
              <a:ext uri="{FF2B5EF4-FFF2-40B4-BE49-F238E27FC236}">
                <a16:creationId xmlns:a16="http://schemas.microsoft.com/office/drawing/2014/main" id="{C58D6553-519E-4886-ADA3-501ED38F26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355185"/>
              </p:ext>
            </p:extLst>
          </p:nvPr>
        </p:nvGraphicFramePr>
        <p:xfrm>
          <a:off x="2044912" y="3154218"/>
          <a:ext cx="8414689" cy="1301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CE5F3DB2-F25E-49F7-A2BB-3EBD47E592B9}"/>
              </a:ext>
            </a:extLst>
          </p:cNvPr>
          <p:cNvSpPr txBox="1"/>
          <p:nvPr/>
        </p:nvSpPr>
        <p:spPr>
          <a:xfrm>
            <a:off x="544921" y="1316144"/>
            <a:ext cx="1840140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3C0E6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# Prescrições</a:t>
            </a:r>
            <a:endParaRPr lang="pt-BR" sz="1000" dirty="0">
              <a:solidFill>
                <a:srgbClr val="3C0E6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3C4DBE4F-FBD3-43FD-B969-3A1D02A798C0}"/>
              </a:ext>
            </a:extLst>
          </p:cNvPr>
          <p:cNvSpPr txBox="1"/>
          <p:nvPr/>
        </p:nvSpPr>
        <p:spPr>
          <a:xfrm>
            <a:off x="544921" y="2917941"/>
            <a:ext cx="1840140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5E2C7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% Abertura</a:t>
            </a:r>
            <a:endParaRPr lang="pt-BR" sz="1000" dirty="0">
              <a:solidFill>
                <a:srgbClr val="5E2C7A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896E60A2-E24E-4120-93E3-30E17F184010}"/>
              </a:ext>
            </a:extLst>
          </p:cNvPr>
          <p:cNvSpPr txBox="1"/>
          <p:nvPr/>
        </p:nvSpPr>
        <p:spPr>
          <a:xfrm>
            <a:off x="544921" y="4433234"/>
            <a:ext cx="1840140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9E639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% Conversão</a:t>
            </a:r>
            <a:endParaRPr lang="pt-BR" sz="1000" dirty="0">
              <a:solidFill>
                <a:srgbClr val="9E639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76" name="Gráfico 175">
            <a:extLst>
              <a:ext uri="{FF2B5EF4-FFF2-40B4-BE49-F238E27FC236}">
                <a16:creationId xmlns:a16="http://schemas.microsoft.com/office/drawing/2014/main" id="{23FA40AC-C1A1-4F1A-973B-069643451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298374"/>
              </p:ext>
            </p:extLst>
          </p:nvPr>
        </p:nvGraphicFramePr>
        <p:xfrm>
          <a:off x="2054437" y="4681694"/>
          <a:ext cx="8414689" cy="1301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4686CF31-ED10-48E1-B8DD-DB9A41C312E8}"/>
              </a:ext>
            </a:extLst>
          </p:cNvPr>
          <p:cNvSpPr txBox="1"/>
          <p:nvPr/>
        </p:nvSpPr>
        <p:spPr>
          <a:xfrm>
            <a:off x="6607042" y="1435559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" dirty="0">
                <a:solidFill>
                  <a:srgbClr val="0A2B25"/>
                </a:solidFill>
              </a:rPr>
              <a:t>Período de </a:t>
            </a:r>
          </a:p>
          <a:p>
            <a:pPr algn="ctr"/>
            <a:r>
              <a:rPr lang="pt-BR" sz="800" dirty="0">
                <a:solidFill>
                  <a:srgbClr val="0A2B25"/>
                </a:solidFill>
              </a:rPr>
              <a:t>Feriado</a:t>
            </a: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3C6DADD6-38C9-44FB-BB8E-34BA3E8EC191}"/>
              </a:ext>
            </a:extLst>
          </p:cNvPr>
          <p:cNvSpPr txBox="1"/>
          <p:nvPr/>
        </p:nvSpPr>
        <p:spPr>
          <a:xfrm>
            <a:off x="9998697" y="1435559"/>
            <a:ext cx="550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" dirty="0">
                <a:solidFill>
                  <a:srgbClr val="0A2B25"/>
                </a:solidFill>
              </a:rPr>
              <a:t>Feriado </a:t>
            </a:r>
          </a:p>
          <a:p>
            <a:pPr algn="ctr"/>
            <a:r>
              <a:rPr lang="pt-BR" sz="800" dirty="0">
                <a:solidFill>
                  <a:srgbClr val="0A2B25"/>
                </a:solidFill>
              </a:rPr>
              <a:t>Nacional</a:t>
            </a: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1761E136-14FD-44E2-A1E3-617D5579EEAD}"/>
              </a:ext>
            </a:extLst>
          </p:cNvPr>
          <p:cNvSpPr txBox="1"/>
          <p:nvPr/>
        </p:nvSpPr>
        <p:spPr>
          <a:xfrm>
            <a:off x="2236822" y="1435559"/>
            <a:ext cx="550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" dirty="0">
                <a:solidFill>
                  <a:srgbClr val="0A2B25"/>
                </a:solidFill>
              </a:rPr>
              <a:t>Feriado </a:t>
            </a:r>
          </a:p>
          <a:p>
            <a:pPr algn="ctr"/>
            <a:r>
              <a:rPr lang="pt-BR" sz="800" dirty="0">
                <a:solidFill>
                  <a:srgbClr val="0A2B25"/>
                </a:solidFill>
              </a:rPr>
              <a:t>Nacional</a:t>
            </a:r>
          </a:p>
        </p:txBody>
      </p:sp>
      <p:cxnSp>
        <p:nvCxnSpPr>
          <p:cNvPr id="181" name="Conector reto 180">
            <a:extLst>
              <a:ext uri="{FF2B5EF4-FFF2-40B4-BE49-F238E27FC236}">
                <a16:creationId xmlns:a16="http://schemas.microsoft.com/office/drawing/2014/main" id="{D7E056B8-17B0-49DA-A107-DAE6E4CDBCC0}"/>
              </a:ext>
            </a:extLst>
          </p:cNvPr>
          <p:cNvCxnSpPr>
            <a:cxnSpLocks/>
          </p:cNvCxnSpPr>
          <p:nvPr/>
        </p:nvCxnSpPr>
        <p:spPr>
          <a:xfrm>
            <a:off x="1003023" y="5188636"/>
            <a:ext cx="242030" cy="0"/>
          </a:xfrm>
          <a:prstGeom prst="line">
            <a:avLst/>
          </a:prstGeom>
          <a:noFill/>
          <a:ln w="38100" cap="flat" cmpd="sng" algn="ctr">
            <a:solidFill>
              <a:srgbClr val="9E6395"/>
            </a:solidFill>
            <a:prstDash val="solid"/>
          </a:ln>
          <a:effectLst/>
        </p:spPr>
      </p:cxnSp>
      <p:cxnSp>
        <p:nvCxnSpPr>
          <p:cNvPr id="182" name="Conector reto 181">
            <a:extLst>
              <a:ext uri="{FF2B5EF4-FFF2-40B4-BE49-F238E27FC236}">
                <a16:creationId xmlns:a16="http://schemas.microsoft.com/office/drawing/2014/main" id="{BF33BDD4-D5BB-4B61-8B88-4D0F8F7A8DD5}"/>
              </a:ext>
            </a:extLst>
          </p:cNvPr>
          <p:cNvCxnSpPr>
            <a:cxnSpLocks/>
          </p:cNvCxnSpPr>
          <p:nvPr/>
        </p:nvCxnSpPr>
        <p:spPr>
          <a:xfrm>
            <a:off x="1003023" y="5427729"/>
            <a:ext cx="242030" cy="0"/>
          </a:xfrm>
          <a:prstGeom prst="line">
            <a:avLst/>
          </a:prstGeom>
          <a:noFill/>
          <a:ln w="38100" cap="flat" cmpd="sng" algn="ctr">
            <a:solidFill>
              <a:srgbClr val="FFB6BF"/>
            </a:solidFill>
            <a:prstDash val="solid"/>
          </a:ln>
          <a:effectLst/>
        </p:spPr>
      </p:cxn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589EB47B-2291-4460-90C3-D871A2E87F4C}"/>
              </a:ext>
            </a:extLst>
          </p:cNvPr>
          <p:cNvSpPr txBox="1"/>
          <p:nvPr/>
        </p:nvSpPr>
        <p:spPr>
          <a:xfrm>
            <a:off x="1345169" y="5067424"/>
            <a:ext cx="6094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 dirty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</a:rPr>
              <a:t>Farmácia</a:t>
            </a: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44A2900A-40FA-4E70-B375-5007F5E035B6}"/>
              </a:ext>
            </a:extLst>
          </p:cNvPr>
          <p:cNvSpPr txBox="1"/>
          <p:nvPr/>
        </p:nvSpPr>
        <p:spPr>
          <a:xfrm>
            <a:off x="1349180" y="5306517"/>
            <a:ext cx="6222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 dirty="0" err="1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</a:rPr>
              <a:t>MktPlace</a:t>
            </a:r>
            <a:endParaRPr kumimoji="0" lang="pt-BR" sz="900" b="0" i="0" u="none" strike="noStrike" kern="0" cap="none" spc="0" normalizeH="0" baseline="0" noProof="0" dirty="0">
              <a:ln>
                <a:noFill/>
              </a:ln>
              <a:solidFill>
                <a:srgbClr val="0A2B25"/>
              </a:solidFill>
              <a:effectLst/>
              <a:uLnTx/>
              <a:uFillTx/>
            </a:endParaRPr>
          </a:p>
        </p:txBody>
      </p:sp>
      <p:sp>
        <p:nvSpPr>
          <p:cNvPr id="185" name="Retângulo 184">
            <a:extLst>
              <a:ext uri="{FF2B5EF4-FFF2-40B4-BE49-F238E27FC236}">
                <a16:creationId xmlns:a16="http://schemas.microsoft.com/office/drawing/2014/main" id="{FC24A130-266F-4069-AED4-A4D760210D40}"/>
              </a:ext>
            </a:extLst>
          </p:cNvPr>
          <p:cNvSpPr/>
          <p:nvPr/>
        </p:nvSpPr>
        <p:spPr>
          <a:xfrm>
            <a:off x="937862" y="5022812"/>
            <a:ext cx="1022382" cy="550888"/>
          </a:xfrm>
          <a:prstGeom prst="rect">
            <a:avLst/>
          </a:prstGeom>
          <a:noFill/>
          <a:ln w="6350" cap="flat" cmpd="sng" algn="ctr">
            <a:solidFill>
              <a:srgbClr val="0A2B25">
                <a:alpha val="89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734E3D41-1E7D-4A7D-85E6-11570D00835D}"/>
              </a:ext>
            </a:extLst>
          </p:cNvPr>
          <p:cNvSpPr/>
          <p:nvPr/>
        </p:nvSpPr>
        <p:spPr>
          <a:xfrm>
            <a:off x="10558712" y="1728008"/>
            <a:ext cx="1651013" cy="1162780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7" name="Retângulo 186">
            <a:extLst>
              <a:ext uri="{FF2B5EF4-FFF2-40B4-BE49-F238E27FC236}">
                <a16:creationId xmlns:a16="http://schemas.microsoft.com/office/drawing/2014/main" id="{65234A5A-102E-4943-AF25-331FB37A0F75}"/>
              </a:ext>
            </a:extLst>
          </p:cNvPr>
          <p:cNvSpPr/>
          <p:nvPr/>
        </p:nvSpPr>
        <p:spPr>
          <a:xfrm>
            <a:off x="10558712" y="3200247"/>
            <a:ext cx="1651013" cy="1205118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8" name="Retângulo 187">
            <a:extLst>
              <a:ext uri="{FF2B5EF4-FFF2-40B4-BE49-F238E27FC236}">
                <a16:creationId xmlns:a16="http://schemas.microsoft.com/office/drawing/2014/main" id="{90F9215E-DE22-47EC-B07B-A60E9D041689}"/>
              </a:ext>
            </a:extLst>
          </p:cNvPr>
          <p:cNvSpPr/>
          <p:nvPr/>
        </p:nvSpPr>
        <p:spPr>
          <a:xfrm>
            <a:off x="10558712" y="4681694"/>
            <a:ext cx="1651013" cy="1206213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8C3D3DFD-EDE5-4F3B-96AF-39527ECEB03B}"/>
              </a:ext>
            </a:extLst>
          </p:cNvPr>
          <p:cNvSpPr txBox="1"/>
          <p:nvPr/>
        </p:nvSpPr>
        <p:spPr>
          <a:xfrm>
            <a:off x="11064338" y="4842128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9E6395"/>
                </a:solidFill>
              </a:rPr>
              <a:t>11,8%</a:t>
            </a:r>
          </a:p>
        </p:txBody>
      </p:sp>
      <p:sp>
        <p:nvSpPr>
          <p:cNvPr id="190" name="CaixaDeTexto 189">
            <a:extLst>
              <a:ext uri="{FF2B5EF4-FFF2-40B4-BE49-F238E27FC236}">
                <a16:creationId xmlns:a16="http://schemas.microsoft.com/office/drawing/2014/main" id="{1ADC806D-4188-4962-B121-DEB208583727}"/>
              </a:ext>
            </a:extLst>
          </p:cNvPr>
          <p:cNvSpPr txBox="1"/>
          <p:nvPr/>
        </p:nvSpPr>
        <p:spPr>
          <a:xfrm>
            <a:off x="11110023" y="531488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algn="ctr">
              <a:defRPr sz="1200" b="1">
                <a:solidFill>
                  <a:srgbClr val="9E6395"/>
                </a:solidFill>
              </a:defRPr>
            </a:lvl1pPr>
          </a:lstStyle>
          <a:p>
            <a:r>
              <a:rPr lang="pt-BR" sz="1400" dirty="0">
                <a:solidFill>
                  <a:srgbClr val="FFB6BF"/>
                </a:solidFill>
              </a:rPr>
              <a:t>2,1%</a:t>
            </a:r>
          </a:p>
        </p:txBody>
      </p:sp>
      <p:sp>
        <p:nvSpPr>
          <p:cNvPr id="191" name="CaixaDeTexto 190">
            <a:extLst>
              <a:ext uri="{FF2B5EF4-FFF2-40B4-BE49-F238E27FC236}">
                <a16:creationId xmlns:a16="http://schemas.microsoft.com/office/drawing/2014/main" id="{BABC0268-A51D-41A1-87FE-D5125BC6D176}"/>
              </a:ext>
            </a:extLst>
          </p:cNvPr>
          <p:cNvSpPr txBox="1"/>
          <p:nvPr/>
        </p:nvSpPr>
        <p:spPr>
          <a:xfrm>
            <a:off x="10919267" y="5067796"/>
            <a:ext cx="9268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Conversão Farmácia</a:t>
            </a:r>
          </a:p>
        </p:txBody>
      </p: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D221EDC5-2508-421C-ABD4-3B5036303126}"/>
              </a:ext>
            </a:extLst>
          </p:cNvPr>
          <p:cNvSpPr txBox="1"/>
          <p:nvPr/>
        </p:nvSpPr>
        <p:spPr>
          <a:xfrm>
            <a:off x="10916061" y="5539430"/>
            <a:ext cx="9332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Conversão </a:t>
            </a:r>
            <a:r>
              <a:rPr lang="pt-BR" sz="700" dirty="0" err="1">
                <a:solidFill>
                  <a:srgbClr val="0A2B25"/>
                </a:solidFill>
              </a:rPr>
              <a:t>MktPlace</a:t>
            </a:r>
            <a:endParaRPr lang="pt-BR" sz="700" dirty="0">
              <a:solidFill>
                <a:srgbClr val="0A2B25"/>
              </a:solidFill>
            </a:endParaRP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41041877-89FD-415B-AE38-D9F8073CCF2B}"/>
              </a:ext>
            </a:extLst>
          </p:cNvPr>
          <p:cNvSpPr txBox="1"/>
          <p:nvPr/>
        </p:nvSpPr>
        <p:spPr>
          <a:xfrm>
            <a:off x="11037889" y="1744186"/>
            <a:ext cx="689611" cy="307777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3C0E6B"/>
                </a:solidFill>
                <a:effectLst/>
                <a:uLnTx/>
                <a:uFillTx/>
              </a:rPr>
              <a:t>70.907</a:t>
            </a:r>
          </a:p>
        </p:txBody>
      </p:sp>
      <p:sp>
        <p:nvSpPr>
          <p:cNvPr id="198" name="CaixaDeTexto 197">
            <a:extLst>
              <a:ext uri="{FF2B5EF4-FFF2-40B4-BE49-F238E27FC236}">
                <a16:creationId xmlns:a16="http://schemas.microsoft.com/office/drawing/2014/main" id="{A4FCF2D5-58AA-4F0E-BB28-440E59ECB7C2}"/>
              </a:ext>
            </a:extLst>
          </p:cNvPr>
          <p:cNvSpPr txBox="1"/>
          <p:nvPr/>
        </p:nvSpPr>
        <p:spPr>
          <a:xfrm>
            <a:off x="11037890" y="2122622"/>
            <a:ext cx="689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algn="ctr">
              <a:defRPr sz="1200" b="1">
                <a:solidFill>
                  <a:srgbClr val="9E6395"/>
                </a:solidFill>
              </a:defRPr>
            </a:lvl1pPr>
          </a:lstStyle>
          <a:p>
            <a:r>
              <a:rPr lang="pt-BR" sz="1400" dirty="0">
                <a:solidFill>
                  <a:srgbClr val="3C0E6B"/>
                </a:solidFill>
              </a:rPr>
              <a:t>68.767</a:t>
            </a:r>
          </a:p>
        </p:txBody>
      </p:sp>
      <p:sp>
        <p:nvSpPr>
          <p:cNvPr id="199" name="CaixaDeTexto 198">
            <a:extLst>
              <a:ext uri="{FF2B5EF4-FFF2-40B4-BE49-F238E27FC236}">
                <a16:creationId xmlns:a16="http://schemas.microsoft.com/office/drawing/2014/main" id="{4BF215A1-FF54-4789-835C-78CFA6C3B4E9}"/>
              </a:ext>
            </a:extLst>
          </p:cNvPr>
          <p:cNvSpPr txBox="1"/>
          <p:nvPr/>
        </p:nvSpPr>
        <p:spPr>
          <a:xfrm>
            <a:off x="10912856" y="1969854"/>
            <a:ext cx="9396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Prescrições Distintas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53CA4520-D40C-4EDA-B574-8E410DE43D83}"/>
              </a:ext>
            </a:extLst>
          </p:cNvPr>
          <p:cNvSpPr txBox="1"/>
          <p:nvPr/>
        </p:nvSpPr>
        <p:spPr>
          <a:xfrm>
            <a:off x="10972968" y="2347170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Clientes Distintos</a:t>
            </a:r>
          </a:p>
          <a:p>
            <a:pPr algn="ctr"/>
            <a:endParaRPr lang="pt-BR" sz="700" dirty="0">
              <a:solidFill>
                <a:srgbClr val="0A2B25"/>
              </a:solidFill>
            </a:endParaRPr>
          </a:p>
        </p:txBody>
      </p:sp>
      <p:sp>
        <p:nvSpPr>
          <p:cNvPr id="227" name="CaixaDeTexto 226">
            <a:extLst>
              <a:ext uri="{FF2B5EF4-FFF2-40B4-BE49-F238E27FC236}">
                <a16:creationId xmlns:a16="http://schemas.microsoft.com/office/drawing/2014/main" id="{B9A4B6E2-0049-418A-9E44-35A1A833D19A}"/>
              </a:ext>
            </a:extLst>
          </p:cNvPr>
          <p:cNvSpPr txBox="1"/>
          <p:nvPr/>
        </p:nvSpPr>
        <p:spPr>
          <a:xfrm>
            <a:off x="217985" y="6398902"/>
            <a:ext cx="483658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" dirty="0">
                <a:solidFill>
                  <a:srgbClr val="0A2B25"/>
                </a:solidFill>
              </a:rPr>
              <a:t>https://agenciabrasil.ebc.com.br/radioagencia-nacional/saude/audio/2025-04/boletim-infogripe-aumentam-hospitalizacoes-de-pacientes-com-gripe</a:t>
            </a:r>
          </a:p>
        </p:txBody>
      </p:sp>
      <p:sp>
        <p:nvSpPr>
          <p:cNvPr id="228" name="CaixaDeTexto 227">
            <a:extLst>
              <a:ext uri="{FF2B5EF4-FFF2-40B4-BE49-F238E27FC236}">
                <a16:creationId xmlns:a16="http://schemas.microsoft.com/office/drawing/2014/main" id="{251CE424-1712-443A-B711-85AB85020955}"/>
              </a:ext>
            </a:extLst>
          </p:cNvPr>
          <p:cNvSpPr txBox="1"/>
          <p:nvPr/>
        </p:nvSpPr>
        <p:spPr>
          <a:xfrm>
            <a:off x="217985" y="6578035"/>
            <a:ext cx="382027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" dirty="0">
                <a:solidFill>
                  <a:srgbClr val="0A2B25"/>
                </a:solidFill>
              </a:rPr>
              <a:t>https://fiocruz.br/noticia/2025/04/infogripe-alerta-para-aumento-de-hospitalizacoes-e-de-casos-graves-de-srag-em</a:t>
            </a:r>
          </a:p>
        </p:txBody>
      </p:sp>
      <p:sp>
        <p:nvSpPr>
          <p:cNvPr id="229" name="CaixaDeTexto 228">
            <a:extLst>
              <a:ext uri="{FF2B5EF4-FFF2-40B4-BE49-F238E27FC236}">
                <a16:creationId xmlns:a16="http://schemas.microsoft.com/office/drawing/2014/main" id="{A341F862-3351-40AC-973C-0DBAF4B3FFD1}"/>
              </a:ext>
            </a:extLst>
          </p:cNvPr>
          <p:cNvSpPr txBox="1"/>
          <p:nvPr/>
        </p:nvSpPr>
        <p:spPr>
          <a:xfrm>
            <a:off x="11037890" y="2482600"/>
            <a:ext cx="689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algn="ctr">
              <a:defRPr sz="1200" b="1">
                <a:solidFill>
                  <a:srgbClr val="9E6395"/>
                </a:solidFill>
              </a:defRPr>
            </a:lvl1pPr>
          </a:lstStyle>
          <a:p>
            <a:r>
              <a:rPr lang="pt-BR" sz="1400" dirty="0">
                <a:solidFill>
                  <a:srgbClr val="3C0E6B"/>
                </a:solidFill>
              </a:rPr>
              <a:t>73.929</a:t>
            </a:r>
          </a:p>
        </p:txBody>
      </p:sp>
      <p:sp>
        <p:nvSpPr>
          <p:cNvPr id="230" name="CaixaDeTexto 229">
            <a:extLst>
              <a:ext uri="{FF2B5EF4-FFF2-40B4-BE49-F238E27FC236}">
                <a16:creationId xmlns:a16="http://schemas.microsoft.com/office/drawing/2014/main" id="{30241219-12BD-43BD-BBEF-B94E60D42DA8}"/>
              </a:ext>
            </a:extLst>
          </p:cNvPr>
          <p:cNvSpPr txBox="1"/>
          <p:nvPr/>
        </p:nvSpPr>
        <p:spPr>
          <a:xfrm>
            <a:off x="11008239" y="2707148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Itens Prescritos</a:t>
            </a:r>
          </a:p>
          <a:p>
            <a:pPr algn="ctr"/>
            <a:endParaRPr lang="pt-BR" sz="700" dirty="0">
              <a:solidFill>
                <a:srgbClr val="0A2B25"/>
              </a:solidFill>
            </a:endParaRPr>
          </a:p>
        </p:txBody>
      </p:sp>
      <p:sp>
        <p:nvSpPr>
          <p:cNvPr id="231" name="CaixaDeTexto 230">
            <a:extLst>
              <a:ext uri="{FF2B5EF4-FFF2-40B4-BE49-F238E27FC236}">
                <a16:creationId xmlns:a16="http://schemas.microsoft.com/office/drawing/2014/main" id="{E86C467B-688F-42F0-A3FB-4DEA9CF39CEF}"/>
              </a:ext>
            </a:extLst>
          </p:cNvPr>
          <p:cNvSpPr txBox="1"/>
          <p:nvPr/>
        </p:nvSpPr>
        <p:spPr>
          <a:xfrm>
            <a:off x="11064338" y="3228154"/>
            <a:ext cx="636713" cy="307777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5E2C7A"/>
                </a:solidFill>
              </a:rPr>
              <a:t>50,4%</a:t>
            </a:r>
          </a:p>
        </p:txBody>
      </p:sp>
      <p:sp>
        <p:nvSpPr>
          <p:cNvPr id="232" name="CaixaDeTexto 231">
            <a:extLst>
              <a:ext uri="{FF2B5EF4-FFF2-40B4-BE49-F238E27FC236}">
                <a16:creationId xmlns:a16="http://schemas.microsoft.com/office/drawing/2014/main" id="{A4F92FF7-912F-4C74-B946-2D2A35E60484}"/>
              </a:ext>
            </a:extLst>
          </p:cNvPr>
          <p:cNvSpPr txBox="1"/>
          <p:nvPr/>
        </p:nvSpPr>
        <p:spPr>
          <a:xfrm>
            <a:off x="11037890" y="3580247"/>
            <a:ext cx="689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algn="ctr">
              <a:defRPr sz="1200" b="1">
                <a:solidFill>
                  <a:srgbClr val="9E6395"/>
                </a:solidFill>
              </a:defRPr>
            </a:lvl1pPr>
          </a:lstStyle>
          <a:p>
            <a:r>
              <a:rPr lang="pt-BR" sz="1400" dirty="0">
                <a:solidFill>
                  <a:srgbClr val="5E2C7A"/>
                </a:solidFill>
              </a:rPr>
              <a:t>35.772</a:t>
            </a:r>
          </a:p>
        </p:txBody>
      </p:sp>
      <p:sp>
        <p:nvSpPr>
          <p:cNvPr id="233" name="CaixaDeTexto 232">
            <a:extLst>
              <a:ext uri="{FF2B5EF4-FFF2-40B4-BE49-F238E27FC236}">
                <a16:creationId xmlns:a16="http://schemas.microsoft.com/office/drawing/2014/main" id="{4EEC66DB-D036-4904-8BB9-42D274E644ED}"/>
              </a:ext>
            </a:extLst>
          </p:cNvPr>
          <p:cNvSpPr txBox="1"/>
          <p:nvPr/>
        </p:nvSpPr>
        <p:spPr>
          <a:xfrm>
            <a:off x="10976174" y="3453822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Taxa de Abertura</a:t>
            </a:r>
          </a:p>
        </p:txBody>
      </p:sp>
      <p:sp>
        <p:nvSpPr>
          <p:cNvPr id="234" name="CaixaDeTexto 233">
            <a:extLst>
              <a:ext uri="{FF2B5EF4-FFF2-40B4-BE49-F238E27FC236}">
                <a16:creationId xmlns:a16="http://schemas.microsoft.com/office/drawing/2014/main" id="{94926325-DB8A-4826-9EC8-6C55407B73EB}"/>
              </a:ext>
            </a:extLst>
          </p:cNvPr>
          <p:cNvSpPr txBox="1"/>
          <p:nvPr/>
        </p:nvSpPr>
        <p:spPr>
          <a:xfrm>
            <a:off x="10912855" y="3760545"/>
            <a:ext cx="93968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Prescrições Distintas</a:t>
            </a:r>
          </a:p>
          <a:p>
            <a:pPr algn="ctr"/>
            <a:r>
              <a:rPr lang="pt-BR" sz="700" dirty="0">
                <a:solidFill>
                  <a:srgbClr val="0A2B25"/>
                </a:solidFill>
              </a:rPr>
              <a:t>Visualizadas</a:t>
            </a:r>
          </a:p>
          <a:p>
            <a:pPr algn="ctr"/>
            <a:endParaRPr lang="pt-BR" sz="700" dirty="0">
              <a:solidFill>
                <a:srgbClr val="0A2B25"/>
              </a:solidFill>
            </a:endParaRPr>
          </a:p>
        </p:txBody>
      </p:sp>
      <p:sp>
        <p:nvSpPr>
          <p:cNvPr id="235" name="CaixaDeTexto 234">
            <a:extLst>
              <a:ext uri="{FF2B5EF4-FFF2-40B4-BE49-F238E27FC236}">
                <a16:creationId xmlns:a16="http://schemas.microsoft.com/office/drawing/2014/main" id="{A3C35307-546B-4EE3-89AC-E757F4E7902C}"/>
              </a:ext>
            </a:extLst>
          </p:cNvPr>
          <p:cNvSpPr txBox="1"/>
          <p:nvPr/>
        </p:nvSpPr>
        <p:spPr>
          <a:xfrm>
            <a:off x="11037890" y="3989248"/>
            <a:ext cx="689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algn="ctr">
              <a:defRPr sz="1200" b="1">
                <a:solidFill>
                  <a:srgbClr val="9E6395"/>
                </a:solidFill>
              </a:defRPr>
            </a:lvl1pPr>
          </a:lstStyle>
          <a:p>
            <a:r>
              <a:rPr lang="pt-BR" sz="1400" dirty="0">
                <a:solidFill>
                  <a:srgbClr val="5E2C7A"/>
                </a:solidFill>
              </a:rPr>
              <a:t>37.349</a:t>
            </a:r>
          </a:p>
        </p:txBody>
      </p:sp>
      <p:sp>
        <p:nvSpPr>
          <p:cNvPr id="236" name="CaixaDeTexto 235">
            <a:extLst>
              <a:ext uri="{FF2B5EF4-FFF2-40B4-BE49-F238E27FC236}">
                <a16:creationId xmlns:a16="http://schemas.microsoft.com/office/drawing/2014/main" id="{81CDD86B-D19E-47A6-AFD8-173A56BDE4DD}"/>
              </a:ext>
            </a:extLst>
          </p:cNvPr>
          <p:cNvSpPr txBox="1"/>
          <p:nvPr/>
        </p:nvSpPr>
        <p:spPr>
          <a:xfrm>
            <a:off x="10966564" y="4191116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</a:rPr>
              <a:t>Itens Visualizados</a:t>
            </a:r>
          </a:p>
          <a:p>
            <a:pPr algn="ctr"/>
            <a:endParaRPr lang="pt-BR" sz="700" dirty="0">
              <a:solidFill>
                <a:srgbClr val="0A2B25"/>
              </a:solidFill>
            </a:endParaRPr>
          </a:p>
        </p:txBody>
      </p:sp>
      <p:sp>
        <p:nvSpPr>
          <p:cNvPr id="237" name="CaixaDeTexto 236">
            <a:extLst>
              <a:ext uri="{FF2B5EF4-FFF2-40B4-BE49-F238E27FC236}">
                <a16:creationId xmlns:a16="http://schemas.microsoft.com/office/drawing/2014/main" id="{79A370B6-5D14-4CF9-85D6-A6E21D8E3239}"/>
              </a:ext>
            </a:extLst>
          </p:cNvPr>
          <p:cNvSpPr txBox="1"/>
          <p:nvPr/>
        </p:nvSpPr>
        <p:spPr>
          <a:xfrm>
            <a:off x="7605300" y="1461896"/>
            <a:ext cx="21210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" dirty="0">
                <a:solidFill>
                  <a:srgbClr val="0A2B25"/>
                </a:solidFill>
              </a:rPr>
              <a:t>Aumento de casos de Síndromes Respiratórias</a:t>
            </a:r>
          </a:p>
        </p:txBody>
      </p:sp>
      <p:pic>
        <p:nvPicPr>
          <p:cNvPr id="238" name="Imagem 237">
            <a:extLst>
              <a:ext uri="{FF2B5EF4-FFF2-40B4-BE49-F238E27FC236}">
                <a16:creationId xmlns:a16="http://schemas.microsoft.com/office/drawing/2014/main" id="{69FFEC8F-05E7-43DC-B403-493EBE7D98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ED99B91-FCF0-4616-9976-FE60D7BE8D24}"/>
              </a:ext>
            </a:extLst>
          </p:cNvPr>
          <p:cNvSpPr/>
          <p:nvPr/>
        </p:nvSpPr>
        <p:spPr>
          <a:xfrm>
            <a:off x="1360051" y="1328094"/>
            <a:ext cx="9471900" cy="522695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2E345F40-0AFB-4CB5-B04C-F6FC7CFD7F4A}"/>
              </a:ext>
            </a:extLst>
          </p:cNvPr>
          <p:cNvSpPr/>
          <p:nvPr/>
        </p:nvSpPr>
        <p:spPr>
          <a:xfrm>
            <a:off x="4619626" y="1774539"/>
            <a:ext cx="5400674" cy="4447624"/>
          </a:xfrm>
          <a:prstGeom prst="rect">
            <a:avLst/>
          </a:prstGeom>
          <a:solidFill>
            <a:srgbClr val="BDEEFF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Título 4">
            <a:extLst>
              <a:ext uri="{FF2B5EF4-FFF2-40B4-BE49-F238E27FC236}">
                <a16:creationId xmlns:a16="http://schemas.microsoft.com/office/drawing/2014/main" id="{DDCC89FC-5194-417A-8587-B83864DE581C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382668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Prescrições sobem 2,7% </a:t>
            </a:r>
            <a:r>
              <a:rPr lang="pt-BR" b="1" kern="0" dirty="0" err="1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WoW</a:t>
            </a:r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enquanto a taxa de abertura recua 0,2% e a conversão -1,7% (comparação S14 vs. S2)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42644CC1-7519-49C0-9670-3A9101E99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7869609"/>
              </p:ext>
            </p:extLst>
          </p:nvPr>
        </p:nvGraphicFramePr>
        <p:xfrm>
          <a:off x="2032000" y="2959958"/>
          <a:ext cx="8128000" cy="1688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441B32F3-159A-47D6-86C8-841D193482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980655"/>
              </p:ext>
            </p:extLst>
          </p:nvPr>
        </p:nvGraphicFramePr>
        <p:xfrm>
          <a:off x="2032000" y="1700924"/>
          <a:ext cx="8128000" cy="141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4" name="Gráfico 63">
            <a:extLst>
              <a:ext uri="{FF2B5EF4-FFF2-40B4-BE49-F238E27FC236}">
                <a16:creationId xmlns:a16="http://schemas.microsoft.com/office/drawing/2014/main" id="{40C759D4-AD7E-4A02-B216-44C0FA2EE4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464588"/>
              </p:ext>
            </p:extLst>
          </p:nvPr>
        </p:nvGraphicFramePr>
        <p:xfrm>
          <a:off x="2032000" y="4579296"/>
          <a:ext cx="8128000" cy="1896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CaixaDeTexto 79">
            <a:extLst>
              <a:ext uri="{FF2B5EF4-FFF2-40B4-BE49-F238E27FC236}">
                <a16:creationId xmlns:a16="http://schemas.microsoft.com/office/drawing/2014/main" id="{3BB68EA8-4475-469D-B38A-BC075CF3F74A}"/>
              </a:ext>
            </a:extLst>
          </p:cNvPr>
          <p:cNvSpPr txBox="1"/>
          <p:nvPr/>
        </p:nvSpPr>
        <p:spPr>
          <a:xfrm>
            <a:off x="1502498" y="1428770"/>
            <a:ext cx="1142583" cy="253916"/>
          </a:xfrm>
          <a:prstGeom prst="rect">
            <a:avLst/>
          </a:prstGeom>
          <a:solidFill>
            <a:srgbClr val="3C0E6B"/>
          </a:solid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# Prescrições</a:t>
            </a:r>
            <a:endParaRPr lang="pt-BR" sz="1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2E654D8E-2E3E-4E0B-AC65-C14038DAA501}"/>
              </a:ext>
            </a:extLst>
          </p:cNvPr>
          <p:cNvSpPr txBox="1"/>
          <p:nvPr/>
        </p:nvSpPr>
        <p:spPr>
          <a:xfrm>
            <a:off x="1502498" y="2904994"/>
            <a:ext cx="1142583" cy="253916"/>
          </a:xfrm>
          <a:prstGeom prst="rect">
            <a:avLst/>
          </a:prstGeom>
          <a:solidFill>
            <a:srgbClr val="5E2C7A"/>
          </a:solid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% Abertura</a:t>
            </a:r>
            <a:endParaRPr lang="pt-BR" sz="1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6B179B00-2D5F-46D7-8C2C-429FF407EF72}"/>
              </a:ext>
            </a:extLst>
          </p:cNvPr>
          <p:cNvSpPr txBox="1"/>
          <p:nvPr/>
        </p:nvSpPr>
        <p:spPr>
          <a:xfrm>
            <a:off x="1502498" y="4381218"/>
            <a:ext cx="1142583" cy="253916"/>
          </a:xfrm>
          <a:prstGeom prst="rect">
            <a:avLst/>
          </a:prstGeom>
          <a:solidFill>
            <a:srgbClr val="9E6395"/>
          </a:solid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% Conversão</a:t>
            </a:r>
            <a:endParaRPr lang="pt-BR" sz="1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008C84C0-4B5A-41DE-AD75-205560E57D07}"/>
              </a:ext>
            </a:extLst>
          </p:cNvPr>
          <p:cNvSpPr/>
          <p:nvPr/>
        </p:nvSpPr>
        <p:spPr>
          <a:xfrm>
            <a:off x="6583526" y="1767856"/>
            <a:ext cx="471324" cy="4447625"/>
          </a:xfrm>
          <a:prstGeom prst="rect">
            <a:avLst/>
          </a:prstGeom>
          <a:solidFill>
            <a:srgbClr val="FFFFFF">
              <a:lumMod val="75000"/>
              <a:alpha val="1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EE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FC6357B5-37A8-4E70-8C6A-DA460EDF3F2F}"/>
              </a:ext>
            </a:extLst>
          </p:cNvPr>
          <p:cNvSpPr txBox="1"/>
          <p:nvPr/>
        </p:nvSpPr>
        <p:spPr>
          <a:xfrm>
            <a:off x="4466037" y="1189130"/>
            <a:ext cx="3259924" cy="276999"/>
          </a:xfrm>
          <a:prstGeom prst="rect">
            <a:avLst/>
          </a:prstGeom>
          <a:solidFill>
            <a:schemeClr val="bg1"/>
          </a:solidFill>
          <a:ln w="12700">
            <a:solidFill>
              <a:srgbClr val="2F528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ea typeface="Calibri" panose="020F0502020204030204" pitchFamily="34" charset="0"/>
                <a:cs typeface="Calibri" panose="020F0502020204030204" pitchFamily="34" charset="0"/>
              </a:rPr>
              <a:t>Funil Semanal</a:t>
            </a:r>
            <a:endParaRPr lang="pt-BR" sz="11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9C6A4238-DCF2-4520-A4C0-A865F1CB75E3}"/>
              </a:ext>
            </a:extLst>
          </p:cNvPr>
          <p:cNvSpPr txBox="1"/>
          <p:nvPr/>
        </p:nvSpPr>
        <p:spPr>
          <a:xfrm>
            <a:off x="5652852" y="2925999"/>
            <a:ext cx="35878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Evolução no número de prescrições após a primeira semana de Fevereiro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B60E3076-FD65-49ED-AEC2-11129CD0C270}"/>
              </a:ext>
            </a:extLst>
          </p:cNvPr>
          <p:cNvSpPr txBox="1"/>
          <p:nvPr/>
        </p:nvSpPr>
        <p:spPr>
          <a:xfrm>
            <a:off x="5152714" y="4392760"/>
            <a:ext cx="44662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Vales menores de % Abertura e % Conversão após o crescimento do número de prescrições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747267-9901-4866-B436-501619E7AF7C}"/>
              </a:ext>
            </a:extLst>
          </p:cNvPr>
          <p:cNvSpPr txBox="1"/>
          <p:nvPr/>
        </p:nvSpPr>
        <p:spPr>
          <a:xfrm>
            <a:off x="1360051" y="6588527"/>
            <a:ext cx="10330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16,4% das compras são realizadas após 5 dias da prescrição, podendo alterar a conversão das últimas semanas dependendo da data corte da base. (Última data de venda registrada: 18/04/2025) </a:t>
            </a:r>
          </a:p>
        </p:txBody>
      </p:sp>
    </p:spTree>
    <p:extLst>
      <p:ext uri="{BB962C8B-B14F-4D97-AF65-F5344CB8AC3E}">
        <p14:creationId xmlns:p14="http://schemas.microsoft.com/office/powerpoint/2010/main" val="349496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D845DA6-4FD4-49B4-936C-C4F773CD6857}"/>
              </a:ext>
            </a:extLst>
          </p:cNvPr>
          <p:cNvSpPr/>
          <p:nvPr/>
        </p:nvSpPr>
        <p:spPr>
          <a:xfrm>
            <a:off x="9390743" y="2725200"/>
            <a:ext cx="2372979" cy="3839148"/>
          </a:xfrm>
          <a:prstGeom prst="rect">
            <a:avLst/>
          </a:prstGeom>
          <a:solidFill>
            <a:schemeClr val="accent6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52AA4E60-0C54-467A-B37C-835929E44D6E}"/>
              </a:ext>
            </a:extLst>
          </p:cNvPr>
          <p:cNvCxnSpPr>
            <a:cxnSpLocks/>
          </p:cNvCxnSpPr>
          <p:nvPr/>
        </p:nvCxnSpPr>
        <p:spPr>
          <a:xfrm>
            <a:off x="9390743" y="2725200"/>
            <a:ext cx="2372979" cy="0"/>
          </a:xfrm>
          <a:prstGeom prst="line">
            <a:avLst/>
          </a:prstGeom>
          <a:ln w="12700">
            <a:solidFill>
              <a:srgbClr val="13504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Google Shape;1169;p41">
            <a:extLst>
              <a:ext uri="{FF2B5EF4-FFF2-40B4-BE49-F238E27FC236}">
                <a16:creationId xmlns:a16="http://schemas.microsoft.com/office/drawing/2014/main" id="{78C89FC8-CEFF-472E-8D7B-28DE3FD09D32}"/>
              </a:ext>
            </a:extLst>
          </p:cNvPr>
          <p:cNvSpPr txBox="1"/>
          <p:nvPr/>
        </p:nvSpPr>
        <p:spPr>
          <a:xfrm>
            <a:off x="-51849" y="5099429"/>
            <a:ext cx="5928027" cy="1464919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  <a:defRPr/>
            </a:pPr>
            <a:endParaRPr sz="1200" kern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C3325A84-7891-4E3C-8B44-223C60174047}"/>
              </a:ext>
            </a:extLst>
          </p:cNvPr>
          <p:cNvGraphicFramePr/>
          <p:nvPr/>
        </p:nvGraphicFramePr>
        <p:xfrm>
          <a:off x="114543" y="3176229"/>
          <a:ext cx="6082526" cy="1759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Título 4">
            <a:extLst>
              <a:ext uri="{FF2B5EF4-FFF2-40B4-BE49-F238E27FC236}">
                <a16:creationId xmlns:a16="http://schemas.microsoft.com/office/drawing/2014/main" id="{BA4E8BFB-7ACE-4E82-A842-0091E0ABF914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Prescrições crescem mais rápido que a base médica, com ~706 novos médicos/mês no período normalizado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6BE21208-EB82-4496-8B2B-236F324B70C7}"/>
              </a:ext>
            </a:extLst>
          </p:cNvPr>
          <p:cNvCxnSpPr>
            <a:cxnSpLocks/>
          </p:cNvCxnSpPr>
          <p:nvPr/>
        </p:nvCxnSpPr>
        <p:spPr>
          <a:xfrm>
            <a:off x="188521" y="1680981"/>
            <a:ext cx="5607442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3778B16-6BEF-4A8F-80F0-A5253D5B7D4F}"/>
              </a:ext>
            </a:extLst>
          </p:cNvPr>
          <p:cNvGrpSpPr/>
          <p:nvPr/>
        </p:nvGrpSpPr>
        <p:grpSpPr>
          <a:xfrm>
            <a:off x="5904851" y="1554956"/>
            <a:ext cx="252050" cy="252050"/>
            <a:chOff x="6025823" y="2527300"/>
            <a:chExt cx="360000" cy="360000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DF05BCAA-71A1-4E7D-9F9C-8B2446617C8C}"/>
                </a:ext>
              </a:extLst>
            </p:cNvPr>
            <p:cNvSpPr/>
            <p:nvPr/>
          </p:nvSpPr>
          <p:spPr>
            <a:xfrm>
              <a:off x="6025823" y="2527300"/>
              <a:ext cx="360000" cy="360000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EE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Seta: Divisa 31">
              <a:extLst>
                <a:ext uri="{FF2B5EF4-FFF2-40B4-BE49-F238E27FC236}">
                  <a16:creationId xmlns:a16="http://schemas.microsoft.com/office/drawing/2014/main" id="{90E6732B-56F9-4A3A-B921-5B47A1492548}"/>
                </a:ext>
              </a:extLst>
            </p:cNvPr>
            <p:cNvSpPr/>
            <p:nvPr/>
          </p:nvSpPr>
          <p:spPr>
            <a:xfrm>
              <a:off x="6107907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Seta: Divisa 32">
              <a:extLst>
                <a:ext uri="{FF2B5EF4-FFF2-40B4-BE49-F238E27FC236}">
                  <a16:creationId xmlns:a16="http://schemas.microsoft.com/office/drawing/2014/main" id="{9268ABD8-7B89-49F0-AE13-4340350E90C9}"/>
                </a:ext>
              </a:extLst>
            </p:cNvPr>
            <p:cNvSpPr/>
            <p:nvPr/>
          </p:nvSpPr>
          <p:spPr>
            <a:xfrm>
              <a:off x="6160040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Seta: Divisa 33">
              <a:extLst>
                <a:ext uri="{FF2B5EF4-FFF2-40B4-BE49-F238E27FC236}">
                  <a16:creationId xmlns:a16="http://schemas.microsoft.com/office/drawing/2014/main" id="{4738A53A-1917-4F7A-A62F-72C9FD8F1E2C}"/>
                </a:ext>
              </a:extLst>
            </p:cNvPr>
            <p:cNvSpPr/>
            <p:nvPr/>
          </p:nvSpPr>
          <p:spPr>
            <a:xfrm>
              <a:off x="6212173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8BB930A-23D6-49D7-BD18-B030BE84B2B3}"/>
              </a:ext>
            </a:extLst>
          </p:cNvPr>
          <p:cNvSpPr txBox="1"/>
          <p:nvPr/>
        </p:nvSpPr>
        <p:spPr>
          <a:xfrm>
            <a:off x="7281203" y="1369342"/>
            <a:ext cx="3604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Primeira Prescrição por médico </a:t>
            </a:r>
            <a:r>
              <a:rPr lang="pt-BR" sz="7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por semana do ano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9DC4739-7905-41E7-B2BA-761AAF9B9EA2}"/>
              </a:ext>
            </a:extLst>
          </p:cNvPr>
          <p:cNvCxnSpPr>
            <a:cxnSpLocks/>
          </p:cNvCxnSpPr>
          <p:nvPr/>
        </p:nvCxnSpPr>
        <p:spPr>
          <a:xfrm>
            <a:off x="6233203" y="1680981"/>
            <a:ext cx="5700419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graphicFrame>
        <p:nvGraphicFramePr>
          <p:cNvPr id="37" name="Gráfico 36">
            <a:extLst>
              <a:ext uri="{FF2B5EF4-FFF2-40B4-BE49-F238E27FC236}">
                <a16:creationId xmlns:a16="http://schemas.microsoft.com/office/drawing/2014/main" id="{2E71ADA0-E322-4835-93D2-3D6FF1AF6603}"/>
              </a:ext>
            </a:extLst>
          </p:cNvPr>
          <p:cNvGraphicFramePr/>
          <p:nvPr/>
        </p:nvGraphicFramePr>
        <p:xfrm>
          <a:off x="210935" y="1680982"/>
          <a:ext cx="5803657" cy="2780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CaixaDeTexto 37">
            <a:extLst>
              <a:ext uri="{FF2B5EF4-FFF2-40B4-BE49-F238E27FC236}">
                <a16:creationId xmlns:a16="http://schemas.microsoft.com/office/drawing/2014/main" id="{2BDE8907-6E71-4D97-9A29-62E980B5E6A7}"/>
              </a:ext>
            </a:extLst>
          </p:cNvPr>
          <p:cNvSpPr txBox="1"/>
          <p:nvPr/>
        </p:nvSpPr>
        <p:spPr>
          <a:xfrm>
            <a:off x="1342340" y="1369342"/>
            <a:ext cx="3609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Médicos Distintos x Prescrições </a:t>
            </a:r>
            <a:r>
              <a:rPr lang="pt-BR" sz="7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por semana do ano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5DA2CD99-D7A3-48AE-A02D-1839870868DF}"/>
              </a:ext>
            </a:extLst>
          </p:cNvPr>
          <p:cNvCxnSpPr>
            <a:cxnSpLocks/>
          </p:cNvCxnSpPr>
          <p:nvPr/>
        </p:nvCxnSpPr>
        <p:spPr>
          <a:xfrm>
            <a:off x="188521" y="1680981"/>
            <a:ext cx="5607442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C21123A-4E92-413C-A7DF-36715A07004C}"/>
              </a:ext>
            </a:extLst>
          </p:cNvPr>
          <p:cNvSpPr txBox="1"/>
          <p:nvPr/>
        </p:nvSpPr>
        <p:spPr>
          <a:xfrm>
            <a:off x="1315730" y="5830973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A2B25">
                    <a:lumMod val="90000"/>
                    <a:lumOff val="10000"/>
                  </a:srgbClr>
                </a:solidFill>
                <a:latin typeface="Arial"/>
              </a:rPr>
              <a:t>~2,2%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277B88A-A94F-46FB-883C-DA91C48A4314}"/>
              </a:ext>
            </a:extLst>
          </p:cNvPr>
          <p:cNvSpPr txBox="1"/>
          <p:nvPr/>
        </p:nvSpPr>
        <p:spPr>
          <a:xfrm>
            <a:off x="1060852" y="6100971"/>
            <a:ext cx="120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  <a:latin typeface="Arial"/>
              </a:rPr>
              <a:t>*</a:t>
            </a:r>
            <a:r>
              <a:rPr lang="pt-BR" sz="700" dirty="0" err="1">
                <a:solidFill>
                  <a:srgbClr val="0A2B25"/>
                </a:solidFill>
                <a:latin typeface="Arial"/>
              </a:rPr>
              <a:t>Crescimeno</a:t>
            </a:r>
            <a:r>
              <a:rPr lang="pt-BR" sz="700" dirty="0">
                <a:solidFill>
                  <a:srgbClr val="0A2B25"/>
                </a:solidFill>
                <a:latin typeface="Arial"/>
              </a:rPr>
              <a:t> de Médicos </a:t>
            </a:r>
          </a:p>
          <a:p>
            <a:pPr algn="ctr"/>
            <a:r>
              <a:rPr lang="pt-BR" sz="700" dirty="0">
                <a:solidFill>
                  <a:srgbClr val="0A2B25"/>
                </a:solidFill>
                <a:latin typeface="Arial"/>
              </a:rPr>
              <a:t>por semana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8B0C387-1FC9-48A2-BF12-7154EDD97217}"/>
              </a:ext>
            </a:extLst>
          </p:cNvPr>
          <p:cNvSpPr txBox="1"/>
          <p:nvPr/>
        </p:nvSpPr>
        <p:spPr>
          <a:xfrm>
            <a:off x="4736926" y="6384844"/>
            <a:ext cx="279762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600" dirty="0">
                <a:solidFill>
                  <a:srgbClr val="0A2B25"/>
                </a:solidFill>
                <a:latin typeface="Arial"/>
              </a:rPr>
              <a:t>*Considerando S14 X S2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73D6090F-774D-4425-8BDF-B3751059B161}"/>
              </a:ext>
            </a:extLst>
          </p:cNvPr>
          <p:cNvCxnSpPr>
            <a:cxnSpLocks/>
          </p:cNvCxnSpPr>
          <p:nvPr/>
        </p:nvCxnSpPr>
        <p:spPr>
          <a:xfrm>
            <a:off x="6322979" y="1680981"/>
            <a:ext cx="5189314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5C31D18-9BC6-4336-A9E9-AB3D15EB6D88}"/>
              </a:ext>
            </a:extLst>
          </p:cNvPr>
          <p:cNvCxnSpPr>
            <a:cxnSpLocks/>
          </p:cNvCxnSpPr>
          <p:nvPr/>
        </p:nvCxnSpPr>
        <p:spPr>
          <a:xfrm>
            <a:off x="6039668" y="1956016"/>
            <a:ext cx="0" cy="4700668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dash"/>
          </a:ln>
          <a:effectLst/>
        </p:spPr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001F9C4-0D67-459B-A493-15A59AC69534}"/>
              </a:ext>
            </a:extLst>
          </p:cNvPr>
          <p:cNvSpPr txBox="1"/>
          <p:nvPr/>
        </p:nvSpPr>
        <p:spPr>
          <a:xfrm>
            <a:off x="356006" y="1971321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3C0E6B"/>
                </a:solidFill>
                <a:effectLst/>
                <a:uLnTx/>
                <a:uFillTx/>
                <a:latin typeface="Arial"/>
              </a:rPr>
              <a:t>70.907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FF18E96-8CE3-4E46-8388-C3B504AC805C}"/>
              </a:ext>
            </a:extLst>
          </p:cNvPr>
          <p:cNvSpPr txBox="1"/>
          <p:nvPr/>
        </p:nvSpPr>
        <p:spPr>
          <a:xfrm>
            <a:off x="210935" y="2196989"/>
            <a:ext cx="1021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  <a:latin typeface="Arial"/>
              </a:rPr>
              <a:t>Prescrições Distintas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E4D2C6B-61EC-46DB-ADF0-8AA4C18BE47F}"/>
              </a:ext>
            </a:extLst>
          </p:cNvPr>
          <p:cNvSpPr txBox="1"/>
          <p:nvPr/>
        </p:nvSpPr>
        <p:spPr>
          <a:xfrm>
            <a:off x="1315730" y="5184948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3C0E6B"/>
                </a:solidFill>
                <a:latin typeface="Arial"/>
              </a:rPr>
              <a:t>~2,7%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E099C03-7037-4E40-A680-DD9D4AEDED84}"/>
              </a:ext>
            </a:extLst>
          </p:cNvPr>
          <p:cNvSpPr txBox="1"/>
          <p:nvPr/>
        </p:nvSpPr>
        <p:spPr>
          <a:xfrm>
            <a:off x="993526" y="5454946"/>
            <a:ext cx="1342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  <a:latin typeface="Arial"/>
              </a:rPr>
              <a:t>*</a:t>
            </a:r>
            <a:r>
              <a:rPr lang="pt-BR" sz="700" dirty="0" err="1">
                <a:solidFill>
                  <a:srgbClr val="0A2B25"/>
                </a:solidFill>
                <a:latin typeface="Arial"/>
              </a:rPr>
              <a:t>Crescimeno</a:t>
            </a:r>
            <a:r>
              <a:rPr lang="pt-BR" sz="700" dirty="0">
                <a:solidFill>
                  <a:srgbClr val="0A2B25"/>
                </a:solidFill>
                <a:latin typeface="Arial"/>
              </a:rPr>
              <a:t> de Prescrições </a:t>
            </a:r>
          </a:p>
          <a:p>
            <a:pPr algn="ctr"/>
            <a:r>
              <a:rPr lang="pt-BR" sz="700" dirty="0">
                <a:solidFill>
                  <a:srgbClr val="0A2B25"/>
                </a:solidFill>
                <a:latin typeface="Arial"/>
              </a:rPr>
              <a:t>por semana</a:t>
            </a:r>
          </a:p>
        </p:txBody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D85F42A1-FD16-4B44-BEFF-1BBDD5130E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26660" y="5244481"/>
            <a:ext cx="518242" cy="518242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93396E38-A474-4363-B95A-6E1C4A24DA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26660" y="5875848"/>
            <a:ext cx="557110" cy="518242"/>
          </a:xfrm>
          <a:prstGeom prst="rect">
            <a:avLst/>
          </a:prstGeom>
        </p:spPr>
      </p:pic>
      <p:sp>
        <p:nvSpPr>
          <p:cNvPr id="64" name="CaixaDeTexto 63">
            <a:extLst>
              <a:ext uri="{FF2B5EF4-FFF2-40B4-BE49-F238E27FC236}">
                <a16:creationId xmlns:a16="http://schemas.microsoft.com/office/drawing/2014/main" id="{C33C66F4-CE9F-46B9-AD3C-9302E1251D7C}"/>
              </a:ext>
            </a:extLst>
          </p:cNvPr>
          <p:cNvSpPr txBox="1"/>
          <p:nvPr/>
        </p:nvSpPr>
        <p:spPr>
          <a:xfrm>
            <a:off x="2417089" y="5330154"/>
            <a:ext cx="342150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O crescimento de médicos ativos reflete a expansão da base profissional e maior adesão à plataforma. O aumento mais acelerado das prescrições sugere melhor engajamento por médico ou influência de sazonalidade na demanda.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1BBD5997-D4C4-4D30-8B7D-577C3075C9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65B5A089-C6CD-46E9-B2E7-391374A085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2737968"/>
              </p:ext>
            </p:extLst>
          </p:nvPr>
        </p:nvGraphicFramePr>
        <p:xfrm>
          <a:off x="6242329" y="2500246"/>
          <a:ext cx="5673148" cy="4118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51" name="Imagem 50">
            <a:extLst>
              <a:ext uri="{FF2B5EF4-FFF2-40B4-BE49-F238E27FC236}">
                <a16:creationId xmlns:a16="http://schemas.microsoft.com/office/drawing/2014/main" id="{BBF9F510-18D5-41F3-B3C9-6B7EBB70C2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873392" y="2019977"/>
            <a:ext cx="557110" cy="518242"/>
          </a:xfrm>
          <a:prstGeom prst="rect">
            <a:avLst/>
          </a:prstGeom>
        </p:spPr>
      </p:pic>
      <p:sp>
        <p:nvSpPr>
          <p:cNvPr id="52" name="CaixaDeTexto 51">
            <a:extLst>
              <a:ext uri="{FF2B5EF4-FFF2-40B4-BE49-F238E27FC236}">
                <a16:creationId xmlns:a16="http://schemas.microsoft.com/office/drawing/2014/main" id="{0017C259-A0EA-418A-8225-8A0FE8DE9305}"/>
              </a:ext>
            </a:extLst>
          </p:cNvPr>
          <p:cNvSpPr txBox="1"/>
          <p:nvPr/>
        </p:nvSpPr>
        <p:spPr>
          <a:xfrm>
            <a:off x="10731687" y="197805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A2B25">
                    <a:lumMod val="90000"/>
                    <a:lumOff val="10000"/>
                  </a:srgbClr>
                </a:solidFill>
                <a:latin typeface="Arial"/>
              </a:rPr>
              <a:t>706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E5DD495-F5E1-4EB2-B51D-7683C572FC8B}"/>
              </a:ext>
            </a:extLst>
          </p:cNvPr>
          <p:cNvSpPr txBox="1"/>
          <p:nvPr/>
        </p:nvSpPr>
        <p:spPr>
          <a:xfrm>
            <a:off x="10504061" y="2248054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" dirty="0">
                <a:solidFill>
                  <a:srgbClr val="0A2B25"/>
                </a:solidFill>
                <a:latin typeface="Arial"/>
              </a:rPr>
              <a:t>Média de Médicos </a:t>
            </a:r>
          </a:p>
          <a:p>
            <a:pPr algn="ctr"/>
            <a:r>
              <a:rPr lang="pt-BR" sz="700" dirty="0">
                <a:solidFill>
                  <a:srgbClr val="0A2B25"/>
                </a:solidFill>
                <a:latin typeface="Arial"/>
              </a:rPr>
              <a:t>entrantes por mês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0CFCEF4-25C6-4FFE-BE9A-0AB432356734}"/>
              </a:ext>
            </a:extLst>
          </p:cNvPr>
          <p:cNvCxnSpPr>
            <a:cxnSpLocks/>
          </p:cNvCxnSpPr>
          <p:nvPr/>
        </p:nvCxnSpPr>
        <p:spPr>
          <a:xfrm>
            <a:off x="9390743" y="4306350"/>
            <a:ext cx="2372979" cy="0"/>
          </a:xfrm>
          <a:prstGeom prst="line">
            <a:avLst/>
          </a:prstGeom>
          <a:ln w="12700">
            <a:solidFill>
              <a:srgbClr val="13504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1C85F7C-7891-47B6-9E96-5AE2EB9AE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575351"/>
              </p:ext>
            </p:extLst>
          </p:nvPr>
        </p:nvGraphicFramePr>
        <p:xfrm>
          <a:off x="9621828" y="3171865"/>
          <a:ext cx="1989147" cy="96492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568686">
                  <a:extLst>
                    <a:ext uri="{9D8B030D-6E8A-4147-A177-3AD203B41FA5}">
                      <a16:colId xmlns:a16="http://schemas.microsoft.com/office/drawing/2014/main" val="3403524450"/>
                    </a:ext>
                  </a:extLst>
                </a:gridCol>
                <a:gridCol w="420461">
                  <a:extLst>
                    <a:ext uri="{9D8B030D-6E8A-4147-A177-3AD203B41FA5}">
                      <a16:colId xmlns:a16="http://schemas.microsoft.com/office/drawing/2014/main" val="2595598621"/>
                    </a:ext>
                  </a:extLst>
                </a:gridCol>
              </a:tblGrid>
              <a:tr h="192984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CLINICA MEDICA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 dirty="0">
                          <a:effectLst/>
                        </a:rPr>
                        <a:t>872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21316"/>
                  </a:ext>
                </a:extLst>
              </a:tr>
              <a:tr h="192984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SEM ESPECIALIDADE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 dirty="0">
                          <a:effectLst/>
                        </a:rPr>
                        <a:t>770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813848"/>
                  </a:ext>
                </a:extLst>
              </a:tr>
              <a:tr h="192984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PEDIATRIA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 dirty="0">
                          <a:effectLst/>
                        </a:rPr>
                        <a:t>727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15355"/>
                  </a:ext>
                </a:extLst>
              </a:tr>
              <a:tr h="192984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GINECOLOGIA E OBSTETRICIA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 dirty="0">
                          <a:effectLst/>
                        </a:rPr>
                        <a:t>320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146941"/>
                  </a:ext>
                </a:extLst>
              </a:tr>
              <a:tr h="192984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CIRURGIA GERAL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 dirty="0">
                          <a:effectLst/>
                        </a:rPr>
                        <a:t>291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081614"/>
                  </a:ext>
                </a:extLst>
              </a:tr>
            </a:tbl>
          </a:graphicData>
        </a:graphic>
      </p:graphicFrame>
      <p:sp>
        <p:nvSpPr>
          <p:cNvPr id="58" name="CaixaDeTexto 57">
            <a:extLst>
              <a:ext uri="{FF2B5EF4-FFF2-40B4-BE49-F238E27FC236}">
                <a16:creationId xmlns:a16="http://schemas.microsoft.com/office/drawing/2014/main" id="{CD20D2E7-3349-495C-B509-CEF6BE767593}"/>
              </a:ext>
            </a:extLst>
          </p:cNvPr>
          <p:cNvSpPr txBox="1"/>
          <p:nvPr/>
        </p:nvSpPr>
        <p:spPr>
          <a:xfrm>
            <a:off x="9671533" y="2813580"/>
            <a:ext cx="19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A2B25">
                    <a:lumMod val="90000"/>
                    <a:lumOff val="10000"/>
                  </a:srgbClr>
                </a:solidFill>
                <a:latin typeface="Arial"/>
              </a:rPr>
              <a:t>Top5 Especialidades</a:t>
            </a:r>
          </a:p>
        </p:txBody>
      </p:sp>
    </p:spTree>
    <p:extLst>
      <p:ext uri="{BB962C8B-B14F-4D97-AF65-F5344CB8AC3E}">
        <p14:creationId xmlns:p14="http://schemas.microsoft.com/office/powerpoint/2010/main" val="389727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4">
            <a:extLst>
              <a:ext uri="{FF2B5EF4-FFF2-40B4-BE49-F238E27FC236}">
                <a16:creationId xmlns:a16="http://schemas.microsoft.com/office/drawing/2014/main" id="{BA4E8BFB-7ACE-4E82-A842-0091E0ABF914}"/>
              </a:ext>
            </a:extLst>
          </p:cNvPr>
          <p:cNvSpPr txBox="1">
            <a:spLocks/>
          </p:cNvSpPr>
          <p:nvPr/>
        </p:nvSpPr>
        <p:spPr>
          <a:xfrm>
            <a:off x="559949" y="201319"/>
            <a:ext cx="11555851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Pediatria impulsiona o crescimento de prescrições: 10,4% </a:t>
            </a:r>
            <a:r>
              <a:rPr lang="pt-BR" b="1" kern="0" dirty="0" err="1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WoW</a:t>
            </a:r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vs. média de 1,9% nas outras três principais especialidades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8BB930A-23D6-49D7-BD18-B030BE84B2B3}"/>
              </a:ext>
            </a:extLst>
          </p:cNvPr>
          <p:cNvSpPr txBox="1"/>
          <p:nvPr/>
        </p:nvSpPr>
        <p:spPr>
          <a:xfrm>
            <a:off x="4027292" y="1349695"/>
            <a:ext cx="4137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Prescrições por Especialidade (Top10) </a:t>
            </a:r>
            <a:r>
              <a:rPr lang="pt-BR" sz="7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por semana do ano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4" name="Gráfico 53">
            <a:extLst>
              <a:ext uri="{FF2B5EF4-FFF2-40B4-BE49-F238E27FC236}">
                <a16:creationId xmlns:a16="http://schemas.microsoft.com/office/drawing/2014/main" id="{44E9D66F-F591-4B7F-9F3D-7B25DFE7F7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543146"/>
              </p:ext>
            </p:extLst>
          </p:nvPr>
        </p:nvGraphicFramePr>
        <p:xfrm>
          <a:off x="1951441" y="1775687"/>
          <a:ext cx="8289112" cy="4849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768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4">
            <a:extLst>
              <a:ext uri="{FF2B5EF4-FFF2-40B4-BE49-F238E27FC236}">
                <a16:creationId xmlns:a16="http://schemas.microsoft.com/office/drawing/2014/main" id="{BA4E8BFB-7ACE-4E82-A842-0091E0ABF914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Geração Alfa impulsiona +9,8% </a:t>
            </a:r>
            <a:r>
              <a:rPr lang="pt-BR" b="1" kern="0" dirty="0" err="1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WoW</a:t>
            </a:r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 Prescrições. Respiratórios lideram (picos até +8,4%) enquanto o restante cresce +1,9%. 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6BE21208-EB82-4496-8B2B-236F324B70C7}"/>
              </a:ext>
            </a:extLst>
          </p:cNvPr>
          <p:cNvCxnSpPr>
            <a:cxnSpLocks/>
          </p:cNvCxnSpPr>
          <p:nvPr/>
        </p:nvCxnSpPr>
        <p:spPr>
          <a:xfrm>
            <a:off x="188521" y="1680981"/>
            <a:ext cx="5607442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3778B16-6BEF-4A8F-80F0-A5253D5B7D4F}"/>
              </a:ext>
            </a:extLst>
          </p:cNvPr>
          <p:cNvGrpSpPr/>
          <p:nvPr/>
        </p:nvGrpSpPr>
        <p:grpSpPr>
          <a:xfrm>
            <a:off x="5904851" y="1554956"/>
            <a:ext cx="252050" cy="252050"/>
            <a:chOff x="6025823" y="2527300"/>
            <a:chExt cx="360000" cy="360000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DF05BCAA-71A1-4E7D-9F9C-8B2446617C8C}"/>
                </a:ext>
              </a:extLst>
            </p:cNvPr>
            <p:cNvSpPr/>
            <p:nvPr/>
          </p:nvSpPr>
          <p:spPr>
            <a:xfrm>
              <a:off x="6025823" y="2527300"/>
              <a:ext cx="360000" cy="360000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EE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Seta: Divisa 31">
              <a:extLst>
                <a:ext uri="{FF2B5EF4-FFF2-40B4-BE49-F238E27FC236}">
                  <a16:creationId xmlns:a16="http://schemas.microsoft.com/office/drawing/2014/main" id="{90E6732B-56F9-4A3A-B921-5B47A1492548}"/>
                </a:ext>
              </a:extLst>
            </p:cNvPr>
            <p:cNvSpPr/>
            <p:nvPr/>
          </p:nvSpPr>
          <p:spPr>
            <a:xfrm>
              <a:off x="6107907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Seta: Divisa 32">
              <a:extLst>
                <a:ext uri="{FF2B5EF4-FFF2-40B4-BE49-F238E27FC236}">
                  <a16:creationId xmlns:a16="http://schemas.microsoft.com/office/drawing/2014/main" id="{9268ABD8-7B89-49F0-AE13-4340350E90C9}"/>
                </a:ext>
              </a:extLst>
            </p:cNvPr>
            <p:cNvSpPr/>
            <p:nvPr/>
          </p:nvSpPr>
          <p:spPr>
            <a:xfrm>
              <a:off x="6160040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Seta: Divisa 33">
              <a:extLst>
                <a:ext uri="{FF2B5EF4-FFF2-40B4-BE49-F238E27FC236}">
                  <a16:creationId xmlns:a16="http://schemas.microsoft.com/office/drawing/2014/main" id="{4738A53A-1917-4F7A-A62F-72C9FD8F1E2C}"/>
                </a:ext>
              </a:extLst>
            </p:cNvPr>
            <p:cNvSpPr/>
            <p:nvPr/>
          </p:nvSpPr>
          <p:spPr>
            <a:xfrm>
              <a:off x="6212173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8BB930A-23D6-49D7-BD18-B030BE84B2B3}"/>
              </a:ext>
            </a:extLst>
          </p:cNvPr>
          <p:cNvSpPr txBox="1"/>
          <p:nvPr/>
        </p:nvSpPr>
        <p:spPr>
          <a:xfrm>
            <a:off x="7051746" y="1369342"/>
            <a:ext cx="4063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Prescrições por Medicamento (Top9) </a:t>
            </a:r>
            <a:r>
              <a:rPr lang="pt-BR" sz="7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por semana do ano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9DC4739-7905-41E7-B2BA-761AAF9B9EA2}"/>
              </a:ext>
            </a:extLst>
          </p:cNvPr>
          <p:cNvCxnSpPr>
            <a:cxnSpLocks/>
          </p:cNvCxnSpPr>
          <p:nvPr/>
        </p:nvCxnSpPr>
        <p:spPr>
          <a:xfrm>
            <a:off x="6233203" y="1680981"/>
            <a:ext cx="5700419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BDE8907-6E71-4D97-9A29-62E980B5E6A7}"/>
              </a:ext>
            </a:extLst>
          </p:cNvPr>
          <p:cNvSpPr txBox="1"/>
          <p:nvPr/>
        </p:nvSpPr>
        <p:spPr>
          <a:xfrm>
            <a:off x="1739919" y="1369342"/>
            <a:ext cx="2814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Prescrições X Geração </a:t>
            </a:r>
            <a:r>
              <a:rPr lang="pt-BR" sz="7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por semana do ano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5DA2CD99-D7A3-48AE-A02D-1839870868DF}"/>
              </a:ext>
            </a:extLst>
          </p:cNvPr>
          <p:cNvCxnSpPr>
            <a:cxnSpLocks/>
          </p:cNvCxnSpPr>
          <p:nvPr/>
        </p:nvCxnSpPr>
        <p:spPr>
          <a:xfrm>
            <a:off x="188521" y="1680981"/>
            <a:ext cx="5607442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73D6090F-774D-4425-8BDF-B3751059B161}"/>
              </a:ext>
            </a:extLst>
          </p:cNvPr>
          <p:cNvCxnSpPr>
            <a:cxnSpLocks/>
          </p:cNvCxnSpPr>
          <p:nvPr/>
        </p:nvCxnSpPr>
        <p:spPr>
          <a:xfrm>
            <a:off x="6322979" y="1680981"/>
            <a:ext cx="5189314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graphicFrame>
        <p:nvGraphicFramePr>
          <p:cNvPr id="50" name="Gráfico 49">
            <a:extLst>
              <a:ext uri="{FF2B5EF4-FFF2-40B4-BE49-F238E27FC236}">
                <a16:creationId xmlns:a16="http://schemas.microsoft.com/office/drawing/2014/main" id="{86223A24-23B9-4EC8-952E-31DEFCDC19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5555413"/>
              </p:ext>
            </p:extLst>
          </p:nvPr>
        </p:nvGraphicFramePr>
        <p:xfrm>
          <a:off x="211716" y="1807006"/>
          <a:ext cx="5616833" cy="4849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1" name="Gráfico 50">
            <a:extLst>
              <a:ext uri="{FF2B5EF4-FFF2-40B4-BE49-F238E27FC236}">
                <a16:creationId xmlns:a16="http://schemas.microsoft.com/office/drawing/2014/main" id="{8B4D4948-C497-4CC7-90AA-B5298578EF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6927700"/>
              </p:ext>
            </p:extLst>
          </p:nvPr>
        </p:nvGraphicFramePr>
        <p:xfrm>
          <a:off x="6322979" y="1807007"/>
          <a:ext cx="5616833" cy="3370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EBE23418-CC29-4216-9A87-7888DF957AA8}"/>
              </a:ext>
            </a:extLst>
          </p:cNvPr>
          <p:cNvCxnSpPr>
            <a:cxnSpLocks/>
          </p:cNvCxnSpPr>
          <p:nvPr/>
        </p:nvCxnSpPr>
        <p:spPr>
          <a:xfrm>
            <a:off x="6039668" y="1956016"/>
            <a:ext cx="0" cy="4700668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dash"/>
          </a:ln>
          <a:effectLst/>
        </p:spPr>
      </p:cxnSp>
      <p:sp>
        <p:nvSpPr>
          <p:cNvPr id="53" name="Google Shape;1169;p41">
            <a:extLst>
              <a:ext uri="{FF2B5EF4-FFF2-40B4-BE49-F238E27FC236}">
                <a16:creationId xmlns:a16="http://schemas.microsoft.com/office/drawing/2014/main" id="{283915E4-359F-47C9-9CF1-6F42DC4C270F}"/>
              </a:ext>
            </a:extLst>
          </p:cNvPr>
          <p:cNvSpPr txBox="1"/>
          <p:nvPr/>
        </p:nvSpPr>
        <p:spPr>
          <a:xfrm>
            <a:off x="6316789" y="5276126"/>
            <a:ext cx="5616833" cy="138055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  <a:defRPr/>
            </a:pPr>
            <a:endParaRPr sz="1200" kern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0DEE816-E603-44AA-91A4-591664C8F2FA}"/>
              </a:ext>
            </a:extLst>
          </p:cNvPr>
          <p:cNvSpPr txBox="1"/>
          <p:nvPr/>
        </p:nvSpPr>
        <p:spPr>
          <a:xfrm>
            <a:off x="6316785" y="6423967"/>
            <a:ext cx="3289029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600" dirty="0">
                <a:solidFill>
                  <a:srgbClr val="0A2B25"/>
                </a:solidFill>
                <a:latin typeface="Arial"/>
              </a:rPr>
              <a:t>*Média(S13;S14:S15)  </a:t>
            </a:r>
            <a:r>
              <a:rPr lang="pt-BR" sz="600" dirty="0" err="1">
                <a:solidFill>
                  <a:srgbClr val="0A2B25"/>
                </a:solidFill>
                <a:latin typeface="Arial"/>
              </a:rPr>
              <a:t>vs</a:t>
            </a:r>
            <a:r>
              <a:rPr lang="pt-BR" sz="600" dirty="0">
                <a:solidFill>
                  <a:srgbClr val="0A2B25"/>
                </a:solidFill>
                <a:latin typeface="Arial"/>
              </a:rPr>
              <a:t> Média(S2;S3;S4). **Preço obtido do site da </a:t>
            </a:r>
            <a:r>
              <a:rPr lang="pt-BR" sz="600" dirty="0" err="1">
                <a:solidFill>
                  <a:srgbClr val="0A2B25"/>
                </a:solidFill>
                <a:latin typeface="Arial"/>
              </a:rPr>
              <a:t>Mevo</a:t>
            </a:r>
            <a:r>
              <a:rPr lang="pt-BR" sz="600" dirty="0">
                <a:solidFill>
                  <a:srgbClr val="0A2B25"/>
                </a:solidFill>
                <a:latin typeface="Arial"/>
              </a:rPr>
              <a:t>.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4C87EC58-4D80-4174-AA7C-F20300F55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7D3B6409-78DE-4E10-B581-55C6D1E4E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771609"/>
              </p:ext>
            </p:extLst>
          </p:nvPr>
        </p:nvGraphicFramePr>
        <p:xfrm>
          <a:off x="6416039" y="5354479"/>
          <a:ext cx="5402586" cy="9753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00431">
                  <a:extLst>
                    <a:ext uri="{9D8B030D-6E8A-4147-A177-3AD203B41FA5}">
                      <a16:colId xmlns:a16="http://schemas.microsoft.com/office/drawing/2014/main" val="853427187"/>
                    </a:ext>
                  </a:extLst>
                </a:gridCol>
                <a:gridCol w="900431">
                  <a:extLst>
                    <a:ext uri="{9D8B030D-6E8A-4147-A177-3AD203B41FA5}">
                      <a16:colId xmlns:a16="http://schemas.microsoft.com/office/drawing/2014/main" val="3443558525"/>
                    </a:ext>
                  </a:extLst>
                </a:gridCol>
                <a:gridCol w="900431">
                  <a:extLst>
                    <a:ext uri="{9D8B030D-6E8A-4147-A177-3AD203B41FA5}">
                      <a16:colId xmlns:a16="http://schemas.microsoft.com/office/drawing/2014/main" val="4246564189"/>
                    </a:ext>
                  </a:extLst>
                </a:gridCol>
                <a:gridCol w="900431">
                  <a:extLst>
                    <a:ext uri="{9D8B030D-6E8A-4147-A177-3AD203B41FA5}">
                      <a16:colId xmlns:a16="http://schemas.microsoft.com/office/drawing/2014/main" val="1156782172"/>
                    </a:ext>
                  </a:extLst>
                </a:gridCol>
                <a:gridCol w="900431">
                  <a:extLst>
                    <a:ext uri="{9D8B030D-6E8A-4147-A177-3AD203B41FA5}">
                      <a16:colId xmlns:a16="http://schemas.microsoft.com/office/drawing/2014/main" val="2203043102"/>
                    </a:ext>
                  </a:extLst>
                </a:gridCol>
                <a:gridCol w="900431">
                  <a:extLst>
                    <a:ext uri="{9D8B030D-6E8A-4147-A177-3AD203B41FA5}">
                      <a16:colId xmlns:a16="http://schemas.microsoft.com/office/drawing/2014/main" val="3165104922"/>
                    </a:ext>
                  </a:extLst>
                </a:gridCol>
              </a:tblGrid>
              <a:tr h="294882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Remédio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Aerolin</a:t>
                      </a:r>
                      <a:r>
                        <a:rPr lang="pt-BR" sz="800" dirty="0"/>
                        <a:t> Spray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Sulfato de </a:t>
                      </a:r>
                      <a:r>
                        <a:rPr lang="pt-BR" sz="800" dirty="0" err="1"/>
                        <a:t>Salbutamol</a:t>
                      </a:r>
                      <a:r>
                        <a:rPr lang="pt-BR" sz="8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Budesonida</a:t>
                      </a:r>
                      <a:r>
                        <a:rPr lang="pt-BR" sz="800" dirty="0"/>
                        <a:t> Spray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Acetilcisteína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Avamys</a:t>
                      </a:r>
                      <a:endParaRPr lang="pt-B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268660"/>
                  </a:ext>
                </a:extLst>
              </a:tr>
              <a:tr h="1821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*Crescimento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8,4%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8,3%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3,7%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3,5%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3,4%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823325"/>
                  </a:ext>
                </a:extLst>
              </a:tr>
              <a:tr h="1821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**Preço (R$)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22,56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26,71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24,16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39,52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64,99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8163320"/>
                  </a:ext>
                </a:extLst>
              </a:tr>
              <a:tr h="1821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Efeito e 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Alívio imediato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/>
                        <a:t>Alívio imediato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/>
                        <a:t>Tratamento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/>
                        <a:t>Tratamento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Tratamento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361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3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F026741-9904-4D39-8B1E-B5FE38B1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42" y="168461"/>
            <a:ext cx="5772658" cy="47828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C0B7C9-2A2A-4994-A6D0-266EECA21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051" y="3148871"/>
            <a:ext cx="5251239" cy="1451451"/>
          </a:xfrm>
          <a:prstGeom prst="roundRect">
            <a:avLst>
              <a:gd name="adj" fmla="val 769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2FB3F6-9F32-43AD-BAE4-CA975FBC3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932" y="549441"/>
            <a:ext cx="5290359" cy="2303319"/>
          </a:xfrm>
          <a:prstGeom prst="roundRect">
            <a:avLst>
              <a:gd name="adj" fmla="val 330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196FD6A-4AEB-4A33-8BB8-EA74CB3BF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43" y="5185738"/>
            <a:ext cx="5772658" cy="1503801"/>
          </a:xfrm>
          <a:prstGeom prst="roundRect">
            <a:avLst>
              <a:gd name="adj" fmla="val 912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F336593-64E2-4CBB-98BB-0F9FBE481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051" y="4896433"/>
            <a:ext cx="5251239" cy="1793106"/>
          </a:xfrm>
          <a:prstGeom prst="roundRect">
            <a:avLst>
              <a:gd name="adj" fmla="val 585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04757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ráfico 63">
            <a:extLst>
              <a:ext uri="{FF2B5EF4-FFF2-40B4-BE49-F238E27FC236}">
                <a16:creationId xmlns:a16="http://schemas.microsoft.com/office/drawing/2014/main" id="{6C0CAACD-F6DD-4383-BD49-0C3CF0BFD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0600665"/>
              </p:ext>
            </p:extLst>
          </p:nvPr>
        </p:nvGraphicFramePr>
        <p:xfrm>
          <a:off x="3763898" y="1544676"/>
          <a:ext cx="7770065" cy="486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6" name="CaixaDeTexto 65">
            <a:extLst>
              <a:ext uri="{FF2B5EF4-FFF2-40B4-BE49-F238E27FC236}">
                <a16:creationId xmlns:a16="http://schemas.microsoft.com/office/drawing/2014/main" id="{C84A6785-4048-4A42-A29D-56D34D636BD6}"/>
              </a:ext>
            </a:extLst>
          </p:cNvPr>
          <p:cNvSpPr txBox="1"/>
          <p:nvPr/>
        </p:nvSpPr>
        <p:spPr>
          <a:xfrm>
            <a:off x="6055979" y="1610990"/>
            <a:ext cx="36199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Taxa de Abertura X Geração</a:t>
            </a:r>
            <a:r>
              <a:rPr lang="pt-BR" sz="900" b="1" dirty="0">
                <a:solidFill>
                  <a:srgbClr val="FFFEEB">
                    <a:lumMod val="10000"/>
                  </a:srgb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por semana do ano</a:t>
            </a:r>
            <a:endParaRPr kumimoji="0" lang="pt-B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2" name="Título 4">
            <a:extLst>
              <a:ext uri="{FF2B5EF4-FFF2-40B4-BE49-F238E27FC236}">
                <a16:creationId xmlns:a16="http://schemas.microsoft.com/office/drawing/2014/main" id="{3E2C6523-EFC4-4466-B870-7DF806E9EEBC}"/>
              </a:ext>
            </a:extLst>
          </p:cNvPr>
          <p:cNvSpPr txBox="1">
            <a:spLocks/>
          </p:cNvSpPr>
          <p:nvPr/>
        </p:nvSpPr>
        <p:spPr>
          <a:xfrm>
            <a:off x="3146264" y="131944"/>
            <a:ext cx="9045736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Taxa de abertura da Geração Alfa segue padrão semelhante à Geração X, possivelmente refletindo o comportamento dos pais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1E168D9-2B36-4A13-933C-4B7279F4880F}"/>
              </a:ext>
            </a:extLst>
          </p:cNvPr>
          <p:cNvSpPr/>
          <p:nvPr/>
        </p:nvSpPr>
        <p:spPr>
          <a:xfrm rot="5400000">
            <a:off x="-1906347" y="1906349"/>
            <a:ext cx="6858000" cy="3045305"/>
          </a:xfrm>
          <a:prstGeom prst="rect">
            <a:avLst/>
          </a:prstGeom>
          <a:solidFill>
            <a:srgbClr val="3C0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F033DEB-6E4A-4A3F-A71D-BA1F005B38D0}"/>
              </a:ext>
            </a:extLst>
          </p:cNvPr>
          <p:cNvSpPr txBox="1"/>
          <p:nvPr/>
        </p:nvSpPr>
        <p:spPr>
          <a:xfrm>
            <a:off x="136323" y="2673813"/>
            <a:ext cx="25145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As análises indicam que o crescimento de prescrições foi impulsionado por novos médicos ou aumento do uso da plataforma e uma sazonalidade de doenças respiratórias, com destaque para o público pediátrico.</a:t>
            </a:r>
          </a:p>
          <a:p>
            <a:br>
              <a:rPr lang="pt-BR" sz="1400" dirty="0">
                <a:solidFill>
                  <a:schemeClr val="bg1"/>
                </a:solidFill>
              </a:rPr>
            </a:br>
            <a:r>
              <a:rPr lang="pt-BR" sz="1400" b="1" dirty="0">
                <a:solidFill>
                  <a:schemeClr val="bg1"/>
                </a:solidFill>
              </a:rPr>
              <a:t>O próximo passo é entender se esse avanço impacta nas etapas seguintes da jornada, a abertura das prescrições e conversão.</a:t>
            </a:r>
            <a:endParaRPr lang="pt-BR" sz="1400" dirty="0">
              <a:solidFill>
                <a:schemeClr val="bg1"/>
              </a:solidFill>
            </a:endParaRPr>
          </a:p>
        </p:txBody>
      </p:sp>
      <p:sp>
        <p:nvSpPr>
          <p:cNvPr id="25" name="Título 4">
            <a:extLst>
              <a:ext uri="{FF2B5EF4-FFF2-40B4-BE49-F238E27FC236}">
                <a16:creationId xmlns:a16="http://schemas.microsoft.com/office/drawing/2014/main" id="{4C839C23-6825-445B-A0ED-2FC61F9742D5}"/>
              </a:ext>
            </a:extLst>
          </p:cNvPr>
          <p:cNvSpPr txBox="1">
            <a:spLocks/>
          </p:cNvSpPr>
          <p:nvPr/>
        </p:nvSpPr>
        <p:spPr>
          <a:xfrm>
            <a:off x="95251" y="1202804"/>
            <a:ext cx="3035344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sz="1800" b="1" kern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Conclusões da métrica Prescrição e Próximos Passos</a:t>
            </a:r>
          </a:p>
        </p:txBody>
      </p:sp>
      <p:sp>
        <p:nvSpPr>
          <p:cNvPr id="26" name="Seta: Divisa 25">
            <a:extLst>
              <a:ext uri="{FF2B5EF4-FFF2-40B4-BE49-F238E27FC236}">
                <a16:creationId xmlns:a16="http://schemas.microsoft.com/office/drawing/2014/main" id="{5C859C94-93C4-485E-8B50-EDDB46FE4C67}"/>
              </a:ext>
            </a:extLst>
          </p:cNvPr>
          <p:cNvSpPr/>
          <p:nvPr/>
        </p:nvSpPr>
        <p:spPr>
          <a:xfrm>
            <a:off x="1090562" y="279012"/>
            <a:ext cx="358136" cy="644781"/>
          </a:xfrm>
          <a:prstGeom prst="chevron">
            <a:avLst>
              <a:gd name="adj" fmla="val 61482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0A2B2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eta: Divisa 27">
            <a:extLst>
              <a:ext uri="{FF2B5EF4-FFF2-40B4-BE49-F238E27FC236}">
                <a16:creationId xmlns:a16="http://schemas.microsoft.com/office/drawing/2014/main" id="{D14CC1B5-DE5E-4238-A6BA-2769500B255C}"/>
              </a:ext>
            </a:extLst>
          </p:cNvPr>
          <p:cNvSpPr/>
          <p:nvPr/>
        </p:nvSpPr>
        <p:spPr>
          <a:xfrm>
            <a:off x="1312275" y="279012"/>
            <a:ext cx="358136" cy="644781"/>
          </a:xfrm>
          <a:prstGeom prst="chevron">
            <a:avLst>
              <a:gd name="adj" fmla="val 61482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0A2B2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Seta: Divisa 28">
            <a:extLst>
              <a:ext uri="{FF2B5EF4-FFF2-40B4-BE49-F238E27FC236}">
                <a16:creationId xmlns:a16="http://schemas.microsoft.com/office/drawing/2014/main" id="{11EAFCEB-0A8E-47AA-A067-A98EE156A3FE}"/>
              </a:ext>
            </a:extLst>
          </p:cNvPr>
          <p:cNvSpPr/>
          <p:nvPr/>
        </p:nvSpPr>
        <p:spPr>
          <a:xfrm>
            <a:off x="1533988" y="279012"/>
            <a:ext cx="358136" cy="644781"/>
          </a:xfrm>
          <a:prstGeom prst="chevron">
            <a:avLst>
              <a:gd name="adj" fmla="val 61482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0A2B2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79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44D4914-2082-467A-A205-C891D14BCB94}"/>
              </a:ext>
            </a:extLst>
          </p:cNvPr>
          <p:cNvSpPr/>
          <p:nvPr/>
        </p:nvSpPr>
        <p:spPr>
          <a:xfrm>
            <a:off x="662677" y="1461457"/>
            <a:ext cx="4915502" cy="5010441"/>
          </a:xfrm>
          <a:prstGeom prst="roundRect">
            <a:avLst>
              <a:gd name="adj" fmla="val 5974"/>
            </a:avLst>
          </a:prstGeom>
          <a:solidFill>
            <a:schemeClr val="bg1"/>
          </a:solidFill>
          <a:ln>
            <a:solidFill>
              <a:srgbClr val="3C0E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Superiores Arredondados 11">
            <a:extLst>
              <a:ext uri="{FF2B5EF4-FFF2-40B4-BE49-F238E27FC236}">
                <a16:creationId xmlns:a16="http://schemas.microsoft.com/office/drawing/2014/main" id="{C5433BCE-B78D-4B18-BCDF-6A5CB1317015}"/>
              </a:ext>
            </a:extLst>
          </p:cNvPr>
          <p:cNvSpPr/>
          <p:nvPr/>
        </p:nvSpPr>
        <p:spPr>
          <a:xfrm rot="10800000">
            <a:off x="685037" y="5283029"/>
            <a:ext cx="4878000" cy="1179632"/>
          </a:xfrm>
          <a:prstGeom prst="round2SameRect">
            <a:avLst>
              <a:gd name="adj1" fmla="val 27202"/>
              <a:gd name="adj2" fmla="val 0"/>
            </a:avLst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775C35CA-2246-4726-947E-037E6739D645}"/>
              </a:ext>
            </a:extLst>
          </p:cNvPr>
          <p:cNvSpPr/>
          <p:nvPr/>
        </p:nvSpPr>
        <p:spPr>
          <a:xfrm>
            <a:off x="681725" y="2826353"/>
            <a:ext cx="4878000" cy="12052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ítulo 4">
            <a:extLst>
              <a:ext uri="{FF2B5EF4-FFF2-40B4-BE49-F238E27FC236}">
                <a16:creationId xmlns:a16="http://schemas.microsoft.com/office/drawing/2014/main" id="{9ED308D6-25F2-4925-A6E5-4989892F9869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42885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 as principais especialidades em prescrição, apenas a Pediatria apresenta queda significativa e contínua na taxa de abertura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FAD7A4-A5B4-4375-A652-33FCF7C5FF0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6401" y="1765963"/>
            <a:ext cx="657225" cy="657225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78F70665-1EE1-48A9-AF0C-29F2157E884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388" b="97449" l="2544" r="98509">
                        <a14:foregroundMark x1="28070" y1="17449" x2="28070" y2="17449"/>
                        <a14:foregroundMark x1="23947" y1="4388" x2="23947" y2="4388"/>
                        <a14:foregroundMark x1="30088" y1="61429" x2="30088" y2="61429"/>
                        <a14:foregroundMark x1="29561" y1="46531" x2="29561" y2="46531"/>
                        <a14:foregroundMark x1="2544" y1="77959" x2="2544" y2="77959"/>
                        <a14:foregroundMark x1="12719" y1="97551" x2="12719" y2="97551"/>
                        <a14:foregroundMark x1="64298" y1="92857" x2="64298" y2="92857"/>
                        <a14:foregroundMark x1="61754" y1="73878" x2="61754" y2="73878"/>
                        <a14:foregroundMark x1="93860" y1="66122" x2="93860" y2="66122"/>
                        <a14:foregroundMark x1="98509" y1="72041" x2="98509" y2="72041"/>
                        <a14:backgroundMark x1="67895" y1="56020" x2="67895" y2="560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81651" y="3037182"/>
            <a:ext cx="466725" cy="40122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1F0373F-3DF3-4D40-A789-4199B0760FC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19815" t="20185" r="24259" b="30185"/>
          <a:stretch/>
        </p:blipFill>
        <p:spPr>
          <a:xfrm>
            <a:off x="772113" y="4197466"/>
            <a:ext cx="685800" cy="6085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CAE7B30-D3D6-4F5F-8F71-76AD1EBDB303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16676" y="5445799"/>
            <a:ext cx="396674" cy="469900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5A4E8268-A73F-495C-83DD-268DF830FFE1}"/>
              </a:ext>
            </a:extLst>
          </p:cNvPr>
          <p:cNvSpPr txBox="1"/>
          <p:nvPr/>
        </p:nvSpPr>
        <p:spPr>
          <a:xfrm>
            <a:off x="1612694" y="1871436"/>
            <a:ext cx="627095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</a:rPr>
              <a:t>Cirurgia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</a:rPr>
              <a:t>Geral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A1BC563-BB00-4317-9553-616805F5596D}"/>
              </a:ext>
            </a:extLst>
          </p:cNvPr>
          <p:cNvSpPr txBox="1"/>
          <p:nvPr/>
        </p:nvSpPr>
        <p:spPr>
          <a:xfrm>
            <a:off x="1472437" y="3029066"/>
            <a:ext cx="907620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43682B"/>
                </a:solidFill>
                <a:effectLst/>
                <a:uLnTx/>
                <a:uFillTx/>
              </a:rPr>
              <a:t>Sem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43682B"/>
                </a:solidFill>
                <a:effectLst/>
                <a:uLnTx/>
                <a:uFillTx/>
              </a:rPr>
              <a:t>Especialidade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122876D-2F9E-43AA-A495-3EC919509735}"/>
              </a:ext>
            </a:extLst>
          </p:cNvPr>
          <p:cNvSpPr txBox="1"/>
          <p:nvPr/>
        </p:nvSpPr>
        <p:spPr>
          <a:xfrm>
            <a:off x="1593460" y="4331468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</a:rPr>
              <a:t>Pediatria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BB182C9D-E458-43FE-BCC1-55BF0499A301}"/>
              </a:ext>
            </a:extLst>
          </p:cNvPr>
          <p:cNvSpPr txBox="1"/>
          <p:nvPr/>
        </p:nvSpPr>
        <p:spPr>
          <a:xfrm>
            <a:off x="1637542" y="5457610"/>
            <a:ext cx="57740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</a:rPr>
              <a:t>Clínica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</a:rPr>
              <a:t>Médica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C92899A4-66A3-49C5-AF0A-292D811BA515}"/>
              </a:ext>
            </a:extLst>
          </p:cNvPr>
          <p:cNvSpPr txBox="1"/>
          <p:nvPr/>
        </p:nvSpPr>
        <p:spPr>
          <a:xfrm>
            <a:off x="1208106" y="1319025"/>
            <a:ext cx="119936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3C0E6B"/>
                </a:solidFill>
                <a:effectLst/>
                <a:uLnTx/>
                <a:uFillTx/>
              </a:rPr>
              <a:t>Especialidade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B1307D1A-D70F-4B8F-8D44-A81771171670}"/>
              </a:ext>
            </a:extLst>
          </p:cNvPr>
          <p:cNvSpPr txBox="1"/>
          <p:nvPr/>
        </p:nvSpPr>
        <p:spPr>
          <a:xfrm>
            <a:off x="2529547" y="1319025"/>
            <a:ext cx="257634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3C0E6B"/>
                </a:solidFill>
                <a:effectLst/>
                <a:uLnTx/>
                <a:uFillTx/>
              </a:rPr>
              <a:t>Geração Atendimento/Abertura</a:t>
            </a: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B4EA6FFE-71DD-4AF8-B2A8-CAB850216F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284956"/>
              </p:ext>
            </p:extLst>
          </p:nvPr>
        </p:nvGraphicFramePr>
        <p:xfrm>
          <a:off x="3043426" y="1458917"/>
          <a:ext cx="1953941" cy="5962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87" name="CaixaDeTexto 86">
            <a:extLst>
              <a:ext uri="{FF2B5EF4-FFF2-40B4-BE49-F238E27FC236}">
                <a16:creationId xmlns:a16="http://schemas.microsoft.com/office/drawing/2014/main" id="{FFE832D6-F048-409A-A372-3E4BD9235B3A}"/>
              </a:ext>
            </a:extLst>
          </p:cNvPr>
          <p:cNvSpPr txBox="1"/>
          <p:nvPr/>
        </p:nvSpPr>
        <p:spPr>
          <a:xfrm>
            <a:off x="2638165" y="1681824"/>
            <a:ext cx="551754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Silenciosa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8BA1D58F-541D-4329-A5F2-50D91981755F}"/>
              </a:ext>
            </a:extLst>
          </p:cNvPr>
          <p:cNvSpPr txBox="1"/>
          <p:nvPr/>
        </p:nvSpPr>
        <p:spPr>
          <a:xfrm>
            <a:off x="2552407" y="1819574"/>
            <a:ext cx="72327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Baby Boomers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43F37945-1F4C-4B7C-B45F-F22F88B8E5AF}"/>
              </a:ext>
            </a:extLst>
          </p:cNvPr>
          <p:cNvSpPr txBox="1"/>
          <p:nvPr/>
        </p:nvSpPr>
        <p:spPr>
          <a:xfrm>
            <a:off x="2631757" y="1957324"/>
            <a:ext cx="56457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X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129B876-38FE-4030-8FBB-9FBBA558C23C}"/>
              </a:ext>
            </a:extLst>
          </p:cNvPr>
          <p:cNvSpPr txBox="1"/>
          <p:nvPr/>
        </p:nvSpPr>
        <p:spPr>
          <a:xfrm>
            <a:off x="2639772" y="2095074"/>
            <a:ext cx="54854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Millenials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16F81E27-BFA6-4045-A8BB-E513D6A14A42}"/>
              </a:ext>
            </a:extLst>
          </p:cNvPr>
          <p:cNvSpPr txBox="1"/>
          <p:nvPr/>
        </p:nvSpPr>
        <p:spPr>
          <a:xfrm>
            <a:off x="2634964" y="2232824"/>
            <a:ext cx="55816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Z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E35C4672-E31B-4699-86ED-68C23AB32948}"/>
              </a:ext>
            </a:extLst>
          </p:cNvPr>
          <p:cNvSpPr txBox="1"/>
          <p:nvPr/>
        </p:nvSpPr>
        <p:spPr>
          <a:xfrm>
            <a:off x="2746373" y="2370574"/>
            <a:ext cx="335349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Alfa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B6E66C6A-BA93-48E4-8E97-DF74D3B2E853}"/>
              </a:ext>
            </a:extLst>
          </p:cNvPr>
          <p:cNvSpPr txBox="1"/>
          <p:nvPr/>
        </p:nvSpPr>
        <p:spPr>
          <a:xfrm>
            <a:off x="2656606" y="2508323"/>
            <a:ext cx="514885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Sem Info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0808E13F-F0A6-420E-986F-6BCDE2E05CBD}"/>
              </a:ext>
            </a:extLst>
          </p:cNvPr>
          <p:cNvSpPr txBox="1"/>
          <p:nvPr/>
        </p:nvSpPr>
        <p:spPr>
          <a:xfrm>
            <a:off x="2638165" y="2919136"/>
            <a:ext cx="551754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Silenciosa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A7FBF741-07D5-46A5-91F5-71FB42857D5C}"/>
              </a:ext>
            </a:extLst>
          </p:cNvPr>
          <p:cNvSpPr txBox="1"/>
          <p:nvPr/>
        </p:nvSpPr>
        <p:spPr>
          <a:xfrm>
            <a:off x="2552407" y="3056886"/>
            <a:ext cx="72327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Baby Boomers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689830BC-1C82-4E0C-ABB9-CC9B12241D35}"/>
              </a:ext>
            </a:extLst>
          </p:cNvPr>
          <p:cNvSpPr txBox="1"/>
          <p:nvPr/>
        </p:nvSpPr>
        <p:spPr>
          <a:xfrm>
            <a:off x="2631757" y="3194636"/>
            <a:ext cx="56457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X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4D4649F5-89F5-4DA4-9F4E-4193B0120B47}"/>
              </a:ext>
            </a:extLst>
          </p:cNvPr>
          <p:cNvSpPr txBox="1"/>
          <p:nvPr/>
        </p:nvSpPr>
        <p:spPr>
          <a:xfrm>
            <a:off x="2639772" y="3332386"/>
            <a:ext cx="54854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Millenials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ADBDE5F2-804B-4346-A96D-163E031785EC}"/>
              </a:ext>
            </a:extLst>
          </p:cNvPr>
          <p:cNvSpPr txBox="1"/>
          <p:nvPr/>
        </p:nvSpPr>
        <p:spPr>
          <a:xfrm>
            <a:off x="2634964" y="3470136"/>
            <a:ext cx="55816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Z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5421FC0F-12A6-4B83-97A5-DBF772E6E67B}"/>
              </a:ext>
            </a:extLst>
          </p:cNvPr>
          <p:cNvSpPr txBox="1"/>
          <p:nvPr/>
        </p:nvSpPr>
        <p:spPr>
          <a:xfrm>
            <a:off x="2746373" y="3607886"/>
            <a:ext cx="335349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Alfa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95FB909E-DADA-4D72-95D4-21079F4C9CC6}"/>
              </a:ext>
            </a:extLst>
          </p:cNvPr>
          <p:cNvSpPr txBox="1"/>
          <p:nvPr/>
        </p:nvSpPr>
        <p:spPr>
          <a:xfrm>
            <a:off x="2656606" y="3745635"/>
            <a:ext cx="514885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Sem Info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BE1B37C5-F87A-4C69-953E-2C024109FD35}"/>
              </a:ext>
            </a:extLst>
          </p:cNvPr>
          <p:cNvSpPr txBox="1"/>
          <p:nvPr/>
        </p:nvSpPr>
        <p:spPr>
          <a:xfrm>
            <a:off x="2638165" y="4186194"/>
            <a:ext cx="551754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Silenciosa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085BD6A4-0DFE-4A4E-BE44-CF04D47138A9}"/>
              </a:ext>
            </a:extLst>
          </p:cNvPr>
          <p:cNvSpPr txBox="1"/>
          <p:nvPr/>
        </p:nvSpPr>
        <p:spPr>
          <a:xfrm>
            <a:off x="2552407" y="4323944"/>
            <a:ext cx="72327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Baby Boomers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D954CEAA-8BB6-4546-A1D9-644D7DC14B94}"/>
              </a:ext>
            </a:extLst>
          </p:cNvPr>
          <p:cNvSpPr txBox="1"/>
          <p:nvPr/>
        </p:nvSpPr>
        <p:spPr>
          <a:xfrm>
            <a:off x="2631757" y="4461694"/>
            <a:ext cx="56457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X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8F9271E1-7CAF-44B1-8A59-36C1851B51D6}"/>
              </a:ext>
            </a:extLst>
          </p:cNvPr>
          <p:cNvSpPr txBox="1"/>
          <p:nvPr/>
        </p:nvSpPr>
        <p:spPr>
          <a:xfrm>
            <a:off x="2639772" y="4599444"/>
            <a:ext cx="54854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Millenials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195BA2DF-D9F2-4380-8C8F-303296A61471}"/>
              </a:ext>
            </a:extLst>
          </p:cNvPr>
          <p:cNvSpPr txBox="1"/>
          <p:nvPr/>
        </p:nvSpPr>
        <p:spPr>
          <a:xfrm>
            <a:off x="2634964" y="4737194"/>
            <a:ext cx="55816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Z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E589BD0B-0608-4C2C-BB89-04035DEDDCC2}"/>
              </a:ext>
            </a:extLst>
          </p:cNvPr>
          <p:cNvSpPr txBox="1"/>
          <p:nvPr/>
        </p:nvSpPr>
        <p:spPr>
          <a:xfrm>
            <a:off x="2746373" y="4874944"/>
            <a:ext cx="335349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Alfa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D5F20188-51DA-407B-A623-7D5EF9AD67AA}"/>
              </a:ext>
            </a:extLst>
          </p:cNvPr>
          <p:cNvSpPr txBox="1"/>
          <p:nvPr/>
        </p:nvSpPr>
        <p:spPr>
          <a:xfrm>
            <a:off x="2656606" y="5012693"/>
            <a:ext cx="514885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Sem Info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FD080D72-9479-4B6C-A8CD-08CFA59BF6C7}"/>
              </a:ext>
            </a:extLst>
          </p:cNvPr>
          <p:cNvSpPr txBox="1"/>
          <p:nvPr/>
        </p:nvSpPr>
        <p:spPr>
          <a:xfrm>
            <a:off x="2638165" y="5369899"/>
            <a:ext cx="551754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Silenciosa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06216404-59E7-42B1-B9ED-7525508CDCB1}"/>
              </a:ext>
            </a:extLst>
          </p:cNvPr>
          <p:cNvSpPr txBox="1"/>
          <p:nvPr/>
        </p:nvSpPr>
        <p:spPr>
          <a:xfrm>
            <a:off x="2552407" y="5507649"/>
            <a:ext cx="72327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Baby Boomers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9F083F6D-0728-4B1E-8704-F093604A0AC5}"/>
              </a:ext>
            </a:extLst>
          </p:cNvPr>
          <p:cNvSpPr txBox="1"/>
          <p:nvPr/>
        </p:nvSpPr>
        <p:spPr>
          <a:xfrm>
            <a:off x="2631757" y="5645399"/>
            <a:ext cx="56457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X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2FF3891D-23E3-43F6-83FA-13A74BB8A1C2}"/>
              </a:ext>
            </a:extLst>
          </p:cNvPr>
          <p:cNvSpPr txBox="1"/>
          <p:nvPr/>
        </p:nvSpPr>
        <p:spPr>
          <a:xfrm>
            <a:off x="2639772" y="5783149"/>
            <a:ext cx="548548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Millenials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EC03CAE2-6120-4CF9-9276-1B8EF5CACD23}"/>
              </a:ext>
            </a:extLst>
          </p:cNvPr>
          <p:cNvSpPr txBox="1"/>
          <p:nvPr/>
        </p:nvSpPr>
        <p:spPr>
          <a:xfrm>
            <a:off x="2634964" y="5920899"/>
            <a:ext cx="558166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Geração Z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F5207D04-F1F7-492C-A3A6-FD0A991813A1}"/>
              </a:ext>
            </a:extLst>
          </p:cNvPr>
          <p:cNvSpPr txBox="1"/>
          <p:nvPr/>
        </p:nvSpPr>
        <p:spPr>
          <a:xfrm>
            <a:off x="2746373" y="6058649"/>
            <a:ext cx="335349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Alfa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A06E6637-DDC2-41B5-B1D6-3A3FD85BC4A6}"/>
              </a:ext>
            </a:extLst>
          </p:cNvPr>
          <p:cNvSpPr txBox="1"/>
          <p:nvPr/>
        </p:nvSpPr>
        <p:spPr>
          <a:xfrm>
            <a:off x="2656607" y="6196398"/>
            <a:ext cx="514885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>
                <a:effectLst/>
                <a:uLnTx/>
                <a:uFillTx/>
              </a:rPr>
              <a:t>Sem Info</a:t>
            </a:r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B8226AAA-8D0F-4328-AC8C-F986EEDDE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494244"/>
              </p:ext>
            </p:extLst>
          </p:nvPr>
        </p:nvGraphicFramePr>
        <p:xfrm>
          <a:off x="711938" y="2335147"/>
          <a:ext cx="1435100" cy="3810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18097322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43542011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de Abertura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0858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Prescrições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5.380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479091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FA60E151-60AE-4336-8338-0775A7896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446352"/>
              </p:ext>
            </p:extLst>
          </p:nvPr>
        </p:nvGraphicFramePr>
        <p:xfrm>
          <a:off x="711938" y="5999091"/>
          <a:ext cx="1435100" cy="3810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191809136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2482268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de Abertura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7353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Prescrições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771156"/>
                  </a:ext>
                </a:extLst>
              </a:tr>
            </a:tbl>
          </a:graphicData>
        </a:graphic>
      </p:graphicFrame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33CC0443-54CF-4873-A887-109151352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515086"/>
              </p:ext>
            </p:extLst>
          </p:nvPr>
        </p:nvGraphicFramePr>
        <p:xfrm>
          <a:off x="711938" y="4767269"/>
          <a:ext cx="1435100" cy="3810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491853739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69943707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de Abertura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3318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Prescrições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198924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12A6DB1C-5D7B-4872-9EE8-9A7DD1B36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932120"/>
              </p:ext>
            </p:extLst>
          </p:nvPr>
        </p:nvGraphicFramePr>
        <p:xfrm>
          <a:off x="711938" y="3507366"/>
          <a:ext cx="1435100" cy="3810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50151408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30776618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de Abertura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5824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Prescrições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050431"/>
                  </a:ext>
                </a:extLst>
              </a:tr>
            </a:tbl>
          </a:graphicData>
        </a:graphic>
      </p:graphicFrame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8D45D940-763F-4DB3-AF8A-E7BB5B099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976795"/>
              </p:ext>
            </p:extLst>
          </p:nvPr>
        </p:nvGraphicFramePr>
        <p:xfrm>
          <a:off x="4781622" y="1696400"/>
          <a:ext cx="415755" cy="992985"/>
        </p:xfrm>
        <a:graphic>
          <a:graphicData uri="http://schemas.openxmlformats.org/drawingml/2006/table">
            <a:tbl>
              <a:tblPr/>
              <a:tblGrid>
                <a:gridCol w="415755">
                  <a:extLst>
                    <a:ext uri="{9D8B030D-6E8A-4147-A177-3AD203B41FA5}">
                      <a16:colId xmlns:a16="http://schemas.microsoft.com/office/drawing/2014/main" val="3519394558"/>
                    </a:ext>
                  </a:extLst>
                </a:gridCol>
              </a:tblGrid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093938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189083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7857831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349944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737236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809700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794681"/>
                  </a:ext>
                </a:extLst>
              </a:tr>
            </a:tbl>
          </a:graphicData>
        </a:graphic>
      </p:graphicFrame>
      <p:graphicFrame>
        <p:nvGraphicFramePr>
          <p:cNvPr id="115" name="Tabela 114">
            <a:extLst>
              <a:ext uri="{FF2B5EF4-FFF2-40B4-BE49-F238E27FC236}">
                <a16:creationId xmlns:a16="http://schemas.microsoft.com/office/drawing/2014/main" id="{9B8F064F-2689-480D-83D5-C37EBC882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93600"/>
              </p:ext>
            </p:extLst>
          </p:nvPr>
        </p:nvGraphicFramePr>
        <p:xfrm>
          <a:off x="4781634" y="2926756"/>
          <a:ext cx="415755" cy="992985"/>
        </p:xfrm>
        <a:graphic>
          <a:graphicData uri="http://schemas.openxmlformats.org/drawingml/2006/table">
            <a:tbl>
              <a:tblPr/>
              <a:tblGrid>
                <a:gridCol w="415755">
                  <a:extLst>
                    <a:ext uri="{9D8B030D-6E8A-4147-A177-3AD203B41FA5}">
                      <a16:colId xmlns:a16="http://schemas.microsoft.com/office/drawing/2014/main" val="3519394558"/>
                    </a:ext>
                  </a:extLst>
                </a:gridCol>
              </a:tblGrid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093938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189083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7857831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349944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737236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809700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794681"/>
                  </a:ext>
                </a:extLst>
              </a:tr>
            </a:tbl>
          </a:graphicData>
        </a:graphic>
      </p:graphicFrame>
      <p:graphicFrame>
        <p:nvGraphicFramePr>
          <p:cNvPr id="116" name="Tabela 115">
            <a:extLst>
              <a:ext uri="{FF2B5EF4-FFF2-40B4-BE49-F238E27FC236}">
                <a16:creationId xmlns:a16="http://schemas.microsoft.com/office/drawing/2014/main" id="{897C5277-10A3-4238-98F1-F688BDBD1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202250"/>
              </p:ext>
            </p:extLst>
          </p:nvPr>
        </p:nvGraphicFramePr>
        <p:xfrm>
          <a:off x="4781622" y="4162404"/>
          <a:ext cx="415755" cy="992985"/>
        </p:xfrm>
        <a:graphic>
          <a:graphicData uri="http://schemas.openxmlformats.org/drawingml/2006/table">
            <a:tbl>
              <a:tblPr/>
              <a:tblGrid>
                <a:gridCol w="415755">
                  <a:extLst>
                    <a:ext uri="{9D8B030D-6E8A-4147-A177-3AD203B41FA5}">
                      <a16:colId xmlns:a16="http://schemas.microsoft.com/office/drawing/2014/main" val="3519394558"/>
                    </a:ext>
                  </a:extLst>
                </a:gridCol>
              </a:tblGrid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093938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189083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7857831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349944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737236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809700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794681"/>
                  </a:ext>
                </a:extLst>
              </a:tr>
            </a:tbl>
          </a:graphicData>
        </a:graphic>
      </p:graphicFrame>
      <p:graphicFrame>
        <p:nvGraphicFramePr>
          <p:cNvPr id="117" name="Tabela 116">
            <a:extLst>
              <a:ext uri="{FF2B5EF4-FFF2-40B4-BE49-F238E27FC236}">
                <a16:creationId xmlns:a16="http://schemas.microsoft.com/office/drawing/2014/main" id="{B0904964-93EB-46C4-8FA3-06CF5F6BE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049779"/>
              </p:ext>
            </p:extLst>
          </p:nvPr>
        </p:nvGraphicFramePr>
        <p:xfrm>
          <a:off x="4779346" y="5379191"/>
          <a:ext cx="415755" cy="992985"/>
        </p:xfrm>
        <a:graphic>
          <a:graphicData uri="http://schemas.openxmlformats.org/drawingml/2006/table">
            <a:tbl>
              <a:tblPr/>
              <a:tblGrid>
                <a:gridCol w="415755">
                  <a:extLst>
                    <a:ext uri="{9D8B030D-6E8A-4147-A177-3AD203B41FA5}">
                      <a16:colId xmlns:a16="http://schemas.microsoft.com/office/drawing/2014/main" val="3519394558"/>
                    </a:ext>
                  </a:extLst>
                </a:gridCol>
              </a:tblGrid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093938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189083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7857831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3499446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7372365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809700"/>
                  </a:ext>
                </a:extLst>
              </a:tr>
              <a:tr h="141855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794681"/>
                  </a:ext>
                </a:extLst>
              </a:tr>
            </a:tbl>
          </a:graphicData>
        </a:graphic>
      </p:graphicFrame>
      <p:graphicFrame>
        <p:nvGraphicFramePr>
          <p:cNvPr id="121" name="Gráfico 120">
            <a:extLst>
              <a:ext uri="{FF2B5EF4-FFF2-40B4-BE49-F238E27FC236}">
                <a16:creationId xmlns:a16="http://schemas.microsoft.com/office/drawing/2014/main" id="{03212ABC-0EEC-4578-AA7F-FF81D4478C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867564"/>
              </p:ext>
            </p:extLst>
          </p:nvPr>
        </p:nvGraphicFramePr>
        <p:xfrm>
          <a:off x="5912490" y="698360"/>
          <a:ext cx="5616833" cy="5962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02266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uxograma: Entrada Manual 25">
            <a:extLst>
              <a:ext uri="{FF2B5EF4-FFF2-40B4-BE49-F238E27FC236}">
                <a16:creationId xmlns:a16="http://schemas.microsoft.com/office/drawing/2014/main" id="{ABE6AFF7-798D-4159-A5D9-B2D563E1DC11}"/>
              </a:ext>
            </a:extLst>
          </p:cNvPr>
          <p:cNvSpPr/>
          <p:nvPr/>
        </p:nvSpPr>
        <p:spPr>
          <a:xfrm rot="5400000" flipV="1">
            <a:off x="10825438" y="-123826"/>
            <a:ext cx="7273471" cy="7172325"/>
          </a:xfrm>
          <a:prstGeom prst="flowChartManualInput">
            <a:avLst/>
          </a:prstGeom>
          <a:solidFill>
            <a:srgbClr val="7054B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ítulo 4">
            <a:extLst>
              <a:ext uri="{FF2B5EF4-FFF2-40B4-BE49-F238E27FC236}">
                <a16:creationId xmlns:a16="http://schemas.microsoft.com/office/drawing/2014/main" id="{9ED308D6-25F2-4925-A6E5-4989892F9869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155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Gráfico de abertura dos fármacos mais prescritos reforça o padrão de comportamento da geração X e Alfa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8CE64362-41E6-43D7-9477-5C70266378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4561051"/>
              </p:ext>
            </p:extLst>
          </p:nvPr>
        </p:nvGraphicFramePr>
        <p:xfrm>
          <a:off x="5363469" y="1449433"/>
          <a:ext cx="5832000" cy="2489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3" name="Gráfico 62">
            <a:extLst>
              <a:ext uri="{FF2B5EF4-FFF2-40B4-BE49-F238E27FC236}">
                <a16:creationId xmlns:a16="http://schemas.microsoft.com/office/drawing/2014/main" id="{FDF55C97-80A1-477D-9C22-9698870B88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6077282"/>
              </p:ext>
            </p:extLst>
          </p:nvPr>
        </p:nvGraphicFramePr>
        <p:xfrm>
          <a:off x="5363469" y="4057097"/>
          <a:ext cx="5832000" cy="2489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2" name="CaixaDeTexto 61">
            <a:extLst>
              <a:ext uri="{FF2B5EF4-FFF2-40B4-BE49-F238E27FC236}">
                <a16:creationId xmlns:a16="http://schemas.microsoft.com/office/drawing/2014/main" id="{351002FA-9F7A-4185-BF5F-ADA23EBDE3D1}"/>
              </a:ext>
            </a:extLst>
          </p:cNvPr>
          <p:cNvSpPr txBox="1"/>
          <p:nvPr/>
        </p:nvSpPr>
        <p:spPr>
          <a:xfrm>
            <a:off x="1159594" y="1322736"/>
            <a:ext cx="22156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Prescrições da Pediatria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B4E7D85-74B0-4FBD-ADFD-0D062FB8F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16444"/>
              </p:ext>
            </p:extLst>
          </p:nvPr>
        </p:nvGraphicFramePr>
        <p:xfrm>
          <a:off x="664397" y="1724024"/>
          <a:ext cx="3225800" cy="4822202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1029159674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312341249"/>
                    </a:ext>
                  </a:extLst>
                </a:gridCol>
              </a:tblGrid>
              <a:tr h="21919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Prescrição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Itens Prescritos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791874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Aerolin</a:t>
                      </a:r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Spray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3.761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3415815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Sulfato de </a:t>
                      </a:r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Salbutamol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2.546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7921657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Avamys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1.184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38748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Novamox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662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611627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Paracetamol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317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704912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Budesonida (Spray)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590198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Fluconazol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5679844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Glifage XR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3910210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Clavulin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197885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Cloridrato de sertralina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5635154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Acetilcisteína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071597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Cloridrato de Fluoxetina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5164262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Cloridrato de Clindamicina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4269295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Daforin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8159510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Donaren Retard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206860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Carbonato de Lítio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3633748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Diprospan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8199368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Ansitec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6565405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Vigadexa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79413040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Arcoxia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0273501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 Geral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9.208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1968057"/>
                  </a:ext>
                </a:extLst>
              </a:tr>
            </a:tbl>
          </a:graphicData>
        </a:graphic>
      </p:graphicFrame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DFC146B-EDAF-49EB-8714-0EA8160AC253}"/>
              </a:ext>
            </a:extLst>
          </p:cNvPr>
          <p:cNvCxnSpPr>
            <a:cxnSpLocks/>
          </p:cNvCxnSpPr>
          <p:nvPr/>
        </p:nvCxnSpPr>
        <p:spPr>
          <a:xfrm>
            <a:off x="4665518" y="1449433"/>
            <a:ext cx="0" cy="5096777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AE5FB77-FD15-4056-93A4-08AA4487C225}"/>
              </a:ext>
            </a:extLst>
          </p:cNvPr>
          <p:cNvGrpSpPr/>
          <p:nvPr/>
        </p:nvGrpSpPr>
        <p:grpSpPr>
          <a:xfrm>
            <a:off x="4399118" y="3679425"/>
            <a:ext cx="518242" cy="518242"/>
            <a:chOff x="6025823" y="2527300"/>
            <a:chExt cx="360000" cy="3600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99CF3EF-295D-4A96-99CA-C21CB519D47C}"/>
                </a:ext>
              </a:extLst>
            </p:cNvPr>
            <p:cNvSpPr/>
            <p:nvPr/>
          </p:nvSpPr>
          <p:spPr>
            <a:xfrm>
              <a:off x="6025823" y="2527300"/>
              <a:ext cx="360000" cy="36000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EE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Seta: Divisa 14">
              <a:extLst>
                <a:ext uri="{FF2B5EF4-FFF2-40B4-BE49-F238E27FC236}">
                  <a16:creationId xmlns:a16="http://schemas.microsoft.com/office/drawing/2014/main" id="{A28B39B4-BD14-4401-8A42-506DF98C82EB}"/>
                </a:ext>
              </a:extLst>
            </p:cNvPr>
            <p:cNvSpPr/>
            <p:nvPr/>
          </p:nvSpPr>
          <p:spPr>
            <a:xfrm>
              <a:off x="6107907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Seta: Divisa 15">
              <a:extLst>
                <a:ext uri="{FF2B5EF4-FFF2-40B4-BE49-F238E27FC236}">
                  <a16:creationId xmlns:a16="http://schemas.microsoft.com/office/drawing/2014/main" id="{F6C8E817-86D6-4D94-98FB-C5537DE008A4}"/>
                </a:ext>
              </a:extLst>
            </p:cNvPr>
            <p:cNvSpPr/>
            <p:nvPr/>
          </p:nvSpPr>
          <p:spPr>
            <a:xfrm>
              <a:off x="6160040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Seta: Divisa 16">
              <a:extLst>
                <a:ext uri="{FF2B5EF4-FFF2-40B4-BE49-F238E27FC236}">
                  <a16:creationId xmlns:a16="http://schemas.microsoft.com/office/drawing/2014/main" id="{C8C8D9D9-7BC5-4419-AC00-969BDED29F29}"/>
                </a:ext>
              </a:extLst>
            </p:cNvPr>
            <p:cNvSpPr/>
            <p:nvPr/>
          </p:nvSpPr>
          <p:spPr>
            <a:xfrm>
              <a:off x="6212173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54A99F30-A793-4119-BC95-ED47E4893F5F}"/>
              </a:ext>
            </a:extLst>
          </p:cNvPr>
          <p:cNvSpPr/>
          <p:nvPr/>
        </p:nvSpPr>
        <p:spPr>
          <a:xfrm>
            <a:off x="644663" y="1991610"/>
            <a:ext cx="3245533" cy="621818"/>
          </a:xfrm>
          <a:prstGeom prst="rect">
            <a:avLst/>
          </a:prstGeom>
          <a:solidFill>
            <a:srgbClr val="7054B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6" name="Imagem 85">
            <a:extLst>
              <a:ext uri="{FF2B5EF4-FFF2-40B4-BE49-F238E27FC236}">
                <a16:creationId xmlns:a16="http://schemas.microsoft.com/office/drawing/2014/main" id="{5B97BC92-8292-4D59-8C87-2CF94563C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64397" y="1322736"/>
            <a:ext cx="318066" cy="31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95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F7B1255-EC7C-4186-868E-8AE09319F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566" y="332952"/>
            <a:ext cx="5843943" cy="1230304"/>
          </a:xfrm>
          <a:prstGeom prst="roundRect">
            <a:avLst>
              <a:gd name="adj" fmla="val 68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B5FC366-6D87-4055-B60D-3BC2DCF79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566" y="1829565"/>
            <a:ext cx="5843943" cy="2482663"/>
          </a:xfrm>
          <a:prstGeom prst="roundRect">
            <a:avLst>
              <a:gd name="adj" fmla="val 522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94B425A-894E-4972-9F2F-FE27CC66DE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7004"/>
          <a:stretch/>
        </p:blipFill>
        <p:spPr>
          <a:xfrm>
            <a:off x="6172566" y="4578537"/>
            <a:ext cx="5843943" cy="1924029"/>
          </a:xfrm>
          <a:prstGeom prst="roundRect">
            <a:avLst>
              <a:gd name="adj" fmla="val 706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BCF7F2C-1D0F-4335-8B6F-5EC5A9B91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6" y="332952"/>
            <a:ext cx="5961589" cy="62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73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4">
            <a:extLst>
              <a:ext uri="{FF2B5EF4-FFF2-40B4-BE49-F238E27FC236}">
                <a16:creationId xmlns:a16="http://schemas.microsoft.com/office/drawing/2014/main" id="{570F3E8B-3105-425F-875D-C9EAD614F07E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155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Após entender a abertura, o foco agora é na conversão. O quanto o engajamento se traduz em resultado?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C2F195A-81E0-4E59-9642-F557DCE57100}"/>
              </a:ext>
            </a:extLst>
          </p:cNvPr>
          <p:cNvSpPr txBox="1"/>
          <p:nvPr/>
        </p:nvSpPr>
        <p:spPr>
          <a:xfrm>
            <a:off x="627683" y="1369342"/>
            <a:ext cx="2870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Mudança de Racional e Métrica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61F038-DFA5-4B30-8EAC-7E0031A335D1}"/>
              </a:ext>
            </a:extLst>
          </p:cNvPr>
          <p:cNvSpPr txBox="1"/>
          <p:nvPr/>
        </p:nvSpPr>
        <p:spPr>
          <a:xfrm>
            <a:off x="724958" y="1866098"/>
            <a:ext cx="364807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A conversão foi calculada por item visualizado/item convertido. Para os itens convertidos, não foi utilizado filtro de visualização. Ou seja, se uma prescrição não foi aberta pelo cliente, mas ocorreu a compra, seja na loja física, seja no </a:t>
            </a:r>
            <a:r>
              <a:rPr lang="pt-BR" sz="1050" dirty="0" err="1"/>
              <a:t>MktPlace</a:t>
            </a:r>
            <a:r>
              <a:rPr lang="pt-BR" sz="1050" dirty="0"/>
              <a:t>, considerou-se como parte da conversão.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823BBDF-8666-43CF-9128-3AE4912D05DE}"/>
              </a:ext>
            </a:extLst>
          </p:cNvPr>
          <p:cNvSpPr txBox="1"/>
          <p:nvPr/>
        </p:nvSpPr>
        <p:spPr>
          <a:xfrm>
            <a:off x="627683" y="3282404"/>
            <a:ext cx="948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Abertura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263987C-6CC8-4DC7-B3D5-AA5DFF4EC68E}"/>
              </a:ext>
            </a:extLst>
          </p:cNvPr>
          <p:cNvSpPr txBox="1"/>
          <p:nvPr/>
        </p:nvSpPr>
        <p:spPr>
          <a:xfrm>
            <a:off x="724958" y="3779160"/>
            <a:ext cx="3648075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/>
              <a:t>Menor % de Abertura </a:t>
            </a:r>
            <a:r>
              <a:rPr lang="pt-BR" sz="1050" dirty="0"/>
              <a:t>identificado principalmente nas </a:t>
            </a:r>
            <a:r>
              <a:rPr lang="pt-BR" sz="1050" b="1" dirty="0"/>
              <a:t>Prescrições </a:t>
            </a:r>
            <a:r>
              <a:rPr lang="pt-BR" sz="1050" dirty="0"/>
              <a:t>de</a:t>
            </a:r>
            <a:r>
              <a:rPr lang="pt-BR" sz="1050" b="1" dirty="0"/>
              <a:t> especialidades que atendem a geração Alfa. O comportamento de abertura da Geração Alfa </a:t>
            </a:r>
            <a:r>
              <a:rPr lang="pt-BR" sz="1050" dirty="0"/>
              <a:t>parece refletir o dos responsáveis: os pais da </a:t>
            </a:r>
            <a:r>
              <a:rPr lang="pt-BR" sz="1050" b="1" dirty="0"/>
              <a:t>Geração X.</a:t>
            </a:r>
          </a:p>
          <a:p>
            <a:endParaRPr lang="pt-BR" sz="1050" dirty="0"/>
          </a:p>
          <a:p>
            <a:r>
              <a:rPr lang="pt-BR" sz="1050" dirty="0"/>
              <a:t>Pais da geração X não medem esforços para proporcionar um ambiente seguro para seus filhos e priorizam resolver na hora pós-consulta.</a:t>
            </a:r>
          </a:p>
          <a:p>
            <a:endParaRPr lang="pt-BR" sz="105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7A896C-E3C2-4530-814C-2A7E07EEA0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80667" t="20674" r="1238" b="2671"/>
          <a:stretch/>
        </p:blipFill>
        <p:spPr>
          <a:xfrm>
            <a:off x="4913801" y="3779160"/>
            <a:ext cx="566167" cy="1966687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16C8D4DC-43EA-433A-875F-92F1683037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1500" t="20592" r="60472" b="3036"/>
          <a:stretch/>
        </p:blipFill>
        <p:spPr>
          <a:xfrm>
            <a:off x="4373033" y="3779160"/>
            <a:ext cx="566168" cy="1966686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6A8566D9-2331-4FB9-8601-B890837BED0C}"/>
              </a:ext>
            </a:extLst>
          </p:cNvPr>
          <p:cNvSpPr txBox="1"/>
          <p:nvPr/>
        </p:nvSpPr>
        <p:spPr>
          <a:xfrm>
            <a:off x="6944646" y="1369342"/>
            <a:ext cx="3633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Total de Itens Visualizados e Convertidos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9C50A2AD-6C42-4311-8F91-CDDBA7C636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4737408"/>
              </p:ext>
            </p:extLst>
          </p:nvPr>
        </p:nvGraphicFramePr>
        <p:xfrm>
          <a:off x="5793921" y="1982212"/>
          <a:ext cx="5921829" cy="4431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9" name="Imagem 28">
            <a:extLst>
              <a:ext uri="{FF2B5EF4-FFF2-40B4-BE49-F238E27FC236}">
                <a16:creationId xmlns:a16="http://schemas.microsoft.com/office/drawing/2014/main" id="{DD677741-7791-4A2F-86A0-773B4D7E9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556954B-A816-4905-ABA3-8461EDDFBD99}"/>
              </a:ext>
            </a:extLst>
          </p:cNvPr>
          <p:cNvSpPr/>
          <p:nvPr/>
        </p:nvSpPr>
        <p:spPr>
          <a:xfrm>
            <a:off x="627683" y="1303867"/>
            <a:ext cx="3797344" cy="1774973"/>
          </a:xfrm>
          <a:prstGeom prst="rect">
            <a:avLst/>
          </a:prstGeom>
          <a:noFill/>
          <a:ln>
            <a:solidFill>
              <a:srgbClr val="3C0E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99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233;p30">
            <a:extLst>
              <a:ext uri="{FF2B5EF4-FFF2-40B4-BE49-F238E27FC236}">
                <a16:creationId xmlns:a16="http://schemas.microsoft.com/office/drawing/2014/main" id="{125E685B-594F-4FCE-B13C-C399050BB5A2}"/>
              </a:ext>
            </a:extLst>
          </p:cNvPr>
          <p:cNvCxnSpPr>
            <a:cxnSpLocks/>
          </p:cNvCxnSpPr>
          <p:nvPr/>
        </p:nvCxnSpPr>
        <p:spPr>
          <a:xfrm>
            <a:off x="10911595" y="2103225"/>
            <a:ext cx="1" cy="638288"/>
          </a:xfrm>
          <a:prstGeom prst="straightConnector1">
            <a:avLst/>
          </a:prstGeom>
          <a:noFill/>
          <a:ln w="19050" cap="flat" cmpd="sng">
            <a:solidFill>
              <a:srgbClr val="6C4AC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234;p30">
            <a:extLst>
              <a:ext uri="{FF2B5EF4-FFF2-40B4-BE49-F238E27FC236}">
                <a16:creationId xmlns:a16="http://schemas.microsoft.com/office/drawing/2014/main" id="{215F3E97-8055-4097-B6EA-99F6B71DBBEB}"/>
              </a:ext>
            </a:extLst>
          </p:cNvPr>
          <p:cNvCxnSpPr>
            <a:cxnSpLocks/>
          </p:cNvCxnSpPr>
          <p:nvPr/>
        </p:nvCxnSpPr>
        <p:spPr>
          <a:xfrm>
            <a:off x="10911595" y="3351175"/>
            <a:ext cx="1" cy="638288"/>
          </a:xfrm>
          <a:prstGeom prst="straightConnector1">
            <a:avLst/>
          </a:prstGeom>
          <a:noFill/>
          <a:ln w="19050" cap="flat" cmpd="sng">
            <a:solidFill>
              <a:srgbClr val="6C4AC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Fluxograma: Entrada Manual 58">
            <a:extLst>
              <a:ext uri="{FF2B5EF4-FFF2-40B4-BE49-F238E27FC236}">
                <a16:creationId xmlns:a16="http://schemas.microsoft.com/office/drawing/2014/main" id="{075E9F89-3247-4070-8093-61BF971CD833}"/>
              </a:ext>
            </a:extLst>
          </p:cNvPr>
          <p:cNvSpPr/>
          <p:nvPr/>
        </p:nvSpPr>
        <p:spPr>
          <a:xfrm rot="5400000" flipV="1">
            <a:off x="6541163" y="-123826"/>
            <a:ext cx="7273471" cy="7172325"/>
          </a:xfrm>
          <a:prstGeom prst="flowChartManualInput">
            <a:avLst/>
          </a:prstGeom>
          <a:solidFill>
            <a:srgbClr val="7054B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78AAA5B-CAE2-4524-A007-F8A924B665B2}"/>
              </a:ext>
            </a:extLst>
          </p:cNvPr>
          <p:cNvSpPr/>
          <p:nvPr/>
        </p:nvSpPr>
        <p:spPr>
          <a:xfrm>
            <a:off x="534550" y="1212967"/>
            <a:ext cx="7273471" cy="5361163"/>
          </a:xfrm>
          <a:prstGeom prst="rect">
            <a:avLst/>
          </a:prstGeom>
          <a:solidFill>
            <a:schemeClr val="bg1"/>
          </a:solidFill>
          <a:ln w="19050">
            <a:solidFill>
              <a:srgbClr val="5E2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4">
            <a:extLst>
              <a:ext uri="{FF2B5EF4-FFF2-40B4-BE49-F238E27FC236}">
                <a16:creationId xmlns:a16="http://schemas.microsoft.com/office/drawing/2014/main" id="{570F3E8B-3105-425F-875D-C9EAD614F07E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736485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Gerações Alfa, X e Millenials apresentaram juntas redução de 3,5% na Conversão 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6E5A39C-400F-4D54-A0E5-F366FE97C4EB}"/>
              </a:ext>
            </a:extLst>
          </p:cNvPr>
          <p:cNvSpPr/>
          <p:nvPr/>
        </p:nvSpPr>
        <p:spPr>
          <a:xfrm>
            <a:off x="6661939" y="1415447"/>
            <a:ext cx="998647" cy="4837949"/>
          </a:xfrm>
          <a:prstGeom prst="rect">
            <a:avLst/>
          </a:prstGeom>
          <a:solidFill>
            <a:schemeClr val="bg1"/>
          </a:solidFill>
          <a:ln>
            <a:solidFill>
              <a:srgbClr val="5E2C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EE554F-634C-4ABC-AC58-67D1256256C9}"/>
              </a:ext>
            </a:extLst>
          </p:cNvPr>
          <p:cNvSpPr txBox="1"/>
          <p:nvPr/>
        </p:nvSpPr>
        <p:spPr>
          <a:xfrm>
            <a:off x="6823300" y="2160972"/>
            <a:ext cx="65755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BR" sz="1600" b="1" dirty="0">
                <a:solidFill>
                  <a:srgbClr val="71AE49"/>
                </a:solidFill>
              </a:rPr>
              <a:t>-3,8%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12124A6-042E-41A0-B384-9EA23F3995CE}"/>
              </a:ext>
            </a:extLst>
          </p:cNvPr>
          <p:cNvSpPr txBox="1"/>
          <p:nvPr/>
        </p:nvSpPr>
        <p:spPr>
          <a:xfrm>
            <a:off x="6824903" y="2889469"/>
            <a:ext cx="65434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BR" sz="1600" dirty="0">
                <a:solidFill>
                  <a:srgbClr val="5B9BD5">
                    <a:alpha val="60000"/>
                  </a:srgbClr>
                </a:solidFill>
              </a:rPr>
              <a:t>-0,9%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98831C7-0106-46E1-ADC5-FA1219860547}"/>
              </a:ext>
            </a:extLst>
          </p:cNvPr>
          <p:cNvSpPr txBox="1"/>
          <p:nvPr/>
        </p:nvSpPr>
        <p:spPr>
          <a:xfrm>
            <a:off x="6824903" y="3617966"/>
            <a:ext cx="65434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BR" sz="1600" b="1" dirty="0">
                <a:solidFill>
                  <a:srgbClr val="FFC102"/>
                </a:solidFill>
              </a:rPr>
              <a:t>-1,3%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977E00D-A7B9-4CD6-B922-EB3F15B0676D}"/>
              </a:ext>
            </a:extLst>
          </p:cNvPr>
          <p:cNvSpPr txBox="1"/>
          <p:nvPr/>
        </p:nvSpPr>
        <p:spPr>
          <a:xfrm>
            <a:off x="6823300" y="4346462"/>
            <a:ext cx="65755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BR" sz="1600" b="1" dirty="0">
                <a:solidFill>
                  <a:schemeClr val="bg1">
                    <a:lumMod val="50000"/>
                  </a:schemeClr>
                </a:solidFill>
              </a:rPr>
              <a:t>-1,4%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A0AE57B-B650-4A70-8393-E652F643C999}"/>
              </a:ext>
            </a:extLst>
          </p:cNvPr>
          <p:cNvSpPr txBox="1"/>
          <p:nvPr/>
        </p:nvSpPr>
        <p:spPr>
          <a:xfrm>
            <a:off x="6856162" y="5074959"/>
            <a:ext cx="59182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BR" sz="1600" dirty="0">
                <a:solidFill>
                  <a:srgbClr val="ED7D31">
                    <a:alpha val="60000"/>
                  </a:srgbClr>
                </a:solidFill>
              </a:rPr>
              <a:t>1,1%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4C2DC6F-5A86-4CF1-B353-3960804A67F8}"/>
              </a:ext>
            </a:extLst>
          </p:cNvPr>
          <p:cNvSpPr txBox="1"/>
          <p:nvPr/>
        </p:nvSpPr>
        <p:spPr>
          <a:xfrm>
            <a:off x="6824903" y="5803457"/>
            <a:ext cx="65434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BR" sz="1600" dirty="0">
                <a:solidFill>
                  <a:srgbClr val="4472C4">
                    <a:alpha val="60000"/>
                  </a:srgbClr>
                </a:solidFill>
              </a:rPr>
              <a:t>-1,7%</a:t>
            </a: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83FCD7E7-4F12-41CB-8D07-F4D60B799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1230838"/>
              </p:ext>
            </p:extLst>
          </p:nvPr>
        </p:nvGraphicFramePr>
        <p:xfrm>
          <a:off x="1279100" y="5425417"/>
          <a:ext cx="5382838" cy="1070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Gráfico 27">
            <a:extLst>
              <a:ext uri="{FF2B5EF4-FFF2-40B4-BE49-F238E27FC236}">
                <a16:creationId xmlns:a16="http://schemas.microsoft.com/office/drawing/2014/main" id="{CD230A1E-1936-41FC-8F59-27BAD2DA34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9519714"/>
              </p:ext>
            </p:extLst>
          </p:nvPr>
        </p:nvGraphicFramePr>
        <p:xfrm>
          <a:off x="1279101" y="4838621"/>
          <a:ext cx="5382837" cy="984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Gráfico 28">
            <a:extLst>
              <a:ext uri="{FF2B5EF4-FFF2-40B4-BE49-F238E27FC236}">
                <a16:creationId xmlns:a16="http://schemas.microsoft.com/office/drawing/2014/main" id="{B2AB85F7-C451-4967-9B77-0B2887B9B6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4977427"/>
              </p:ext>
            </p:extLst>
          </p:nvPr>
        </p:nvGraphicFramePr>
        <p:xfrm>
          <a:off x="1262818" y="4136248"/>
          <a:ext cx="5399120" cy="991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10193073-2ED9-4854-9E42-1FE1B9BB05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783741"/>
              </p:ext>
            </p:extLst>
          </p:nvPr>
        </p:nvGraphicFramePr>
        <p:xfrm>
          <a:off x="1279101" y="3445828"/>
          <a:ext cx="5382837" cy="1119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1" name="Gráfico 30">
            <a:extLst>
              <a:ext uri="{FF2B5EF4-FFF2-40B4-BE49-F238E27FC236}">
                <a16:creationId xmlns:a16="http://schemas.microsoft.com/office/drawing/2014/main" id="{D056EABF-1B8D-47E4-B1DB-B8CE5F1C0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97320"/>
              </p:ext>
            </p:extLst>
          </p:nvPr>
        </p:nvGraphicFramePr>
        <p:xfrm>
          <a:off x="1279101" y="2786181"/>
          <a:ext cx="5382837" cy="991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2" name="Gráfico 31">
            <a:extLst>
              <a:ext uri="{FF2B5EF4-FFF2-40B4-BE49-F238E27FC236}">
                <a16:creationId xmlns:a16="http://schemas.microsoft.com/office/drawing/2014/main" id="{CE9ECE4E-B419-4577-BC05-1474B634E9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074740"/>
              </p:ext>
            </p:extLst>
          </p:nvPr>
        </p:nvGraphicFramePr>
        <p:xfrm>
          <a:off x="1262818" y="1987594"/>
          <a:ext cx="5399120" cy="1057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CaixaDeTexto 32">
            <a:extLst>
              <a:ext uri="{FF2B5EF4-FFF2-40B4-BE49-F238E27FC236}">
                <a16:creationId xmlns:a16="http://schemas.microsoft.com/office/drawing/2014/main" id="{85E6BB25-BDB8-44A8-87A4-44C24DB102A5}"/>
              </a:ext>
            </a:extLst>
          </p:cNvPr>
          <p:cNvSpPr txBox="1"/>
          <p:nvPr/>
        </p:nvSpPr>
        <p:spPr>
          <a:xfrm>
            <a:off x="6719677" y="1494846"/>
            <a:ext cx="877046" cy="338554"/>
          </a:xfrm>
          <a:prstGeom prst="rect">
            <a:avLst/>
          </a:prstGeom>
          <a:noFill/>
          <a:ln>
            <a:solidFill>
              <a:srgbClr val="3C0E6B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pt-BR" sz="1600" b="1" dirty="0"/>
              <a:t>S14 </a:t>
            </a:r>
            <a:r>
              <a:rPr lang="pt-BR" sz="1600" b="1" dirty="0" err="1"/>
              <a:t>vs</a:t>
            </a:r>
            <a:r>
              <a:rPr lang="pt-BR" sz="1600" b="1" dirty="0"/>
              <a:t> S2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116F2F3-F398-4E01-B958-E9AEE1C2ED63}"/>
              </a:ext>
            </a:extLst>
          </p:cNvPr>
          <p:cNvSpPr txBox="1"/>
          <p:nvPr/>
        </p:nvSpPr>
        <p:spPr>
          <a:xfrm>
            <a:off x="2582525" y="1415447"/>
            <a:ext cx="2031439" cy="34539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b="1" dirty="0"/>
              <a:t>Conversão por Geração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D139939-C68C-4408-A76C-9340B7B41B5A}"/>
              </a:ext>
            </a:extLst>
          </p:cNvPr>
          <p:cNvSpPr txBox="1"/>
          <p:nvPr/>
        </p:nvSpPr>
        <p:spPr>
          <a:xfrm>
            <a:off x="874464" y="1987594"/>
            <a:ext cx="404637" cy="431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err="1">
                <a:solidFill>
                  <a:srgbClr val="71AE49"/>
                </a:solidFill>
              </a:rPr>
              <a:t>Gen</a:t>
            </a:r>
            <a:r>
              <a:rPr lang="pt-BR" sz="1200" b="1" dirty="0">
                <a:solidFill>
                  <a:srgbClr val="71AE49"/>
                </a:solidFill>
              </a:rPr>
              <a:t> </a:t>
            </a:r>
          </a:p>
          <a:p>
            <a:pPr algn="ctr"/>
            <a:r>
              <a:rPr lang="pt-BR" sz="1200" b="1" dirty="0">
                <a:solidFill>
                  <a:srgbClr val="71AE49"/>
                </a:solidFill>
              </a:rPr>
              <a:t>Alfa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9060A98-2C01-47C1-8379-D3E6BFBACFDE}"/>
              </a:ext>
            </a:extLst>
          </p:cNvPr>
          <p:cNvSpPr txBox="1"/>
          <p:nvPr/>
        </p:nvSpPr>
        <p:spPr>
          <a:xfrm>
            <a:off x="890747" y="2874080"/>
            <a:ext cx="372071" cy="431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err="1">
                <a:solidFill>
                  <a:srgbClr val="5B9BD5"/>
                </a:solidFill>
              </a:rPr>
              <a:t>Gen</a:t>
            </a:r>
            <a:endParaRPr lang="pt-BR" sz="1200" b="1" dirty="0">
              <a:solidFill>
                <a:srgbClr val="5B9BD5"/>
              </a:solidFill>
            </a:endParaRPr>
          </a:p>
          <a:p>
            <a:pPr algn="ctr"/>
            <a:r>
              <a:rPr lang="pt-BR" sz="1200" b="1" dirty="0">
                <a:solidFill>
                  <a:srgbClr val="5B9BD5"/>
                </a:solidFill>
              </a:rPr>
              <a:t>Z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7AFC448-AC1A-4CB2-B747-0F363E2C53D4}"/>
              </a:ext>
            </a:extLst>
          </p:cNvPr>
          <p:cNvSpPr txBox="1"/>
          <p:nvPr/>
        </p:nvSpPr>
        <p:spPr>
          <a:xfrm>
            <a:off x="734699" y="3567336"/>
            <a:ext cx="684167" cy="25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C102"/>
                </a:solidFill>
              </a:rPr>
              <a:t>Millenials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D8963908-22D2-46E9-A8DB-D26B83E9CAEB}"/>
              </a:ext>
            </a:extLst>
          </p:cNvPr>
          <p:cNvSpPr txBox="1"/>
          <p:nvPr/>
        </p:nvSpPr>
        <p:spPr>
          <a:xfrm>
            <a:off x="890747" y="4244726"/>
            <a:ext cx="372071" cy="431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err="1">
                <a:solidFill>
                  <a:srgbClr val="A5A5A5"/>
                </a:solidFill>
              </a:rPr>
              <a:t>Gen</a:t>
            </a:r>
            <a:endParaRPr lang="pt-BR" sz="1200" b="1" dirty="0">
              <a:solidFill>
                <a:srgbClr val="A5A5A5"/>
              </a:solidFill>
            </a:endParaRPr>
          </a:p>
          <a:p>
            <a:pPr algn="ctr"/>
            <a:r>
              <a:rPr lang="pt-BR" sz="1200" b="1" dirty="0">
                <a:solidFill>
                  <a:srgbClr val="A5A5A5"/>
                </a:solidFill>
              </a:rPr>
              <a:t>X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561ADE8-5944-48CD-B533-C772572D25CE}"/>
              </a:ext>
            </a:extLst>
          </p:cNvPr>
          <p:cNvSpPr txBox="1"/>
          <p:nvPr/>
        </p:nvSpPr>
        <p:spPr>
          <a:xfrm>
            <a:off x="757877" y="4953923"/>
            <a:ext cx="637814" cy="431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>
                <a:solidFill>
                  <a:srgbClr val="ED7D31"/>
                </a:solidFill>
              </a:rPr>
              <a:t>Baby</a:t>
            </a:r>
          </a:p>
          <a:p>
            <a:pPr algn="ctr"/>
            <a:r>
              <a:rPr lang="pt-BR" sz="1200" b="1" dirty="0">
                <a:solidFill>
                  <a:srgbClr val="ED7D31"/>
                </a:solidFill>
              </a:rPr>
              <a:t>Boomers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D5F7169C-BABA-4B18-84E6-18902354C7E1}"/>
              </a:ext>
            </a:extLst>
          </p:cNvPr>
          <p:cNvSpPr txBox="1"/>
          <p:nvPr/>
        </p:nvSpPr>
        <p:spPr>
          <a:xfrm>
            <a:off x="731308" y="5714208"/>
            <a:ext cx="690951" cy="25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>
                <a:solidFill>
                  <a:srgbClr val="4472C4"/>
                </a:solidFill>
              </a:rPr>
              <a:t>Silenciosa</a:t>
            </a:r>
          </a:p>
        </p:txBody>
      </p:sp>
      <p:graphicFrame>
        <p:nvGraphicFramePr>
          <p:cNvPr id="54" name="Gráfico 53">
            <a:extLst>
              <a:ext uri="{FF2B5EF4-FFF2-40B4-BE49-F238E27FC236}">
                <a16:creationId xmlns:a16="http://schemas.microsoft.com/office/drawing/2014/main" id="{4AFC67DF-0C27-4DAA-9A95-4DD828376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6605963"/>
              </p:ext>
            </p:extLst>
          </p:nvPr>
        </p:nvGraphicFramePr>
        <p:xfrm>
          <a:off x="8430499" y="1987594"/>
          <a:ext cx="3494801" cy="4676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5" name="CaixaDeTexto 54">
            <a:extLst>
              <a:ext uri="{FF2B5EF4-FFF2-40B4-BE49-F238E27FC236}">
                <a16:creationId xmlns:a16="http://schemas.microsoft.com/office/drawing/2014/main" id="{4E1AC29E-F546-4689-9AC4-F63C2BCF29AF}"/>
              </a:ext>
            </a:extLst>
          </p:cNvPr>
          <p:cNvSpPr txBox="1"/>
          <p:nvPr/>
        </p:nvSpPr>
        <p:spPr>
          <a:xfrm>
            <a:off x="9200333" y="1391506"/>
            <a:ext cx="19273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Mais Visualizados 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FF6F1066-9121-4294-9020-4660BCAA265B}"/>
              </a:ext>
            </a:extLst>
          </p:cNvPr>
          <p:cNvSpPr/>
          <p:nvPr/>
        </p:nvSpPr>
        <p:spPr>
          <a:xfrm>
            <a:off x="8518525" y="2088999"/>
            <a:ext cx="3408080" cy="1836000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C703320E-C475-4F0B-9B11-8763A7CA70BB}"/>
              </a:ext>
            </a:extLst>
          </p:cNvPr>
          <p:cNvSpPr txBox="1"/>
          <p:nvPr/>
        </p:nvSpPr>
        <p:spPr>
          <a:xfrm>
            <a:off x="9328701" y="1683905"/>
            <a:ext cx="1670649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1050" dirty="0">
                <a:solidFill>
                  <a:schemeClr val="bg1"/>
                </a:solidFill>
              </a:rPr>
              <a:t>Millenials, Geração Alfa e X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216514F0-BA4B-49C2-B5F6-BDB5898D0BEB}"/>
              </a:ext>
            </a:extLst>
          </p:cNvPr>
          <p:cNvSpPr txBox="1"/>
          <p:nvPr/>
        </p:nvSpPr>
        <p:spPr>
          <a:xfrm>
            <a:off x="6735654" y="1805816"/>
            <a:ext cx="845104" cy="25391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pt-BR" sz="1050" b="1" dirty="0"/>
              <a:t>12 períodos</a:t>
            </a:r>
          </a:p>
        </p:txBody>
      </p:sp>
    </p:spTree>
    <p:extLst>
      <p:ext uri="{BB962C8B-B14F-4D97-AF65-F5344CB8AC3E}">
        <p14:creationId xmlns:p14="http://schemas.microsoft.com/office/powerpoint/2010/main" val="3144147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4">
            <a:extLst>
              <a:ext uri="{FF2B5EF4-FFF2-40B4-BE49-F238E27FC236}">
                <a16:creationId xmlns:a16="http://schemas.microsoft.com/office/drawing/2014/main" id="{570F3E8B-3105-425F-875D-C9EAD614F07E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63205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Conversão do </a:t>
            </a:r>
            <a:r>
              <a:rPr lang="pt-BR" b="1" kern="0" dirty="0" err="1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Glifage</a:t>
            </a:r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XR abaixo da média semanal, representando 0.4p.p. da queda de Conversão (-1.7%)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C462E0A-CD88-459A-9569-785B38600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815121"/>
              </p:ext>
            </p:extLst>
          </p:nvPr>
        </p:nvGraphicFramePr>
        <p:xfrm>
          <a:off x="381934" y="1753179"/>
          <a:ext cx="8816829" cy="190500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1517890">
                  <a:extLst>
                    <a:ext uri="{9D8B030D-6E8A-4147-A177-3AD203B41FA5}">
                      <a16:colId xmlns:a16="http://schemas.microsoft.com/office/drawing/2014/main" val="753434627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898565715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23951572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679414061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670828348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438147319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218441650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354325566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765451361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1323850986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3702716217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471013677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289910252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1470696175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323487920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200736376"/>
                    </a:ext>
                  </a:extLst>
                </a:gridCol>
                <a:gridCol w="419563">
                  <a:extLst>
                    <a:ext uri="{9D8B030D-6E8A-4147-A177-3AD203B41FA5}">
                      <a16:colId xmlns:a16="http://schemas.microsoft.com/office/drawing/2014/main" val="2570536162"/>
                    </a:ext>
                  </a:extLst>
                </a:gridCol>
                <a:gridCol w="585931">
                  <a:extLst>
                    <a:ext uri="{9D8B030D-6E8A-4147-A177-3AD203B41FA5}">
                      <a16:colId xmlns:a16="http://schemas.microsoft.com/office/drawing/2014/main" val="239520176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Remédio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S14xS2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4775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Acetilcisteína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-3,3%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0510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Aerolin</a:t>
                      </a:r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Spray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-4,8%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780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Avamys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-4,4%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7027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Budesonida</a:t>
                      </a:r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(Spray)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2,7%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630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Diprospan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-0,5%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0540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Fluconazol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-1,3%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3888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Glifage</a:t>
                      </a:r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XR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-11,1%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3610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Paracetamol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-0,4%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242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Sulfato de </a:t>
                      </a:r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Salbutamol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19%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0,3%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32580"/>
                  </a:ext>
                </a:extLst>
              </a:tr>
            </a:tbl>
          </a:graphicData>
        </a:graphic>
      </p:graphicFrame>
      <p:grpSp>
        <p:nvGrpSpPr>
          <p:cNvPr id="4" name="Agrupar 3">
            <a:extLst>
              <a:ext uri="{FF2B5EF4-FFF2-40B4-BE49-F238E27FC236}">
                <a16:creationId xmlns:a16="http://schemas.microsoft.com/office/drawing/2014/main" id="{DB055AF0-F0D8-4D63-9858-CCD6DF870543}"/>
              </a:ext>
            </a:extLst>
          </p:cNvPr>
          <p:cNvGrpSpPr/>
          <p:nvPr/>
        </p:nvGrpSpPr>
        <p:grpSpPr>
          <a:xfrm>
            <a:off x="5961041" y="4186458"/>
            <a:ext cx="5854258" cy="2300215"/>
            <a:chOff x="258109" y="3999181"/>
            <a:chExt cx="6316862" cy="2481978"/>
          </a:xfrm>
        </p:grpSpPr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B1CF159C-E941-4C37-A97E-649676740285}"/>
                </a:ext>
              </a:extLst>
            </p:cNvPr>
            <p:cNvSpPr/>
            <p:nvPr/>
          </p:nvSpPr>
          <p:spPr>
            <a:xfrm>
              <a:off x="258109" y="3999181"/>
              <a:ext cx="6316862" cy="2481978"/>
            </a:xfrm>
            <a:prstGeom prst="rect">
              <a:avLst/>
            </a:prstGeom>
            <a:noFill/>
            <a:ln>
              <a:solidFill>
                <a:srgbClr val="5E2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7A442D1-D5FD-4839-86AA-F54C2B3E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557" y="4078233"/>
              <a:ext cx="6039693" cy="1190791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C1FDE04-D5AD-497D-A105-03A993C6E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932" y="5269024"/>
              <a:ext cx="5839640" cy="990738"/>
            </a:xfrm>
            <a:prstGeom prst="rect">
              <a:avLst/>
            </a:prstGeom>
          </p:spPr>
        </p:pic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526E5FAA-41A7-4F11-9C34-A93578C93B18}"/>
                </a:ext>
              </a:extLst>
            </p:cNvPr>
            <p:cNvSpPr/>
            <p:nvPr/>
          </p:nvSpPr>
          <p:spPr>
            <a:xfrm>
              <a:off x="510610" y="5235363"/>
              <a:ext cx="5839640" cy="1058060"/>
            </a:xfrm>
            <a:custGeom>
              <a:avLst/>
              <a:gdLst>
                <a:gd name="connsiteX0" fmla="*/ 105321 w 5839640"/>
                <a:gd name="connsiteY0" fmla="*/ 798765 h 1058060"/>
                <a:gd name="connsiteX1" fmla="*/ 105321 w 5839640"/>
                <a:gd name="connsiteY1" fmla="*/ 950129 h 1058060"/>
                <a:gd name="connsiteX2" fmla="*/ 753321 w 5839640"/>
                <a:gd name="connsiteY2" fmla="*/ 950129 h 1058060"/>
                <a:gd name="connsiteX3" fmla="*/ 753321 w 5839640"/>
                <a:gd name="connsiteY3" fmla="*/ 798765 h 1058060"/>
                <a:gd name="connsiteX4" fmla="*/ 4218186 w 5839640"/>
                <a:gd name="connsiteY4" fmla="*/ 665157 h 1058060"/>
                <a:gd name="connsiteX5" fmla="*/ 4218186 w 5839640"/>
                <a:gd name="connsiteY5" fmla="*/ 816521 h 1058060"/>
                <a:gd name="connsiteX6" fmla="*/ 5838186 w 5839640"/>
                <a:gd name="connsiteY6" fmla="*/ 816521 h 1058060"/>
                <a:gd name="connsiteX7" fmla="*/ 5838186 w 5839640"/>
                <a:gd name="connsiteY7" fmla="*/ 665157 h 1058060"/>
                <a:gd name="connsiteX8" fmla="*/ 105321 w 5839640"/>
                <a:gd name="connsiteY8" fmla="*/ 514090 h 1058060"/>
                <a:gd name="connsiteX9" fmla="*/ 105321 w 5839640"/>
                <a:gd name="connsiteY9" fmla="*/ 665454 h 1058060"/>
                <a:gd name="connsiteX10" fmla="*/ 2301321 w 5839640"/>
                <a:gd name="connsiteY10" fmla="*/ 665454 h 1058060"/>
                <a:gd name="connsiteX11" fmla="*/ 2301321 w 5839640"/>
                <a:gd name="connsiteY11" fmla="*/ 514090 h 1058060"/>
                <a:gd name="connsiteX12" fmla="*/ 105322 w 5839640"/>
                <a:gd name="connsiteY12" fmla="*/ 87518 h 1058060"/>
                <a:gd name="connsiteX13" fmla="*/ 105322 w 5839640"/>
                <a:gd name="connsiteY13" fmla="*/ 362726 h 1058060"/>
                <a:gd name="connsiteX14" fmla="*/ 1721922 w 5839640"/>
                <a:gd name="connsiteY14" fmla="*/ 362726 h 1058060"/>
                <a:gd name="connsiteX15" fmla="*/ 1721922 w 5839640"/>
                <a:gd name="connsiteY15" fmla="*/ 87518 h 1058060"/>
                <a:gd name="connsiteX16" fmla="*/ 0 w 5839640"/>
                <a:gd name="connsiteY16" fmla="*/ 0 h 1058060"/>
                <a:gd name="connsiteX17" fmla="*/ 5839640 w 5839640"/>
                <a:gd name="connsiteY17" fmla="*/ 0 h 1058060"/>
                <a:gd name="connsiteX18" fmla="*/ 5839640 w 5839640"/>
                <a:gd name="connsiteY18" fmla="*/ 353848 h 1058060"/>
                <a:gd name="connsiteX19" fmla="*/ 4774977 w 5839640"/>
                <a:gd name="connsiteY19" fmla="*/ 353848 h 1058060"/>
                <a:gd name="connsiteX20" fmla="*/ 4774977 w 5839640"/>
                <a:gd name="connsiteY20" fmla="*/ 505212 h 1058060"/>
                <a:gd name="connsiteX21" fmla="*/ 5839640 w 5839640"/>
                <a:gd name="connsiteY21" fmla="*/ 505212 h 1058060"/>
                <a:gd name="connsiteX22" fmla="*/ 5839640 w 5839640"/>
                <a:gd name="connsiteY22" fmla="*/ 1058060 h 1058060"/>
                <a:gd name="connsiteX23" fmla="*/ 0 w 5839640"/>
                <a:gd name="connsiteY23" fmla="*/ 1058060 h 105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39640" h="1058060">
                  <a:moveTo>
                    <a:pt x="105321" y="798765"/>
                  </a:moveTo>
                  <a:lnTo>
                    <a:pt x="105321" y="950129"/>
                  </a:lnTo>
                  <a:lnTo>
                    <a:pt x="753321" y="950129"/>
                  </a:lnTo>
                  <a:lnTo>
                    <a:pt x="753321" y="798765"/>
                  </a:lnTo>
                  <a:close/>
                  <a:moveTo>
                    <a:pt x="4218186" y="665157"/>
                  </a:moveTo>
                  <a:lnTo>
                    <a:pt x="4218186" y="816521"/>
                  </a:lnTo>
                  <a:lnTo>
                    <a:pt x="5838186" y="816521"/>
                  </a:lnTo>
                  <a:lnTo>
                    <a:pt x="5838186" y="665157"/>
                  </a:lnTo>
                  <a:close/>
                  <a:moveTo>
                    <a:pt x="105321" y="514090"/>
                  </a:moveTo>
                  <a:lnTo>
                    <a:pt x="105321" y="665454"/>
                  </a:lnTo>
                  <a:lnTo>
                    <a:pt x="2301321" y="665454"/>
                  </a:lnTo>
                  <a:lnTo>
                    <a:pt x="2301321" y="514090"/>
                  </a:lnTo>
                  <a:close/>
                  <a:moveTo>
                    <a:pt x="105322" y="87518"/>
                  </a:moveTo>
                  <a:lnTo>
                    <a:pt x="105322" y="362726"/>
                  </a:lnTo>
                  <a:lnTo>
                    <a:pt x="1721922" y="362726"/>
                  </a:lnTo>
                  <a:lnTo>
                    <a:pt x="1721922" y="87518"/>
                  </a:lnTo>
                  <a:close/>
                  <a:moveTo>
                    <a:pt x="0" y="0"/>
                  </a:moveTo>
                  <a:lnTo>
                    <a:pt x="5839640" y="0"/>
                  </a:lnTo>
                  <a:lnTo>
                    <a:pt x="5839640" y="353848"/>
                  </a:lnTo>
                  <a:lnTo>
                    <a:pt x="4774977" y="353848"/>
                  </a:lnTo>
                  <a:lnTo>
                    <a:pt x="4774977" y="505212"/>
                  </a:lnTo>
                  <a:lnTo>
                    <a:pt x="5839640" y="505212"/>
                  </a:lnTo>
                  <a:lnTo>
                    <a:pt x="5839640" y="1058060"/>
                  </a:lnTo>
                  <a:lnTo>
                    <a:pt x="0" y="1058060"/>
                  </a:lnTo>
                  <a:close/>
                </a:path>
              </a:pathLst>
            </a:custGeom>
            <a:solidFill>
              <a:schemeClr val="bg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7EE1FA80-4783-470C-B7C0-345E219DB777}"/>
              </a:ext>
            </a:extLst>
          </p:cNvPr>
          <p:cNvSpPr txBox="1"/>
          <p:nvPr/>
        </p:nvSpPr>
        <p:spPr>
          <a:xfrm>
            <a:off x="9524470" y="1934327"/>
            <a:ext cx="22908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44.6% das vendas são realizadas após 5 dias da data da prescrição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0B39E5A-5BD9-40EC-B029-E694C63C3F34}"/>
              </a:ext>
            </a:extLst>
          </p:cNvPr>
          <p:cNvSpPr/>
          <p:nvPr/>
        </p:nvSpPr>
        <p:spPr>
          <a:xfrm>
            <a:off x="275091" y="1473301"/>
            <a:ext cx="9000000" cy="29763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6C4CC1FB-B205-43B8-AC52-13B39E59611A}"/>
              </a:ext>
            </a:extLst>
          </p:cNvPr>
          <p:cNvSpPr txBox="1"/>
          <p:nvPr/>
        </p:nvSpPr>
        <p:spPr>
          <a:xfrm>
            <a:off x="3242046" y="1450833"/>
            <a:ext cx="309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*Conversão Semanal por Remédio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0EADCEBB-FFBC-48EA-80C1-8ED3AD7B527B}"/>
              </a:ext>
            </a:extLst>
          </p:cNvPr>
          <p:cNvSpPr txBox="1"/>
          <p:nvPr/>
        </p:nvSpPr>
        <p:spPr>
          <a:xfrm>
            <a:off x="10111604" y="1450833"/>
            <a:ext cx="16666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Fatos e Hipóteses</a:t>
            </a: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8926F270-C733-4A94-9C7D-F4ED66838C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96616" y="1382137"/>
            <a:ext cx="457876" cy="457876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91EB250C-DD85-43BD-99A0-92252176C17B}"/>
              </a:ext>
            </a:extLst>
          </p:cNvPr>
          <p:cNvSpPr txBox="1"/>
          <p:nvPr/>
        </p:nvSpPr>
        <p:spPr>
          <a:xfrm>
            <a:off x="329060" y="3685172"/>
            <a:ext cx="70337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*Considera as prescrições das gerações Alfa, X e Millenials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957783D-EEF5-4BB4-B386-A74862113869}"/>
              </a:ext>
            </a:extLst>
          </p:cNvPr>
          <p:cNvSpPr txBox="1"/>
          <p:nvPr/>
        </p:nvSpPr>
        <p:spPr>
          <a:xfrm>
            <a:off x="9543033" y="3271540"/>
            <a:ext cx="22908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Contraindicado em casos de alterações respiratórias</a:t>
            </a:r>
          </a:p>
        </p:txBody>
      </p:sp>
      <p:sp>
        <p:nvSpPr>
          <p:cNvPr id="2" name="Chave Direita 1">
            <a:extLst>
              <a:ext uri="{FF2B5EF4-FFF2-40B4-BE49-F238E27FC236}">
                <a16:creationId xmlns:a16="http://schemas.microsoft.com/office/drawing/2014/main" id="{4F091C0E-2258-4D57-B1C0-A86D826ACF39}"/>
              </a:ext>
            </a:extLst>
          </p:cNvPr>
          <p:cNvSpPr/>
          <p:nvPr/>
        </p:nvSpPr>
        <p:spPr>
          <a:xfrm rot="10800000">
            <a:off x="9363075" y="1934326"/>
            <a:ext cx="161395" cy="1750846"/>
          </a:xfrm>
          <a:prstGeom prst="rightBrace">
            <a:avLst>
              <a:gd name="adj1" fmla="val 57514"/>
              <a:gd name="adj2" fmla="val 29385"/>
            </a:avLst>
          </a:prstGeom>
          <a:ln w="19050">
            <a:solidFill>
              <a:srgbClr val="3C0E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7859B38-CFEE-4E03-B71C-2E87C8FCF22C}"/>
              </a:ext>
            </a:extLst>
          </p:cNvPr>
          <p:cNvSpPr txBox="1"/>
          <p:nvPr/>
        </p:nvSpPr>
        <p:spPr>
          <a:xfrm>
            <a:off x="9524470" y="2380064"/>
            <a:ext cx="251513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14,9% dos pacientes com prescrição de </a:t>
            </a:r>
            <a:r>
              <a:rPr lang="pt-BR" sz="1050" dirty="0" err="1"/>
              <a:t>Glifage</a:t>
            </a:r>
            <a:r>
              <a:rPr lang="pt-BR" sz="1050" dirty="0"/>
              <a:t>, também tiveram prescrição de algum remédio para síndrome respiratória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CCA5DE7-5B47-4742-820D-C3C66B799EE8}"/>
              </a:ext>
            </a:extLst>
          </p:cNvPr>
          <p:cNvSpPr txBox="1"/>
          <p:nvPr/>
        </p:nvSpPr>
        <p:spPr>
          <a:xfrm>
            <a:off x="807166" y="4660860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400" b="1" dirty="0" err="1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Gen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X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0283A74-CB5B-41E0-8C34-0F57AFC4813B}"/>
              </a:ext>
            </a:extLst>
          </p:cNvPr>
          <p:cNvSpPr txBox="1"/>
          <p:nvPr/>
        </p:nvSpPr>
        <p:spPr>
          <a:xfrm>
            <a:off x="2563560" y="4660860"/>
            <a:ext cx="840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400" b="1" dirty="0" err="1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Millenial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DF6FDCC-CB48-485E-9882-B0EF0C4D4B78}"/>
              </a:ext>
            </a:extLst>
          </p:cNvPr>
          <p:cNvSpPr txBox="1"/>
          <p:nvPr/>
        </p:nvSpPr>
        <p:spPr>
          <a:xfrm>
            <a:off x="4434212" y="4660860"/>
            <a:ext cx="819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400" b="1" dirty="0" err="1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Gen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Alfa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3F6C166-F6ED-455E-B236-7E872266EB69}"/>
              </a:ext>
            </a:extLst>
          </p:cNvPr>
          <p:cNvCxnSpPr>
            <a:cxnSpLocks/>
          </p:cNvCxnSpPr>
          <p:nvPr/>
        </p:nvCxnSpPr>
        <p:spPr>
          <a:xfrm>
            <a:off x="425324" y="4582654"/>
            <a:ext cx="5097676" cy="0"/>
          </a:xfrm>
          <a:prstGeom prst="line">
            <a:avLst/>
          </a:prstGeom>
          <a:noFill/>
          <a:ln w="9525" cap="flat" cmpd="sng" algn="ctr">
            <a:solidFill>
              <a:srgbClr val="3C0E6B"/>
            </a:solidFill>
            <a:prstDash val="solid"/>
          </a:ln>
          <a:effectLst/>
        </p:spPr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BA20458-F700-483A-9FB5-EDC5F9FAAF40}"/>
              </a:ext>
            </a:extLst>
          </p:cNvPr>
          <p:cNvSpPr txBox="1"/>
          <p:nvPr/>
        </p:nvSpPr>
        <p:spPr>
          <a:xfrm>
            <a:off x="1896559" y="4170940"/>
            <a:ext cx="2155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Top 5 mais visualizados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B02E007-90B5-4157-957E-AF0BBE270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773984"/>
              </p:ext>
            </p:extLst>
          </p:nvPr>
        </p:nvGraphicFramePr>
        <p:xfrm>
          <a:off x="427981" y="5059207"/>
          <a:ext cx="1382259" cy="9525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49331264"/>
                    </a:ext>
                  </a:extLst>
                </a:gridCol>
                <a:gridCol w="398150">
                  <a:extLst>
                    <a:ext uri="{9D8B030D-6E8A-4147-A177-3AD203B41FA5}">
                      <a16:colId xmlns:a16="http://schemas.microsoft.com/office/drawing/2014/main" val="38237828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Glifage XR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1.359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5134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Paracetamol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942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56501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Diprospan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813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88520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Acetilcisteína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501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06569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Avamys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498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0282968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666E8DC-5681-4191-AA4C-922F75128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789589"/>
              </p:ext>
            </p:extLst>
          </p:nvPr>
        </p:nvGraphicFramePr>
        <p:xfrm>
          <a:off x="2292507" y="5059207"/>
          <a:ext cx="1382400" cy="9525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984209">
                  <a:extLst>
                    <a:ext uri="{9D8B030D-6E8A-4147-A177-3AD203B41FA5}">
                      <a16:colId xmlns:a16="http://schemas.microsoft.com/office/drawing/2014/main" val="2199348758"/>
                    </a:ext>
                  </a:extLst>
                </a:gridCol>
                <a:gridCol w="398191">
                  <a:extLst>
                    <a:ext uri="{9D8B030D-6E8A-4147-A177-3AD203B41FA5}">
                      <a16:colId xmlns:a16="http://schemas.microsoft.com/office/drawing/2014/main" val="101690509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Paracetamol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2.272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95005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Budesonida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1.047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82398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Avamys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897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03287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Acetilcisteína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799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86766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Fluconazol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645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7253373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F0BAE2B-7A41-441B-9B0D-074CB183A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094419"/>
              </p:ext>
            </p:extLst>
          </p:nvPr>
        </p:nvGraphicFramePr>
        <p:xfrm>
          <a:off x="4152899" y="5059207"/>
          <a:ext cx="1382400" cy="9525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984209">
                  <a:extLst>
                    <a:ext uri="{9D8B030D-6E8A-4147-A177-3AD203B41FA5}">
                      <a16:colId xmlns:a16="http://schemas.microsoft.com/office/drawing/2014/main" val="2176723694"/>
                    </a:ext>
                  </a:extLst>
                </a:gridCol>
                <a:gridCol w="398191">
                  <a:extLst>
                    <a:ext uri="{9D8B030D-6E8A-4147-A177-3AD203B41FA5}">
                      <a16:colId xmlns:a16="http://schemas.microsoft.com/office/drawing/2014/main" val="255567119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Aerolin</a:t>
                      </a:r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Spray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2.302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66723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Salbutamol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1.506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8290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Avamys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959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873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Novamox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326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2827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Budesonida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1660985"/>
                  </a:ext>
                </a:extLst>
              </a:tr>
            </a:tbl>
          </a:graphicData>
        </a:graphic>
      </p:graphicFrame>
      <p:sp>
        <p:nvSpPr>
          <p:cNvPr id="45" name="CaixaDeTexto 44">
            <a:extLst>
              <a:ext uri="{FF2B5EF4-FFF2-40B4-BE49-F238E27FC236}">
                <a16:creationId xmlns:a16="http://schemas.microsoft.com/office/drawing/2014/main" id="{EA5DA05C-657F-4328-A4ED-98CA2E400F89}"/>
              </a:ext>
            </a:extLst>
          </p:cNvPr>
          <p:cNvSpPr txBox="1"/>
          <p:nvPr/>
        </p:nvSpPr>
        <p:spPr>
          <a:xfrm>
            <a:off x="9412320" y="2987384"/>
            <a:ext cx="25151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Concentrado na Geração X</a:t>
            </a:r>
          </a:p>
        </p:txBody>
      </p:sp>
    </p:spTree>
    <p:extLst>
      <p:ext uri="{BB962C8B-B14F-4D97-AF65-F5344CB8AC3E}">
        <p14:creationId xmlns:p14="http://schemas.microsoft.com/office/powerpoint/2010/main" val="137349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4">
            <a:extLst>
              <a:ext uri="{FF2B5EF4-FFF2-40B4-BE49-F238E27FC236}">
                <a16:creationId xmlns:a16="http://schemas.microsoft.com/office/drawing/2014/main" id="{570F3E8B-3105-425F-875D-C9EAD614F07E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63205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Queda de conversão da Geração Alfa (que representa -0,6p.p. do todo) pode ter impacto do aumento de prescrições durante a madrugada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19AA562F-C5AA-4AC9-B07E-3A7B50E9A0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1005399"/>
              </p:ext>
            </p:extLst>
          </p:nvPr>
        </p:nvGraphicFramePr>
        <p:xfrm>
          <a:off x="-1" y="1956016"/>
          <a:ext cx="5904849" cy="4700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4FA66D2-023C-44C6-BF0B-8E360D22875A}"/>
              </a:ext>
            </a:extLst>
          </p:cNvPr>
          <p:cNvGrpSpPr/>
          <p:nvPr/>
        </p:nvGrpSpPr>
        <p:grpSpPr>
          <a:xfrm>
            <a:off x="5904851" y="1554956"/>
            <a:ext cx="252050" cy="252050"/>
            <a:chOff x="6025823" y="2527300"/>
            <a:chExt cx="360000" cy="360000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A21F071C-2F6C-4B36-8C91-C75045EEDAE4}"/>
                </a:ext>
              </a:extLst>
            </p:cNvPr>
            <p:cNvSpPr/>
            <p:nvPr/>
          </p:nvSpPr>
          <p:spPr>
            <a:xfrm>
              <a:off x="6025823" y="2527300"/>
              <a:ext cx="360000" cy="360000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EE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Seta: Divisa 32">
              <a:extLst>
                <a:ext uri="{FF2B5EF4-FFF2-40B4-BE49-F238E27FC236}">
                  <a16:creationId xmlns:a16="http://schemas.microsoft.com/office/drawing/2014/main" id="{EC95B38C-8A37-43C1-B344-4E1BDD2C6608}"/>
                </a:ext>
              </a:extLst>
            </p:cNvPr>
            <p:cNvSpPr/>
            <p:nvPr/>
          </p:nvSpPr>
          <p:spPr>
            <a:xfrm>
              <a:off x="6107907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Seta: Divisa 33">
              <a:extLst>
                <a:ext uri="{FF2B5EF4-FFF2-40B4-BE49-F238E27FC236}">
                  <a16:creationId xmlns:a16="http://schemas.microsoft.com/office/drawing/2014/main" id="{5E782C35-4B59-447F-8746-1647320D195C}"/>
                </a:ext>
              </a:extLst>
            </p:cNvPr>
            <p:cNvSpPr/>
            <p:nvPr/>
          </p:nvSpPr>
          <p:spPr>
            <a:xfrm>
              <a:off x="6160040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Seta: Divisa 34">
              <a:extLst>
                <a:ext uri="{FF2B5EF4-FFF2-40B4-BE49-F238E27FC236}">
                  <a16:creationId xmlns:a16="http://schemas.microsoft.com/office/drawing/2014/main" id="{3FE4B2C5-2ABF-46B7-91D9-545FE3B4F2B9}"/>
                </a:ext>
              </a:extLst>
            </p:cNvPr>
            <p:cNvSpPr/>
            <p:nvPr/>
          </p:nvSpPr>
          <p:spPr>
            <a:xfrm>
              <a:off x="6212173" y="2585420"/>
              <a:ext cx="116681" cy="252259"/>
            </a:xfrm>
            <a:prstGeom prst="chevron">
              <a:avLst>
                <a:gd name="adj" fmla="val 80495"/>
              </a:avLst>
            </a:prstGeom>
            <a:solidFill>
              <a:srgbClr val="3C0E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A2B25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2E2A28F7-7C52-4303-B3B5-C765CE6AE9D8}"/>
              </a:ext>
            </a:extLst>
          </p:cNvPr>
          <p:cNvCxnSpPr>
            <a:cxnSpLocks/>
          </p:cNvCxnSpPr>
          <p:nvPr/>
        </p:nvCxnSpPr>
        <p:spPr>
          <a:xfrm>
            <a:off x="188521" y="1680981"/>
            <a:ext cx="5607442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E659AD26-DABA-4F3F-B5DE-FB142D28FC48}"/>
              </a:ext>
            </a:extLst>
          </p:cNvPr>
          <p:cNvCxnSpPr>
            <a:cxnSpLocks/>
          </p:cNvCxnSpPr>
          <p:nvPr/>
        </p:nvCxnSpPr>
        <p:spPr>
          <a:xfrm>
            <a:off x="6322979" y="1680981"/>
            <a:ext cx="5189314" cy="0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BD99ADC-0964-48DA-B2E3-C2B568CD2356}"/>
              </a:ext>
            </a:extLst>
          </p:cNvPr>
          <p:cNvCxnSpPr>
            <a:cxnSpLocks/>
          </p:cNvCxnSpPr>
          <p:nvPr/>
        </p:nvCxnSpPr>
        <p:spPr>
          <a:xfrm>
            <a:off x="6039668" y="1956016"/>
            <a:ext cx="0" cy="4700668"/>
          </a:xfrm>
          <a:prstGeom prst="line">
            <a:avLst/>
          </a:prstGeom>
          <a:noFill/>
          <a:ln w="9525" cap="flat" cmpd="sng" algn="ctr">
            <a:solidFill>
              <a:srgbClr val="0A2B25">
                <a:shade val="95000"/>
                <a:satMod val="105000"/>
              </a:srgbClr>
            </a:solidFill>
            <a:prstDash val="dash"/>
          </a:ln>
          <a:effectLst/>
        </p:spPr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67DB3B-AB10-4922-AD1A-CD12A2D657E9}"/>
              </a:ext>
            </a:extLst>
          </p:cNvPr>
          <p:cNvSpPr txBox="1"/>
          <p:nvPr/>
        </p:nvSpPr>
        <p:spPr>
          <a:xfrm>
            <a:off x="1715919" y="1369342"/>
            <a:ext cx="3116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Itens Prescritos por período do dia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C7E608D-06CF-4AB2-AA06-AE1D186F0BC7}"/>
              </a:ext>
            </a:extLst>
          </p:cNvPr>
          <p:cNvSpPr txBox="1"/>
          <p:nvPr/>
        </p:nvSpPr>
        <p:spPr>
          <a:xfrm>
            <a:off x="7266621" y="1369342"/>
            <a:ext cx="3302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Conversão por Período da Prescrição</a:t>
            </a:r>
          </a:p>
        </p:txBody>
      </p:sp>
      <p:sp>
        <p:nvSpPr>
          <p:cNvPr id="41" name="Google Shape;1169;p41">
            <a:extLst>
              <a:ext uri="{FF2B5EF4-FFF2-40B4-BE49-F238E27FC236}">
                <a16:creationId xmlns:a16="http://schemas.microsoft.com/office/drawing/2014/main" id="{ACF65FCF-1AA4-46C5-B9E7-A45C18F12B03}"/>
              </a:ext>
            </a:extLst>
          </p:cNvPr>
          <p:cNvSpPr txBox="1"/>
          <p:nvPr/>
        </p:nvSpPr>
        <p:spPr>
          <a:xfrm>
            <a:off x="6316789" y="5095874"/>
            <a:ext cx="5616833" cy="156080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  <a:defRPr/>
            </a:pPr>
            <a:endParaRPr sz="1200" kern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73857776-253F-4DF2-BDCF-D209FA8A0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42690"/>
              </p:ext>
            </p:extLst>
          </p:nvPr>
        </p:nvGraphicFramePr>
        <p:xfrm>
          <a:off x="6549812" y="2666992"/>
          <a:ext cx="4735647" cy="2158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0F18C0A0-CDB0-4379-BED4-8219549D07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7606968"/>
              </p:ext>
            </p:extLst>
          </p:nvPr>
        </p:nvGraphicFramePr>
        <p:xfrm>
          <a:off x="6549813" y="1854171"/>
          <a:ext cx="4735646" cy="1256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5" name="CaixaDeTexto 44">
            <a:extLst>
              <a:ext uri="{FF2B5EF4-FFF2-40B4-BE49-F238E27FC236}">
                <a16:creationId xmlns:a16="http://schemas.microsoft.com/office/drawing/2014/main" id="{3CC0F5D3-82B3-4C14-AD90-A844E70F8B83}"/>
              </a:ext>
            </a:extLst>
          </p:cNvPr>
          <p:cNvSpPr txBox="1"/>
          <p:nvPr/>
        </p:nvSpPr>
        <p:spPr>
          <a:xfrm>
            <a:off x="7414451" y="5396286"/>
            <a:ext cx="4272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Atendimentos na madrugada tendem a envolver casos mais críticos, onde o tempo de resposta é determinante.</a:t>
            </a:r>
          </a:p>
        </p:txBody>
      </p:sp>
      <p:pic>
        <p:nvPicPr>
          <p:cNvPr id="23" name="Gráfico 22" descr="Carrinho de compras com preenchimento sólido">
            <a:extLst>
              <a:ext uri="{FF2B5EF4-FFF2-40B4-BE49-F238E27FC236}">
                <a16:creationId xmlns:a16="http://schemas.microsoft.com/office/drawing/2014/main" id="{1F2ABCF0-8B1B-43AE-B4A9-6FD0D08652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6513" y="5958060"/>
            <a:ext cx="478215" cy="478215"/>
          </a:xfrm>
          <a:prstGeom prst="rect">
            <a:avLst/>
          </a:prstGeom>
        </p:spPr>
      </p:pic>
      <p:pic>
        <p:nvPicPr>
          <p:cNvPr id="25" name="Gráfico 24" descr="Médico com preenchimento sólido">
            <a:extLst>
              <a:ext uri="{FF2B5EF4-FFF2-40B4-BE49-F238E27FC236}">
                <a16:creationId xmlns:a16="http://schemas.microsoft.com/office/drawing/2014/main" id="{4B421AF7-F7F3-4518-80E9-58A82352FA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855" y="5298255"/>
            <a:ext cx="513530" cy="513530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AAB610F3-AF0A-4E11-81DF-777C5BA435C2}"/>
              </a:ext>
            </a:extLst>
          </p:cNvPr>
          <p:cNvSpPr/>
          <p:nvPr/>
        </p:nvSpPr>
        <p:spPr>
          <a:xfrm>
            <a:off x="7745763" y="4960824"/>
            <a:ext cx="2758883" cy="270100"/>
          </a:xfrm>
          <a:prstGeom prst="rect">
            <a:avLst/>
          </a:prstGeom>
          <a:solidFill>
            <a:srgbClr val="552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Reflexão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057CF38-A31B-4907-B9BF-24AD462FA13E}"/>
              </a:ext>
            </a:extLst>
          </p:cNvPr>
          <p:cNvSpPr txBox="1"/>
          <p:nvPr/>
        </p:nvSpPr>
        <p:spPr>
          <a:xfrm>
            <a:off x="7414451" y="5956436"/>
            <a:ext cx="4272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contexto, os pais priorizam rapidez na medicação.</a:t>
            </a:r>
          </a:p>
          <a:p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Como equilibrar essa urgência com o uso da plataforma?</a:t>
            </a:r>
          </a:p>
        </p:txBody>
      </p:sp>
    </p:spTree>
    <p:extLst>
      <p:ext uri="{BB962C8B-B14F-4D97-AF65-F5344CB8AC3E}">
        <p14:creationId xmlns:p14="http://schemas.microsoft.com/office/powerpoint/2010/main" val="756539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m 73">
            <a:extLst>
              <a:ext uri="{FF2B5EF4-FFF2-40B4-BE49-F238E27FC236}">
                <a16:creationId xmlns:a16="http://schemas.microsoft.com/office/drawing/2014/main" id="{40EFE7FF-D9A2-4C93-9A41-A3E1D29C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998933" y="3404676"/>
            <a:ext cx="471826" cy="471826"/>
          </a:xfrm>
          <a:prstGeom prst="rect">
            <a:avLst/>
          </a:prstGeom>
        </p:spPr>
      </p:pic>
      <p:sp>
        <p:nvSpPr>
          <p:cNvPr id="16" name="Título 4">
            <a:extLst>
              <a:ext uri="{FF2B5EF4-FFF2-40B4-BE49-F238E27FC236}">
                <a16:creationId xmlns:a16="http://schemas.microsoft.com/office/drawing/2014/main" id="{570F3E8B-3105-425F-875D-C9EAD614F07E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63205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Considerações Finais</a:t>
            </a:r>
          </a:p>
        </p:txBody>
      </p:sp>
      <p:sp>
        <p:nvSpPr>
          <p:cNvPr id="27" name="Google Shape;1171;p41">
            <a:extLst>
              <a:ext uri="{FF2B5EF4-FFF2-40B4-BE49-F238E27FC236}">
                <a16:creationId xmlns:a16="http://schemas.microsoft.com/office/drawing/2014/main" id="{3DEA0D75-056F-4DE6-87AB-DE7EA3AECF1B}"/>
              </a:ext>
            </a:extLst>
          </p:cNvPr>
          <p:cNvSpPr/>
          <p:nvPr/>
        </p:nvSpPr>
        <p:spPr>
          <a:xfrm>
            <a:off x="-1205203" y="4288392"/>
            <a:ext cx="1992465" cy="1384402"/>
          </a:xfrm>
          <a:custGeom>
            <a:avLst/>
            <a:gdLst/>
            <a:ahLst/>
            <a:cxnLst/>
            <a:rect l="l" t="t" r="r" b="b"/>
            <a:pathLst>
              <a:path w="62106" h="33142" extrusionOk="0">
                <a:moveTo>
                  <a:pt x="0" y="0"/>
                </a:moveTo>
                <a:lnTo>
                  <a:pt x="14025" y="28865"/>
                </a:lnTo>
                <a:cubicBezTo>
                  <a:pt x="14025" y="28865"/>
                  <a:pt x="21644" y="33141"/>
                  <a:pt x="31053" y="33141"/>
                </a:cubicBezTo>
                <a:cubicBezTo>
                  <a:pt x="40482" y="33141"/>
                  <a:pt x="48101" y="28865"/>
                  <a:pt x="48101" y="28865"/>
                </a:cubicBezTo>
                <a:lnTo>
                  <a:pt x="62105" y="0"/>
                </a:lnTo>
                <a:lnTo>
                  <a:pt x="62105" y="0"/>
                </a:lnTo>
                <a:cubicBezTo>
                  <a:pt x="62105" y="0"/>
                  <a:pt x="48220" y="4496"/>
                  <a:pt x="31053" y="4496"/>
                </a:cubicBezTo>
                <a:cubicBezTo>
                  <a:pt x="13906" y="4496"/>
                  <a:pt x="1" y="0"/>
                  <a:pt x="0" y="0"/>
                </a:cubicBezTo>
                <a:close/>
              </a:path>
            </a:pathLst>
          </a:custGeom>
          <a:solidFill>
            <a:srgbClr val="9E63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  <a:defRPr/>
            </a:pPr>
            <a:endParaRPr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8" name="Google Shape;1172;p41">
            <a:extLst>
              <a:ext uri="{FF2B5EF4-FFF2-40B4-BE49-F238E27FC236}">
                <a16:creationId xmlns:a16="http://schemas.microsoft.com/office/drawing/2014/main" id="{D0293CFA-8E7E-4132-8C93-2ADA4490C619}"/>
              </a:ext>
            </a:extLst>
          </p:cNvPr>
          <p:cNvSpPr/>
          <p:nvPr/>
        </p:nvSpPr>
        <p:spPr>
          <a:xfrm>
            <a:off x="-1205203" y="4099770"/>
            <a:ext cx="1992465" cy="376448"/>
          </a:xfrm>
          <a:custGeom>
            <a:avLst/>
            <a:gdLst/>
            <a:ahLst/>
            <a:cxnLst/>
            <a:rect l="l" t="t" r="r" b="b"/>
            <a:pathLst>
              <a:path w="62106" h="9012" extrusionOk="0">
                <a:moveTo>
                  <a:pt x="31053" y="1"/>
                </a:moveTo>
                <a:cubicBezTo>
                  <a:pt x="13905" y="1"/>
                  <a:pt x="0" y="4516"/>
                  <a:pt x="0" y="4516"/>
                </a:cubicBezTo>
                <a:cubicBezTo>
                  <a:pt x="0" y="4516"/>
                  <a:pt x="13905" y="9012"/>
                  <a:pt x="31053" y="9012"/>
                </a:cubicBezTo>
                <a:cubicBezTo>
                  <a:pt x="48200" y="9012"/>
                  <a:pt x="62105" y="4516"/>
                  <a:pt x="62105" y="4516"/>
                </a:cubicBezTo>
                <a:cubicBezTo>
                  <a:pt x="62105" y="4516"/>
                  <a:pt x="48200" y="1"/>
                  <a:pt x="31053" y="1"/>
                </a:cubicBez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1173;p41">
            <a:extLst>
              <a:ext uri="{FF2B5EF4-FFF2-40B4-BE49-F238E27FC236}">
                <a16:creationId xmlns:a16="http://schemas.microsoft.com/office/drawing/2014/main" id="{C7B1BF3C-220E-4910-BD51-D76B3D204014}"/>
              </a:ext>
            </a:extLst>
          </p:cNvPr>
          <p:cNvSpPr/>
          <p:nvPr/>
        </p:nvSpPr>
        <p:spPr>
          <a:xfrm>
            <a:off x="-1205203" y="4099770"/>
            <a:ext cx="1992465" cy="376448"/>
          </a:xfrm>
          <a:custGeom>
            <a:avLst/>
            <a:gdLst/>
            <a:ahLst/>
            <a:cxnLst/>
            <a:rect l="l" t="t" r="r" b="b"/>
            <a:pathLst>
              <a:path w="62106" h="9012" extrusionOk="0">
                <a:moveTo>
                  <a:pt x="31053" y="1"/>
                </a:moveTo>
                <a:cubicBezTo>
                  <a:pt x="13905" y="1"/>
                  <a:pt x="0" y="4516"/>
                  <a:pt x="0" y="4516"/>
                </a:cubicBezTo>
                <a:cubicBezTo>
                  <a:pt x="0" y="4516"/>
                  <a:pt x="13905" y="9012"/>
                  <a:pt x="31053" y="9012"/>
                </a:cubicBezTo>
                <a:cubicBezTo>
                  <a:pt x="48200" y="9012"/>
                  <a:pt x="62105" y="4516"/>
                  <a:pt x="62105" y="4516"/>
                </a:cubicBezTo>
                <a:cubicBezTo>
                  <a:pt x="62105" y="4516"/>
                  <a:pt x="48200" y="1"/>
                  <a:pt x="31053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" name="Google Shape;1179;p41">
            <a:extLst>
              <a:ext uri="{FF2B5EF4-FFF2-40B4-BE49-F238E27FC236}">
                <a16:creationId xmlns:a16="http://schemas.microsoft.com/office/drawing/2014/main" id="{9EC02599-7366-4D8C-9D9E-67E0D1753199}"/>
              </a:ext>
            </a:extLst>
          </p:cNvPr>
          <p:cNvSpPr/>
          <p:nvPr/>
        </p:nvSpPr>
        <p:spPr>
          <a:xfrm>
            <a:off x="-1947760" y="2640396"/>
            <a:ext cx="3086323" cy="332420"/>
          </a:xfrm>
          <a:custGeom>
            <a:avLst/>
            <a:gdLst/>
            <a:ahLst/>
            <a:cxnLst/>
            <a:rect l="l" t="t" r="r" b="b"/>
            <a:pathLst>
              <a:path w="96202" h="7958" extrusionOk="0">
                <a:moveTo>
                  <a:pt x="48101" y="0"/>
                </a:moveTo>
                <a:cubicBezTo>
                  <a:pt x="21544" y="0"/>
                  <a:pt x="0" y="3979"/>
                  <a:pt x="0" y="3979"/>
                </a:cubicBezTo>
                <a:cubicBezTo>
                  <a:pt x="0" y="3979"/>
                  <a:pt x="21544" y="7957"/>
                  <a:pt x="48101" y="7957"/>
                </a:cubicBezTo>
                <a:cubicBezTo>
                  <a:pt x="74677" y="7957"/>
                  <a:pt x="96201" y="3979"/>
                  <a:pt x="96201" y="3979"/>
                </a:cubicBezTo>
                <a:cubicBezTo>
                  <a:pt x="96201" y="3979"/>
                  <a:pt x="74677" y="0"/>
                  <a:pt x="48101" y="0"/>
                </a:cubicBez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1180;p41">
            <a:extLst>
              <a:ext uri="{FF2B5EF4-FFF2-40B4-BE49-F238E27FC236}">
                <a16:creationId xmlns:a16="http://schemas.microsoft.com/office/drawing/2014/main" id="{44A084D6-F7D0-45E8-BCB7-78BCC9E0FBAC}"/>
              </a:ext>
            </a:extLst>
          </p:cNvPr>
          <p:cNvSpPr/>
          <p:nvPr/>
        </p:nvSpPr>
        <p:spPr>
          <a:xfrm>
            <a:off x="-1947760" y="2640396"/>
            <a:ext cx="3086323" cy="332420"/>
          </a:xfrm>
          <a:custGeom>
            <a:avLst/>
            <a:gdLst/>
            <a:ahLst/>
            <a:cxnLst/>
            <a:rect l="l" t="t" r="r" b="b"/>
            <a:pathLst>
              <a:path w="96202" h="7958" extrusionOk="0">
                <a:moveTo>
                  <a:pt x="48101" y="0"/>
                </a:moveTo>
                <a:cubicBezTo>
                  <a:pt x="21544" y="0"/>
                  <a:pt x="0" y="3979"/>
                  <a:pt x="0" y="3979"/>
                </a:cubicBezTo>
                <a:cubicBezTo>
                  <a:pt x="0" y="3979"/>
                  <a:pt x="21544" y="7957"/>
                  <a:pt x="48101" y="7957"/>
                </a:cubicBezTo>
                <a:cubicBezTo>
                  <a:pt x="74677" y="7957"/>
                  <a:pt x="96201" y="3979"/>
                  <a:pt x="96201" y="3979"/>
                </a:cubicBezTo>
                <a:cubicBezTo>
                  <a:pt x="96201" y="3979"/>
                  <a:pt x="74677" y="0"/>
                  <a:pt x="48101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1181;p41">
            <a:extLst>
              <a:ext uri="{FF2B5EF4-FFF2-40B4-BE49-F238E27FC236}">
                <a16:creationId xmlns:a16="http://schemas.microsoft.com/office/drawing/2014/main" id="{776FE4F0-5C5A-4A90-9B96-638C1EF42F08}"/>
              </a:ext>
            </a:extLst>
          </p:cNvPr>
          <p:cNvSpPr/>
          <p:nvPr/>
        </p:nvSpPr>
        <p:spPr>
          <a:xfrm>
            <a:off x="-1947760" y="2806547"/>
            <a:ext cx="3086323" cy="1391086"/>
          </a:xfrm>
          <a:custGeom>
            <a:avLst/>
            <a:gdLst/>
            <a:ahLst/>
            <a:cxnLst/>
            <a:rect l="l" t="t" r="r" b="b"/>
            <a:pathLst>
              <a:path w="96202" h="33302" extrusionOk="0">
                <a:moveTo>
                  <a:pt x="0" y="1"/>
                </a:moveTo>
                <a:lnTo>
                  <a:pt x="14025" y="28865"/>
                </a:lnTo>
                <a:cubicBezTo>
                  <a:pt x="14025" y="28865"/>
                  <a:pt x="29282" y="33301"/>
                  <a:pt x="48101" y="33301"/>
                </a:cubicBezTo>
                <a:cubicBezTo>
                  <a:pt x="66939" y="33301"/>
                  <a:pt x="82197" y="28865"/>
                  <a:pt x="82197" y="28865"/>
                </a:cubicBezTo>
                <a:lnTo>
                  <a:pt x="96201" y="1"/>
                </a:lnTo>
                <a:lnTo>
                  <a:pt x="96201" y="1"/>
                </a:lnTo>
                <a:cubicBezTo>
                  <a:pt x="96200" y="1"/>
                  <a:pt x="74677" y="3979"/>
                  <a:pt x="48101" y="3979"/>
                </a:cubicBezTo>
                <a:cubicBezTo>
                  <a:pt x="21544" y="3979"/>
                  <a:pt x="1" y="1"/>
                  <a:pt x="0" y="1"/>
                </a:cubicBezTo>
                <a:close/>
              </a:path>
            </a:pathLst>
          </a:custGeom>
          <a:solidFill>
            <a:srgbClr val="5E2C7A"/>
          </a:solidFill>
          <a:ln>
            <a:noFill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  <a:defRPr/>
            </a:pPr>
            <a:endParaRPr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46" name="Google Shape;1187;p41">
            <a:extLst>
              <a:ext uri="{FF2B5EF4-FFF2-40B4-BE49-F238E27FC236}">
                <a16:creationId xmlns:a16="http://schemas.microsoft.com/office/drawing/2014/main" id="{21E25A4C-5E12-4355-8591-95B817925BE0}"/>
              </a:ext>
            </a:extLst>
          </p:cNvPr>
          <p:cNvSpPr/>
          <p:nvPr/>
        </p:nvSpPr>
        <p:spPr>
          <a:xfrm>
            <a:off x="-2685545" y="1107054"/>
            <a:ext cx="4179538" cy="437937"/>
          </a:xfrm>
          <a:custGeom>
            <a:avLst/>
            <a:gdLst/>
            <a:ahLst/>
            <a:cxnLst/>
            <a:rect l="l" t="t" r="r" b="b"/>
            <a:pathLst>
              <a:path w="130278" h="10484" extrusionOk="0">
                <a:moveTo>
                  <a:pt x="65129" y="0"/>
                </a:moveTo>
                <a:cubicBezTo>
                  <a:pt x="29163" y="0"/>
                  <a:pt x="0" y="5232"/>
                  <a:pt x="0" y="5232"/>
                </a:cubicBezTo>
                <a:cubicBezTo>
                  <a:pt x="0" y="5232"/>
                  <a:pt x="29163" y="10484"/>
                  <a:pt x="65129" y="10484"/>
                </a:cubicBezTo>
                <a:cubicBezTo>
                  <a:pt x="101115" y="10484"/>
                  <a:pt x="130277" y="5232"/>
                  <a:pt x="130277" y="5232"/>
                </a:cubicBezTo>
                <a:cubicBezTo>
                  <a:pt x="130277" y="5232"/>
                  <a:pt x="101115" y="0"/>
                  <a:pt x="65129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1188;p41">
            <a:extLst>
              <a:ext uri="{FF2B5EF4-FFF2-40B4-BE49-F238E27FC236}">
                <a16:creationId xmlns:a16="http://schemas.microsoft.com/office/drawing/2014/main" id="{D28CA485-0C81-46B1-BBB2-7C1E62931AC8}"/>
              </a:ext>
            </a:extLst>
          </p:cNvPr>
          <p:cNvSpPr/>
          <p:nvPr/>
        </p:nvSpPr>
        <p:spPr>
          <a:xfrm>
            <a:off x="-2685545" y="1325539"/>
            <a:ext cx="4179538" cy="1425131"/>
          </a:xfrm>
          <a:custGeom>
            <a:avLst/>
            <a:gdLst/>
            <a:ahLst/>
            <a:cxnLst/>
            <a:rect l="l" t="t" r="r" b="b"/>
            <a:pathLst>
              <a:path w="130278" h="34117" extrusionOk="0">
                <a:moveTo>
                  <a:pt x="0" y="1"/>
                </a:moveTo>
                <a:lnTo>
                  <a:pt x="14005" y="28865"/>
                </a:lnTo>
                <a:cubicBezTo>
                  <a:pt x="14005" y="28865"/>
                  <a:pt x="36901" y="34117"/>
                  <a:pt x="65129" y="34117"/>
                </a:cubicBezTo>
                <a:cubicBezTo>
                  <a:pt x="93376" y="34117"/>
                  <a:pt x="116273" y="28865"/>
                  <a:pt x="116273" y="28865"/>
                </a:cubicBezTo>
                <a:lnTo>
                  <a:pt x="130277" y="1"/>
                </a:lnTo>
                <a:lnTo>
                  <a:pt x="130277" y="1"/>
                </a:lnTo>
                <a:cubicBezTo>
                  <a:pt x="130276" y="1"/>
                  <a:pt x="101114" y="5253"/>
                  <a:pt x="65129" y="5253"/>
                </a:cubicBezTo>
                <a:cubicBezTo>
                  <a:pt x="29163" y="5253"/>
                  <a:pt x="1" y="1"/>
                  <a:pt x="0" y="1"/>
                </a:cubicBezTo>
                <a:close/>
              </a:path>
            </a:pathLst>
          </a:custGeom>
          <a:solidFill>
            <a:srgbClr val="3C0E6B"/>
          </a:solidFill>
          <a:ln>
            <a:noFill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  <a:defRPr/>
            </a:pPr>
            <a:endParaRPr b="1" kern="0" dirty="0">
              <a:solidFill>
                <a:srgbClr val="FFFFFF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B6B1C4D-3AA4-40EE-A942-B32FC0AD5C90}"/>
              </a:ext>
            </a:extLst>
          </p:cNvPr>
          <p:cNvSpPr txBox="1"/>
          <p:nvPr/>
        </p:nvSpPr>
        <p:spPr>
          <a:xfrm>
            <a:off x="1871441" y="1742218"/>
            <a:ext cx="1142583" cy="253916"/>
          </a:xfrm>
          <a:prstGeom prst="rect">
            <a:avLst/>
          </a:prstGeom>
          <a:solidFill>
            <a:srgbClr val="3C0E6B"/>
          </a:solid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# Prescrições</a:t>
            </a:r>
            <a:endParaRPr lang="pt-BR" sz="1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8E09BAB7-6FD5-4BB0-BF15-C772BE91B892}"/>
              </a:ext>
            </a:extLst>
          </p:cNvPr>
          <p:cNvSpPr txBox="1"/>
          <p:nvPr/>
        </p:nvSpPr>
        <p:spPr>
          <a:xfrm>
            <a:off x="1871441" y="3218442"/>
            <a:ext cx="1142583" cy="253916"/>
          </a:xfrm>
          <a:prstGeom prst="rect">
            <a:avLst/>
          </a:prstGeom>
          <a:solidFill>
            <a:srgbClr val="5E2C7A"/>
          </a:solid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% Abertura</a:t>
            </a:r>
            <a:endParaRPr lang="pt-BR" sz="1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816B6A8-3A27-47FD-9831-5D16CA104CC3}"/>
              </a:ext>
            </a:extLst>
          </p:cNvPr>
          <p:cNvSpPr txBox="1"/>
          <p:nvPr/>
        </p:nvSpPr>
        <p:spPr>
          <a:xfrm>
            <a:off x="1871441" y="4764416"/>
            <a:ext cx="1142583" cy="253916"/>
          </a:xfrm>
          <a:prstGeom prst="rect">
            <a:avLst/>
          </a:prstGeom>
          <a:solidFill>
            <a:srgbClr val="9E6395"/>
          </a:solid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% Conversão</a:t>
            </a:r>
            <a:endParaRPr lang="pt-BR" sz="1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101A9D4-87AB-45E2-918A-FD2F919E7125}"/>
              </a:ext>
            </a:extLst>
          </p:cNvPr>
          <p:cNvSpPr/>
          <p:nvPr/>
        </p:nvSpPr>
        <p:spPr>
          <a:xfrm>
            <a:off x="3579539" y="1742219"/>
            <a:ext cx="2952169" cy="1182554"/>
          </a:xfrm>
          <a:prstGeom prst="rect">
            <a:avLst/>
          </a:prstGeom>
          <a:noFill/>
          <a:ln>
            <a:solidFill>
              <a:srgbClr val="3C0E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4EEA3A-7CB9-4993-9DFF-F03875B4C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079" y="1901456"/>
            <a:ext cx="361021" cy="36102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1F8D6A0-A79C-4DB1-AE7E-0936F2EBE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079" y="2433406"/>
            <a:ext cx="351387" cy="351387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81C1C3C9-41D8-45ED-A30A-6FD71CCC1675}"/>
              </a:ext>
            </a:extLst>
          </p:cNvPr>
          <p:cNvSpPr txBox="1"/>
          <p:nvPr/>
        </p:nvSpPr>
        <p:spPr>
          <a:xfrm>
            <a:off x="4455184" y="1870646"/>
            <a:ext cx="2204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+mj-lt"/>
              </a:rPr>
              <a:t>Crescimento no número de médicos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D89B3DB-C46B-44DD-A17F-22307045E1D1}"/>
              </a:ext>
            </a:extLst>
          </p:cNvPr>
          <p:cNvSpPr txBox="1"/>
          <p:nvPr/>
        </p:nvSpPr>
        <p:spPr>
          <a:xfrm>
            <a:off x="4455184" y="2378266"/>
            <a:ext cx="2204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+mj-lt"/>
              </a:rPr>
              <a:t>Sazonalidade de síndrome respiratória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2510A33-65D0-49A5-BC1B-33530E927009}"/>
              </a:ext>
            </a:extLst>
          </p:cNvPr>
          <p:cNvSpPr txBox="1"/>
          <p:nvPr/>
        </p:nvSpPr>
        <p:spPr>
          <a:xfrm>
            <a:off x="1401796" y="2076119"/>
            <a:ext cx="1906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2.7% Crescimento Semanal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6D6BD21B-9369-438E-9AB3-E18635824AD3}"/>
              </a:ext>
            </a:extLst>
          </p:cNvPr>
          <p:cNvSpPr/>
          <p:nvPr/>
        </p:nvSpPr>
        <p:spPr>
          <a:xfrm>
            <a:off x="3579539" y="3200967"/>
            <a:ext cx="2952169" cy="1287255"/>
          </a:xfrm>
          <a:prstGeom prst="rect">
            <a:avLst/>
          </a:prstGeom>
          <a:noFill/>
          <a:ln>
            <a:solidFill>
              <a:srgbClr val="5E2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BBD49AC9-42FC-4EB3-B69E-BF3C3E634D1B}"/>
              </a:ext>
            </a:extLst>
          </p:cNvPr>
          <p:cNvSpPr txBox="1"/>
          <p:nvPr/>
        </p:nvSpPr>
        <p:spPr>
          <a:xfrm>
            <a:off x="4455184" y="3363590"/>
            <a:ext cx="2204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+mj-lt"/>
              </a:rPr>
              <a:t>Perfil dos clientes mais acometidos pela sazonalidade 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B54AB7A-18A8-48F6-A15F-090E100FC3D6}"/>
              </a:ext>
            </a:extLst>
          </p:cNvPr>
          <p:cNvSpPr txBox="1"/>
          <p:nvPr/>
        </p:nvSpPr>
        <p:spPr>
          <a:xfrm>
            <a:off x="1592593" y="3557511"/>
            <a:ext cx="169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Recuo Semanal de 0,2%</a:t>
            </a: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2F1769EC-C4C4-4D51-BEC2-BCC78976F966}"/>
              </a:ext>
            </a:extLst>
          </p:cNvPr>
          <p:cNvSpPr/>
          <p:nvPr/>
        </p:nvSpPr>
        <p:spPr>
          <a:xfrm>
            <a:off x="3579539" y="4764416"/>
            <a:ext cx="2952169" cy="1287255"/>
          </a:xfrm>
          <a:prstGeom prst="rect">
            <a:avLst/>
          </a:prstGeom>
          <a:noFill/>
          <a:ln>
            <a:solidFill>
              <a:srgbClr val="9E63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D1E3149-F234-4EA9-9B8D-C0A13058BBD5}"/>
              </a:ext>
            </a:extLst>
          </p:cNvPr>
          <p:cNvSpPr txBox="1"/>
          <p:nvPr/>
        </p:nvSpPr>
        <p:spPr>
          <a:xfrm>
            <a:off x="4470759" y="5430942"/>
            <a:ext cx="2076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+mj-lt"/>
              </a:rPr>
              <a:t>Aumento do Preço dos remédios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682D82E0-5290-4A62-B49D-E5B1571787DD}"/>
              </a:ext>
            </a:extLst>
          </p:cNvPr>
          <p:cNvSpPr txBox="1"/>
          <p:nvPr/>
        </p:nvSpPr>
        <p:spPr>
          <a:xfrm>
            <a:off x="1513694" y="5103485"/>
            <a:ext cx="1856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Redução Semanal de 1,7%</a:t>
            </a:r>
          </a:p>
        </p:txBody>
      </p:sp>
      <p:pic>
        <p:nvPicPr>
          <p:cNvPr id="73" name="Imagem 72">
            <a:extLst>
              <a:ext uri="{FF2B5EF4-FFF2-40B4-BE49-F238E27FC236}">
                <a16:creationId xmlns:a16="http://schemas.microsoft.com/office/drawing/2014/main" id="{1490A23E-A469-47FA-A09C-06B63BB50A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615901" y="3222667"/>
            <a:ext cx="499382" cy="499382"/>
          </a:xfrm>
          <a:prstGeom prst="rect">
            <a:avLst/>
          </a:prstGeom>
          <a:ln>
            <a:noFill/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61D3E43-BCB5-4772-87B0-58CE90B6E8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331" y="5507219"/>
            <a:ext cx="378351" cy="378351"/>
          </a:xfrm>
          <a:prstGeom prst="rect">
            <a:avLst/>
          </a:prstGeom>
        </p:spPr>
      </p:pic>
      <p:sp>
        <p:nvSpPr>
          <p:cNvPr id="75" name="CaixaDeTexto 74">
            <a:extLst>
              <a:ext uri="{FF2B5EF4-FFF2-40B4-BE49-F238E27FC236}">
                <a16:creationId xmlns:a16="http://schemas.microsoft.com/office/drawing/2014/main" id="{BF6F8627-64D7-4801-8C50-235491EA1DC4}"/>
              </a:ext>
            </a:extLst>
          </p:cNvPr>
          <p:cNvSpPr txBox="1"/>
          <p:nvPr/>
        </p:nvSpPr>
        <p:spPr>
          <a:xfrm>
            <a:off x="4455185" y="4927039"/>
            <a:ext cx="2076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+mj-lt"/>
              </a:rPr>
              <a:t>Contraindicação de </a:t>
            </a:r>
            <a:r>
              <a:rPr lang="pt-BR" sz="1200" dirty="0" err="1">
                <a:latin typeface="+mj-lt"/>
              </a:rPr>
              <a:t>Glifage</a:t>
            </a:r>
            <a:r>
              <a:rPr lang="pt-BR" sz="1200" dirty="0">
                <a:latin typeface="+mj-lt"/>
              </a:rPr>
              <a:t> em crises respiratórias.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893799C-7305-4784-94B0-0DF3ACFB23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774" y="4990514"/>
            <a:ext cx="341674" cy="341674"/>
          </a:xfrm>
          <a:prstGeom prst="rect">
            <a:avLst/>
          </a:prstGeom>
        </p:spPr>
      </p:pic>
      <p:sp>
        <p:nvSpPr>
          <p:cNvPr id="77" name="Seta: Divisa 76">
            <a:extLst>
              <a:ext uri="{FF2B5EF4-FFF2-40B4-BE49-F238E27FC236}">
                <a16:creationId xmlns:a16="http://schemas.microsoft.com/office/drawing/2014/main" id="{EF321FA8-9BE3-4A2A-BEBC-ED91D19C05C3}"/>
              </a:ext>
            </a:extLst>
          </p:cNvPr>
          <p:cNvSpPr/>
          <p:nvPr/>
        </p:nvSpPr>
        <p:spPr>
          <a:xfrm>
            <a:off x="6878600" y="2353118"/>
            <a:ext cx="582287" cy="3073304"/>
          </a:xfrm>
          <a:prstGeom prst="chevron">
            <a:avLst>
              <a:gd name="adj" fmla="val 80495"/>
            </a:avLst>
          </a:prstGeom>
          <a:solidFill>
            <a:srgbClr val="3C0E6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0A2B2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CBEED547-2938-4DBA-9167-87CB59F0CB2F}"/>
              </a:ext>
            </a:extLst>
          </p:cNvPr>
          <p:cNvSpPr/>
          <p:nvPr/>
        </p:nvSpPr>
        <p:spPr>
          <a:xfrm>
            <a:off x="7807778" y="1742218"/>
            <a:ext cx="3977822" cy="4309453"/>
          </a:xfrm>
          <a:prstGeom prst="rect">
            <a:avLst/>
          </a:prstGeom>
          <a:noFill/>
          <a:ln>
            <a:solidFill>
              <a:srgbClr val="3C0E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7C3A7DC8-C115-4035-9A56-344819A15A89}"/>
              </a:ext>
            </a:extLst>
          </p:cNvPr>
          <p:cNvSpPr txBox="1"/>
          <p:nvPr/>
        </p:nvSpPr>
        <p:spPr>
          <a:xfrm>
            <a:off x="8784611" y="1617578"/>
            <a:ext cx="2024156" cy="253916"/>
          </a:xfrm>
          <a:prstGeom prst="rect">
            <a:avLst/>
          </a:prstGeom>
          <a:solidFill>
            <a:srgbClr val="3C0E6B"/>
          </a:solid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Oportunidades</a:t>
            </a:r>
            <a:endParaRPr lang="pt-BR" sz="1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42EA5A2-D1C4-4196-AB40-B0178C7E9C91}"/>
              </a:ext>
            </a:extLst>
          </p:cNvPr>
          <p:cNvSpPr txBox="1"/>
          <p:nvPr/>
        </p:nvSpPr>
        <p:spPr>
          <a:xfrm>
            <a:off x="4455184" y="4016451"/>
            <a:ext cx="2204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+mj-lt"/>
              </a:rPr>
              <a:t>Comportamento pós-consulta</a:t>
            </a: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68228358-82B0-4D19-B982-75C68D0E67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579" y="3961665"/>
            <a:ext cx="410708" cy="410708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6C1D10E1-F204-4597-A98F-E076D0D4C0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  <p:sp>
        <p:nvSpPr>
          <p:cNvPr id="83" name="CaixaDeTexto 82">
            <a:extLst>
              <a:ext uri="{FF2B5EF4-FFF2-40B4-BE49-F238E27FC236}">
                <a16:creationId xmlns:a16="http://schemas.microsoft.com/office/drawing/2014/main" id="{6E78702F-06AE-42F2-B160-38D7A2C0997B}"/>
              </a:ext>
            </a:extLst>
          </p:cNvPr>
          <p:cNvSpPr txBox="1"/>
          <p:nvPr/>
        </p:nvSpPr>
        <p:spPr>
          <a:xfrm>
            <a:off x="8102033" y="1996134"/>
            <a:ext cx="34659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Aumentar a presença no país</a:t>
            </a:r>
            <a:r>
              <a:rPr lang="pt-BR" sz="1200" dirty="0">
                <a:latin typeface="+mj-lt"/>
              </a:rPr>
              <a:t>, hoje concentrada no Sul e Sudeste</a:t>
            </a:r>
          </a:p>
          <a:p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Toolkits</a:t>
            </a:r>
            <a:r>
              <a:rPr lang="pt-BR" sz="1200" dirty="0">
                <a:latin typeface="+mj-lt"/>
              </a:rPr>
              <a:t> de médicos, com treinamento e sugestões de argumentos para </a:t>
            </a:r>
            <a:r>
              <a:rPr lang="pt-BR" sz="1200" b="1" dirty="0">
                <a:latin typeface="+mj-lt"/>
              </a:rPr>
              <a:t>aumentar</a:t>
            </a:r>
            <a:r>
              <a:rPr lang="pt-BR" sz="1200" dirty="0">
                <a:latin typeface="+mj-lt"/>
              </a:rPr>
              <a:t> a </a:t>
            </a:r>
            <a:r>
              <a:rPr lang="pt-BR" sz="1200" b="1" dirty="0">
                <a:latin typeface="+mj-lt"/>
              </a:rPr>
              <a:t>adoção</a:t>
            </a:r>
            <a:r>
              <a:rPr lang="pt-BR" sz="1200" dirty="0">
                <a:latin typeface="+mj-lt"/>
              </a:rPr>
              <a:t> das </a:t>
            </a:r>
            <a:r>
              <a:rPr lang="pt-BR" sz="1200" b="1" dirty="0">
                <a:latin typeface="+mj-lt"/>
              </a:rPr>
              <a:t>receitas</a:t>
            </a:r>
            <a:r>
              <a:rPr lang="pt-BR" sz="1200" dirty="0">
                <a:latin typeface="+mj-lt"/>
              </a:rPr>
              <a:t> </a:t>
            </a:r>
            <a:r>
              <a:rPr lang="pt-BR" sz="1200" b="1" dirty="0">
                <a:latin typeface="+mj-lt"/>
              </a:rPr>
              <a:t>digitais</a:t>
            </a:r>
            <a:r>
              <a:rPr lang="pt-BR" sz="1200" dirty="0">
                <a:latin typeface="+mj-lt"/>
              </a:rPr>
              <a:t>, principalmente para os Baby Boomers.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dirty="0">
                <a:latin typeface="+mj-lt"/>
              </a:rPr>
              <a:t>Análises </a:t>
            </a:r>
            <a:r>
              <a:rPr lang="pt-BR" sz="1200" dirty="0" err="1">
                <a:latin typeface="+mj-lt"/>
              </a:rPr>
              <a:t>cohort</a:t>
            </a:r>
            <a:r>
              <a:rPr lang="pt-BR" sz="1200" dirty="0">
                <a:latin typeface="+mj-lt"/>
              </a:rPr>
              <a:t> para mensurar resultado.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dirty="0">
                <a:latin typeface="+mj-lt"/>
              </a:rPr>
              <a:t>Posicionamento de </a:t>
            </a:r>
            <a:r>
              <a:rPr lang="pt-BR" sz="1200" b="1" dirty="0">
                <a:latin typeface="+mj-lt"/>
              </a:rPr>
              <a:t>lojas </a:t>
            </a:r>
            <a:r>
              <a:rPr lang="pt-BR" sz="1200" dirty="0">
                <a:latin typeface="+mj-lt"/>
              </a:rPr>
              <a:t>em</a:t>
            </a:r>
            <a:r>
              <a:rPr lang="pt-BR" sz="1200" b="1" dirty="0">
                <a:latin typeface="+mj-lt"/>
              </a:rPr>
              <a:t> locais estratégicos.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b="1" dirty="0">
                <a:latin typeface="+mj-lt"/>
              </a:rPr>
              <a:t>Preços dinâmicos </a:t>
            </a:r>
            <a:r>
              <a:rPr lang="pt-BR" sz="1200" dirty="0">
                <a:latin typeface="+mj-lt"/>
              </a:rPr>
              <a:t>de acordo com o perfil do cliente e sazonalidades.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dirty="0">
                <a:latin typeface="+mj-lt"/>
              </a:rPr>
              <a:t>Avaliar entregas rápidas para algumas praças.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200" dirty="0">
                <a:latin typeface="+mj-lt"/>
              </a:rPr>
              <a:t>Criação do </a:t>
            </a:r>
            <a:r>
              <a:rPr lang="pt-BR" sz="1200" b="1" dirty="0" err="1">
                <a:latin typeface="+mj-lt"/>
              </a:rPr>
              <a:t>MevoCare</a:t>
            </a:r>
            <a:r>
              <a:rPr lang="pt-BR" sz="1200" dirty="0">
                <a:latin typeface="+mj-lt"/>
              </a:rPr>
              <a:t>®, app para acompanhar o histórico de prescrições, loja e aumentar o engajamento do cliente.</a:t>
            </a:r>
          </a:p>
        </p:txBody>
      </p:sp>
    </p:spTree>
    <p:extLst>
      <p:ext uri="{BB962C8B-B14F-4D97-AF65-F5344CB8AC3E}">
        <p14:creationId xmlns:p14="http://schemas.microsoft.com/office/powerpoint/2010/main" val="2576600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ela 64">
            <a:extLst>
              <a:ext uri="{FF2B5EF4-FFF2-40B4-BE49-F238E27FC236}">
                <a16:creationId xmlns:a16="http://schemas.microsoft.com/office/drawing/2014/main" id="{E9F40038-186B-489A-BBA5-806F8D6FC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78210"/>
              </p:ext>
            </p:extLst>
          </p:nvPr>
        </p:nvGraphicFramePr>
        <p:xfrm>
          <a:off x="811824" y="1228726"/>
          <a:ext cx="10568352" cy="514726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321044">
                  <a:extLst>
                    <a:ext uri="{9D8B030D-6E8A-4147-A177-3AD203B41FA5}">
                      <a16:colId xmlns:a16="http://schemas.microsoft.com/office/drawing/2014/main" val="2498324954"/>
                    </a:ext>
                  </a:extLst>
                </a:gridCol>
                <a:gridCol w="806694">
                  <a:extLst>
                    <a:ext uri="{9D8B030D-6E8A-4147-A177-3AD203B41FA5}">
                      <a16:colId xmlns:a16="http://schemas.microsoft.com/office/drawing/2014/main" val="3747025542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2155252546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3027801233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912816483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2378598970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49902598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1849578864"/>
                    </a:ext>
                  </a:extLst>
                </a:gridCol>
              </a:tblGrid>
              <a:tr h="128367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Indicador / Geração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761938"/>
                  </a:ext>
                </a:extLst>
              </a:tr>
              <a:tr h="53381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Representatividade</a:t>
                      </a:r>
                      <a:b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(Prescrições)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764962"/>
                  </a:ext>
                </a:extLst>
              </a:tr>
              <a:tr h="46850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Rate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93377"/>
                  </a:ext>
                </a:extLst>
              </a:tr>
              <a:tr h="241997">
                <a:tc rowSpan="3"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Conversão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959970"/>
                  </a:ext>
                </a:extLst>
              </a:tr>
              <a:tr h="24199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Farmácia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239730"/>
                  </a:ext>
                </a:extLst>
              </a:tr>
              <a:tr h="2419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MktPlace</a:t>
                      </a:r>
                      <a:endParaRPr lang="pt-BR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987141"/>
                  </a:ext>
                </a:extLst>
              </a:tr>
              <a:tr h="177940">
                <a:tc rowSpan="3" gridSpan="2"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Top Especialidades</a:t>
                      </a:r>
                    </a:p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 MEDICA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 MEDICA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 MEDICA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 MEDICA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 MEDICA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PEDIATRIA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89698"/>
                  </a:ext>
                </a:extLst>
              </a:tr>
              <a:tr h="177939"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 ESPECIALIDADE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 ESPECIALIDADE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 ESPECIALIDADE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 ESPECIALIDADE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 ESPECIALIDADE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 ESPECIALIDADE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685737"/>
                  </a:ext>
                </a:extLst>
              </a:tr>
              <a:tr h="177940"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CARDIOLOGIA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ORTOPEDIA E TRAUMATOLOGIA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ORTOPEDIA E TRAUMATOLOGIA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CIRURGIA GERAL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CIRURGIA GERAL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 MEDICA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34796"/>
                  </a:ext>
                </a:extLst>
              </a:tr>
              <a:tr h="177940">
                <a:tc rowSpan="3" gridSpan="2"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Top Remédios</a:t>
                      </a:r>
                    </a:p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Prescritos </a:t>
                      </a:r>
                    </a:p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Glifage</a:t>
                      </a:r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XR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Glifage</a:t>
                      </a:r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XR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Glifage</a:t>
                      </a:r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XR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Paracetamol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Paracetamol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Aerolin</a:t>
                      </a:r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Spray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928168"/>
                  </a:ext>
                </a:extLst>
              </a:tr>
              <a:tr h="177939"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Acetilcisteína</a:t>
                      </a:r>
                      <a:endParaRPr lang="pt-B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Diprospan</a:t>
                      </a:r>
                      <a:endParaRPr lang="pt-B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Paracetamol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Budesonida</a:t>
                      </a:r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(Spray)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Budesonida</a:t>
                      </a:r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(Spray)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Sulfato de </a:t>
                      </a:r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Salbutamol</a:t>
                      </a:r>
                      <a:endParaRPr lang="pt-B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674434"/>
                  </a:ext>
                </a:extLst>
              </a:tr>
              <a:tr h="177940"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Paracetamol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Paracetamol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Diprospan</a:t>
                      </a:r>
                      <a:endParaRPr lang="pt-B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Avamys</a:t>
                      </a:r>
                      <a:endParaRPr lang="pt-B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Avamys</a:t>
                      </a:r>
                      <a:endParaRPr lang="pt-B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Avamys</a:t>
                      </a:r>
                      <a:endParaRPr lang="pt-B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74498"/>
                  </a:ext>
                </a:extLst>
              </a:tr>
              <a:tr h="53381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% Convênio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46%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664678"/>
                  </a:ext>
                </a:extLst>
              </a:tr>
              <a:tr h="53381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Tkm</a:t>
                      </a: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(R$ - Compra)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44,26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40,39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67723"/>
                  </a:ext>
                </a:extLst>
              </a:tr>
            </a:tbl>
          </a:graphicData>
        </a:graphic>
      </p:graphicFrame>
      <p:sp>
        <p:nvSpPr>
          <p:cNvPr id="16" name="Título 4">
            <a:extLst>
              <a:ext uri="{FF2B5EF4-FFF2-40B4-BE49-F238E27FC236}">
                <a16:creationId xmlns:a16="http://schemas.microsoft.com/office/drawing/2014/main" id="{570F3E8B-3105-425F-875D-C9EAD614F07E}"/>
              </a:ext>
            </a:extLst>
          </p:cNvPr>
          <p:cNvSpPr txBox="1">
            <a:spLocks/>
          </p:cNvSpPr>
          <p:nvPr/>
        </p:nvSpPr>
        <p:spPr>
          <a:xfrm>
            <a:off x="559950" y="201319"/>
            <a:ext cx="1163205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 b="0" i="0" u="none" strike="noStrike" cap="non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r>
              <a:rPr lang="pt-BR" b="1" kern="0" dirty="0">
                <a:solidFill>
                  <a:srgbClr val="3C0E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Panorama geracional</a:t>
            </a:r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DE3FBD2C-194F-474A-B0DB-2CD36004AA2B}"/>
              </a:ext>
            </a:extLst>
          </p:cNvPr>
          <p:cNvGrpSpPr/>
          <p:nvPr/>
        </p:nvGrpSpPr>
        <p:grpSpPr>
          <a:xfrm>
            <a:off x="3197039" y="1405724"/>
            <a:ext cx="7770006" cy="947166"/>
            <a:chOff x="3197039" y="1405724"/>
            <a:chExt cx="7770006" cy="947166"/>
          </a:xfrm>
        </p:grpSpPr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56C138A0-D58E-4625-B0C1-074D2134410F}"/>
                </a:ext>
              </a:extLst>
            </p:cNvPr>
            <p:cNvGrpSpPr/>
            <p:nvPr/>
          </p:nvGrpSpPr>
          <p:grpSpPr>
            <a:xfrm>
              <a:off x="3197039" y="1414830"/>
              <a:ext cx="922048" cy="926902"/>
              <a:chOff x="1934514" y="1752599"/>
              <a:chExt cx="922048" cy="926902"/>
            </a:xfrm>
          </p:grpSpPr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0F705D65-D1AA-47B0-B603-64F6D512A8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2085975" y="1752599"/>
                <a:ext cx="619125" cy="619125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C0049253-FDC6-4152-BB18-43B833251E1B}"/>
                  </a:ext>
                </a:extLst>
              </p:cNvPr>
              <p:cNvSpPr txBox="1"/>
              <p:nvPr/>
            </p:nvSpPr>
            <p:spPr>
              <a:xfrm>
                <a:off x="1934514" y="2371724"/>
                <a:ext cx="9220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 sz="1400" b="1" i="0" u="none" strike="noStrike" kern="1200" spc="0" baseline="0">
                    <a:solidFill>
                      <a:srgbClr val="FFFFFF">
                        <a:lumMod val="50000"/>
                      </a:srgb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pt-BR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Silenciosa</a:t>
                </a:r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22E25367-2C7D-4D17-9DA1-0FD5C46CB151}"/>
                </a:ext>
              </a:extLst>
            </p:cNvPr>
            <p:cNvGrpSpPr/>
            <p:nvPr/>
          </p:nvGrpSpPr>
          <p:grpSpPr>
            <a:xfrm>
              <a:off x="4420151" y="1454392"/>
              <a:ext cx="1257140" cy="887340"/>
              <a:chOff x="2718007" y="1792161"/>
              <a:chExt cx="1257140" cy="887340"/>
            </a:xfrm>
          </p:grpSpPr>
          <p:pic>
            <p:nvPicPr>
              <p:cNvPr id="8" name="Imagem 7">
                <a:extLst>
                  <a:ext uri="{FF2B5EF4-FFF2-40B4-BE49-F238E27FC236}">
                    <a16:creationId xmlns:a16="http://schemas.microsoft.com/office/drawing/2014/main" id="{013CEFF1-DAA7-47CF-933D-28D817C7DC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3076575" y="1792161"/>
                <a:ext cx="540000" cy="540000"/>
              </a:xfrm>
              <a:prstGeom prst="rect">
                <a:avLst/>
              </a:prstGeom>
            </p:spPr>
          </p:pic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F86E2C37-812C-4514-81E0-5A081C673176}"/>
                  </a:ext>
                </a:extLst>
              </p:cNvPr>
              <p:cNvSpPr txBox="1"/>
              <p:nvPr/>
            </p:nvSpPr>
            <p:spPr>
              <a:xfrm>
                <a:off x="2718007" y="2371724"/>
                <a:ext cx="12571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 sz="1400" b="1" i="0" u="none" strike="noStrike" kern="1200" spc="0" baseline="0">
                    <a:solidFill>
                      <a:srgbClr val="FFFFFF">
                        <a:lumMod val="50000"/>
                      </a:srgb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pt-BR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Baby Boomers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69F3AC6A-9EFD-4A0D-8952-8EE5B35CF928}"/>
                </a:ext>
              </a:extLst>
            </p:cNvPr>
            <p:cNvGrpSpPr/>
            <p:nvPr/>
          </p:nvGrpSpPr>
          <p:grpSpPr>
            <a:xfrm>
              <a:off x="6159925" y="1454392"/>
              <a:ext cx="562316" cy="898498"/>
              <a:chOff x="3975147" y="1781003"/>
              <a:chExt cx="562316" cy="898498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E4B5B0F5-66AC-4E2E-ADC1-36D00FDDBA92}"/>
                  </a:ext>
                </a:extLst>
              </p:cNvPr>
              <p:cNvGrpSpPr/>
              <p:nvPr/>
            </p:nvGrpSpPr>
            <p:grpSpPr>
              <a:xfrm>
                <a:off x="3975147" y="1781003"/>
                <a:ext cx="562316" cy="562316"/>
                <a:chOff x="3988050" y="1781003"/>
                <a:chExt cx="562316" cy="562316"/>
              </a:xfrm>
            </p:grpSpPr>
            <p:sp>
              <p:nvSpPr>
                <p:cNvPr id="9" name="Retângulo: Cantos Arredondados 8">
                  <a:extLst>
                    <a:ext uri="{FF2B5EF4-FFF2-40B4-BE49-F238E27FC236}">
                      <a16:creationId xmlns:a16="http://schemas.microsoft.com/office/drawing/2014/main" id="{3218ADB3-1B22-4160-9521-B1E346CEFF6A}"/>
                    </a:ext>
                  </a:extLst>
                </p:cNvPr>
                <p:cNvSpPr/>
                <p:nvPr/>
              </p:nvSpPr>
              <p:spPr>
                <a:xfrm>
                  <a:off x="3999208" y="1781003"/>
                  <a:ext cx="540000" cy="54000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pic>
              <p:nvPicPr>
                <p:cNvPr id="29" name="Imagem 28">
                  <a:extLst>
                    <a:ext uri="{FF2B5EF4-FFF2-40B4-BE49-F238E27FC236}">
                      <a16:creationId xmlns:a16="http://schemas.microsoft.com/office/drawing/2014/main" id="{74307090-3EB8-4101-AB0C-B47D2A3A8C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88050" y="1781003"/>
                  <a:ext cx="562316" cy="562316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8401058B-9E10-4D46-97D1-C618BEC491EE}"/>
                  </a:ext>
                </a:extLst>
              </p:cNvPr>
              <p:cNvSpPr txBox="1"/>
              <p:nvPr/>
            </p:nvSpPr>
            <p:spPr>
              <a:xfrm>
                <a:off x="4123524" y="237172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 sz="1400" b="1" i="0" u="none" strike="noStrike" kern="1200" spc="0" baseline="0">
                    <a:solidFill>
                      <a:srgbClr val="FFFFFF">
                        <a:lumMod val="50000"/>
                      </a:srgb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pt-BR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</a:p>
            </p:txBody>
          </p:sp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53CE8F25-F42C-44EE-A03B-946807EECE5A}"/>
                </a:ext>
              </a:extLst>
            </p:cNvPr>
            <p:cNvGrpSpPr/>
            <p:nvPr/>
          </p:nvGrpSpPr>
          <p:grpSpPr>
            <a:xfrm>
              <a:off x="7421643" y="1454392"/>
              <a:ext cx="912429" cy="887340"/>
              <a:chOff x="4635276" y="1792161"/>
              <a:chExt cx="912429" cy="887340"/>
            </a:xfrm>
          </p:grpSpPr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AC8A1C7D-770E-4161-A858-1986D5494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9"/>
                  </a:ext>
                </a:extLst>
              </a:blip>
              <a:stretch>
                <a:fillRect/>
              </a:stretch>
            </p:blipFill>
            <p:spPr>
              <a:xfrm>
                <a:off x="4820365" y="1792161"/>
                <a:ext cx="540000" cy="540000"/>
              </a:xfrm>
              <a:prstGeom prst="rect">
                <a:avLst/>
              </a:prstGeom>
            </p:spPr>
          </p:pic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EC88F9F9-FB13-4498-A532-49C68C71C202}"/>
                  </a:ext>
                </a:extLst>
              </p:cNvPr>
              <p:cNvSpPr txBox="1"/>
              <p:nvPr/>
            </p:nvSpPr>
            <p:spPr>
              <a:xfrm>
                <a:off x="4635276" y="2371724"/>
                <a:ext cx="9124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 sz="1400" b="1" i="0" u="none" strike="noStrike" kern="1200" spc="0" baseline="0">
                    <a:solidFill>
                      <a:srgbClr val="FFFFFF">
                        <a:lumMod val="50000"/>
                      </a:srgb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pt-BR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Millenials</a:t>
                </a:r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B8404F92-109F-43F8-8565-FEE063AF51C7}"/>
                </a:ext>
              </a:extLst>
            </p:cNvPr>
            <p:cNvGrpSpPr/>
            <p:nvPr/>
          </p:nvGrpSpPr>
          <p:grpSpPr>
            <a:xfrm>
              <a:off x="9022728" y="1454392"/>
              <a:ext cx="540000" cy="887340"/>
              <a:chOff x="5922410" y="1792161"/>
              <a:chExt cx="540000" cy="887340"/>
            </a:xfrm>
          </p:grpSpPr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4BD25695-9A26-4E67-A215-9202FF8E30D8}"/>
                  </a:ext>
                </a:extLst>
              </p:cNvPr>
              <p:cNvSpPr txBox="1"/>
              <p:nvPr/>
            </p:nvSpPr>
            <p:spPr>
              <a:xfrm>
                <a:off x="6056796" y="2371724"/>
                <a:ext cx="2712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 sz="1400" b="1" i="0" u="none" strike="noStrike" kern="1200" spc="0" baseline="0">
                    <a:solidFill>
                      <a:srgbClr val="FFFFFF">
                        <a:lumMod val="50000"/>
                      </a:srgb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pt-BR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pic>
            <p:nvPicPr>
              <p:cNvPr id="19" name="Imagem 18">
                <a:extLst>
                  <a:ext uri="{FF2B5EF4-FFF2-40B4-BE49-F238E27FC236}">
                    <a16:creationId xmlns:a16="http://schemas.microsoft.com/office/drawing/2014/main" id="{BAB5705A-14EA-47E6-9C06-E15D654116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11"/>
                  </a:ext>
                </a:extLst>
              </a:blip>
              <a:stretch>
                <a:fillRect/>
              </a:stretch>
            </p:blipFill>
            <p:spPr>
              <a:xfrm>
                <a:off x="5922410" y="1792161"/>
                <a:ext cx="540000" cy="540000"/>
              </a:xfrm>
              <a:prstGeom prst="rect">
                <a:avLst/>
              </a:prstGeom>
            </p:spPr>
          </p:pic>
        </p:grpSp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id="{5E804DED-B7C1-4AD8-BEB6-C02BC28ED097}"/>
                </a:ext>
              </a:extLst>
            </p:cNvPr>
            <p:cNvGrpSpPr/>
            <p:nvPr/>
          </p:nvGrpSpPr>
          <p:grpSpPr>
            <a:xfrm>
              <a:off x="10427045" y="1454392"/>
              <a:ext cx="540000" cy="887340"/>
              <a:chOff x="9887783" y="1711567"/>
              <a:chExt cx="540000" cy="887340"/>
            </a:xfrm>
          </p:grpSpPr>
          <p:grpSp>
            <p:nvGrpSpPr>
              <p:cNvPr id="20" name="Agrupar 19">
                <a:extLst>
                  <a:ext uri="{FF2B5EF4-FFF2-40B4-BE49-F238E27FC236}">
                    <a16:creationId xmlns:a16="http://schemas.microsoft.com/office/drawing/2014/main" id="{713232B6-FADC-4B43-90C2-FF583A545A42}"/>
                  </a:ext>
                </a:extLst>
              </p:cNvPr>
              <p:cNvGrpSpPr/>
              <p:nvPr/>
            </p:nvGrpSpPr>
            <p:grpSpPr>
              <a:xfrm>
                <a:off x="9887783" y="1711567"/>
                <a:ext cx="540000" cy="887340"/>
                <a:chOff x="7371636" y="1792161"/>
                <a:chExt cx="540000" cy="887340"/>
              </a:xfrm>
            </p:grpSpPr>
            <p:sp>
              <p:nvSpPr>
                <p:cNvPr id="47" name="Retângulo: Cantos Arredondados 46">
                  <a:extLst>
                    <a:ext uri="{FF2B5EF4-FFF2-40B4-BE49-F238E27FC236}">
                      <a16:creationId xmlns:a16="http://schemas.microsoft.com/office/drawing/2014/main" id="{27733ECC-7DBE-4212-8248-9F6181C5B99B}"/>
                    </a:ext>
                  </a:extLst>
                </p:cNvPr>
                <p:cNvSpPr/>
                <p:nvPr/>
              </p:nvSpPr>
              <p:spPr>
                <a:xfrm>
                  <a:off x="7371636" y="1792161"/>
                  <a:ext cx="540000" cy="5400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id="{EA4E6B44-096C-4CF4-87F9-4CC885DD9695}"/>
                    </a:ext>
                  </a:extLst>
                </p:cNvPr>
                <p:cNvSpPr txBox="1"/>
                <p:nvPr/>
              </p:nvSpPr>
              <p:spPr>
                <a:xfrm>
                  <a:off x="7396078" y="2371724"/>
                  <a:ext cx="4799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defRPr sz="1400" b="1" i="0" u="none" strike="noStrike" kern="1200" spc="0" baseline="0">
                      <a:solidFill>
                        <a:srgbClr val="FFFFFF">
                          <a:lumMod val="50000"/>
                        </a:srgb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r>
                    <a:rPr lang="pt-BR" sz="1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Alfa</a:t>
                  </a:r>
                </a:p>
              </p:txBody>
            </p:sp>
          </p:grpSp>
          <p:pic>
            <p:nvPicPr>
              <p:cNvPr id="59" name="Imagem 58">
                <a:extLst>
                  <a:ext uri="{FF2B5EF4-FFF2-40B4-BE49-F238E27FC236}">
                    <a16:creationId xmlns:a16="http://schemas.microsoft.com/office/drawing/2014/main" id="{D46B5B9C-10C0-49DF-AE55-3109054949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13"/>
                  </a:ext>
                </a:extLst>
              </a:blip>
              <a:stretch>
                <a:fillRect/>
              </a:stretch>
            </p:blipFill>
            <p:spPr>
              <a:xfrm>
                <a:off x="9924043" y="1745654"/>
                <a:ext cx="471826" cy="471826"/>
              </a:xfrm>
              <a:prstGeom prst="rect">
                <a:avLst/>
              </a:prstGeom>
            </p:spPr>
          </p:pic>
        </p:grp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4873E336-7D55-41F2-8998-88FE2344E94D}"/>
                </a:ext>
              </a:extLst>
            </p:cNvPr>
            <p:cNvSpPr/>
            <p:nvPr/>
          </p:nvSpPr>
          <p:spPr>
            <a:xfrm>
              <a:off x="3254175" y="1405724"/>
              <a:ext cx="804386" cy="640800"/>
            </a:xfrm>
            <a:custGeom>
              <a:avLst/>
              <a:gdLst>
                <a:gd name="connsiteX0" fmla="*/ 108460 w 804386"/>
                <a:gd name="connsiteY0" fmla="*/ 0 h 650744"/>
                <a:gd name="connsiteX1" fmla="*/ 695926 w 804386"/>
                <a:gd name="connsiteY1" fmla="*/ 0 h 650744"/>
                <a:gd name="connsiteX2" fmla="*/ 804386 w 804386"/>
                <a:gd name="connsiteY2" fmla="*/ 108460 h 650744"/>
                <a:gd name="connsiteX3" fmla="*/ 804386 w 804386"/>
                <a:gd name="connsiteY3" fmla="*/ 542284 h 650744"/>
                <a:gd name="connsiteX4" fmla="*/ 695926 w 804386"/>
                <a:gd name="connsiteY4" fmla="*/ 650744 h 650744"/>
                <a:gd name="connsiteX5" fmla="*/ 108460 w 804386"/>
                <a:gd name="connsiteY5" fmla="*/ 650744 h 650744"/>
                <a:gd name="connsiteX6" fmla="*/ 0 w 804386"/>
                <a:gd name="connsiteY6" fmla="*/ 542284 h 650744"/>
                <a:gd name="connsiteX7" fmla="*/ 0 w 804386"/>
                <a:gd name="connsiteY7" fmla="*/ 108460 h 650744"/>
                <a:gd name="connsiteX8" fmla="*/ 108460 w 804386"/>
                <a:gd name="connsiteY8" fmla="*/ 0 h 650744"/>
                <a:gd name="connsiteX9" fmla="*/ 222195 w 804386"/>
                <a:gd name="connsiteY9" fmla="*/ 55372 h 650744"/>
                <a:gd name="connsiteX10" fmla="*/ 132193 w 804386"/>
                <a:gd name="connsiteY10" fmla="*/ 145374 h 650744"/>
                <a:gd name="connsiteX11" fmla="*/ 132193 w 804386"/>
                <a:gd name="connsiteY11" fmla="*/ 505370 h 650744"/>
                <a:gd name="connsiteX12" fmla="*/ 222195 w 804386"/>
                <a:gd name="connsiteY12" fmla="*/ 595372 h 650744"/>
                <a:gd name="connsiteX13" fmla="*/ 582191 w 804386"/>
                <a:gd name="connsiteY13" fmla="*/ 595372 h 650744"/>
                <a:gd name="connsiteX14" fmla="*/ 672193 w 804386"/>
                <a:gd name="connsiteY14" fmla="*/ 505370 h 650744"/>
                <a:gd name="connsiteX15" fmla="*/ 672193 w 804386"/>
                <a:gd name="connsiteY15" fmla="*/ 145374 h 650744"/>
                <a:gd name="connsiteX16" fmla="*/ 582191 w 804386"/>
                <a:gd name="connsiteY16" fmla="*/ 55372 h 650744"/>
                <a:gd name="connsiteX17" fmla="*/ 222195 w 804386"/>
                <a:gd name="connsiteY17" fmla="*/ 55372 h 65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386" h="650744">
                  <a:moveTo>
                    <a:pt x="108460" y="0"/>
                  </a:moveTo>
                  <a:lnTo>
                    <a:pt x="695926" y="0"/>
                  </a:lnTo>
                  <a:cubicBezTo>
                    <a:pt x="755827" y="0"/>
                    <a:pt x="804386" y="48559"/>
                    <a:pt x="804386" y="108460"/>
                  </a:cubicBezTo>
                  <a:lnTo>
                    <a:pt x="804386" y="542284"/>
                  </a:lnTo>
                  <a:cubicBezTo>
                    <a:pt x="804386" y="602185"/>
                    <a:pt x="755827" y="650744"/>
                    <a:pt x="695926" y="650744"/>
                  </a:cubicBezTo>
                  <a:lnTo>
                    <a:pt x="108460" y="650744"/>
                  </a:lnTo>
                  <a:cubicBezTo>
                    <a:pt x="48559" y="650744"/>
                    <a:pt x="0" y="602185"/>
                    <a:pt x="0" y="542284"/>
                  </a:cubicBezTo>
                  <a:lnTo>
                    <a:pt x="0" y="108460"/>
                  </a:lnTo>
                  <a:cubicBezTo>
                    <a:pt x="0" y="48559"/>
                    <a:pt x="48559" y="0"/>
                    <a:pt x="108460" y="0"/>
                  </a:cubicBezTo>
                  <a:close/>
                  <a:moveTo>
                    <a:pt x="222195" y="55372"/>
                  </a:moveTo>
                  <a:cubicBezTo>
                    <a:pt x="172488" y="55372"/>
                    <a:pt x="132193" y="95667"/>
                    <a:pt x="132193" y="145374"/>
                  </a:cubicBezTo>
                  <a:lnTo>
                    <a:pt x="132193" y="505370"/>
                  </a:lnTo>
                  <a:cubicBezTo>
                    <a:pt x="132193" y="555077"/>
                    <a:pt x="172488" y="595372"/>
                    <a:pt x="222195" y="595372"/>
                  </a:cubicBezTo>
                  <a:lnTo>
                    <a:pt x="582191" y="595372"/>
                  </a:lnTo>
                  <a:cubicBezTo>
                    <a:pt x="631898" y="595372"/>
                    <a:pt x="672193" y="555077"/>
                    <a:pt x="672193" y="505370"/>
                  </a:cubicBezTo>
                  <a:lnTo>
                    <a:pt x="672193" y="145374"/>
                  </a:lnTo>
                  <a:cubicBezTo>
                    <a:pt x="672193" y="95667"/>
                    <a:pt x="631898" y="55372"/>
                    <a:pt x="582191" y="55372"/>
                  </a:cubicBezTo>
                  <a:lnTo>
                    <a:pt x="222195" y="5537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BA66CF7D-B202-4940-A5F4-CC771BD01DA2}"/>
                </a:ext>
              </a:extLst>
            </p:cNvPr>
            <p:cNvSpPr/>
            <p:nvPr/>
          </p:nvSpPr>
          <p:spPr>
            <a:xfrm>
              <a:off x="4637841" y="1405724"/>
              <a:ext cx="804386" cy="640800"/>
            </a:xfrm>
            <a:custGeom>
              <a:avLst/>
              <a:gdLst>
                <a:gd name="connsiteX0" fmla="*/ 108460 w 804386"/>
                <a:gd name="connsiteY0" fmla="*/ 0 h 650744"/>
                <a:gd name="connsiteX1" fmla="*/ 695926 w 804386"/>
                <a:gd name="connsiteY1" fmla="*/ 0 h 650744"/>
                <a:gd name="connsiteX2" fmla="*/ 804386 w 804386"/>
                <a:gd name="connsiteY2" fmla="*/ 108460 h 650744"/>
                <a:gd name="connsiteX3" fmla="*/ 804386 w 804386"/>
                <a:gd name="connsiteY3" fmla="*/ 542284 h 650744"/>
                <a:gd name="connsiteX4" fmla="*/ 695926 w 804386"/>
                <a:gd name="connsiteY4" fmla="*/ 650744 h 650744"/>
                <a:gd name="connsiteX5" fmla="*/ 108460 w 804386"/>
                <a:gd name="connsiteY5" fmla="*/ 650744 h 650744"/>
                <a:gd name="connsiteX6" fmla="*/ 0 w 804386"/>
                <a:gd name="connsiteY6" fmla="*/ 542284 h 650744"/>
                <a:gd name="connsiteX7" fmla="*/ 0 w 804386"/>
                <a:gd name="connsiteY7" fmla="*/ 108460 h 650744"/>
                <a:gd name="connsiteX8" fmla="*/ 108460 w 804386"/>
                <a:gd name="connsiteY8" fmla="*/ 0 h 650744"/>
                <a:gd name="connsiteX9" fmla="*/ 222195 w 804386"/>
                <a:gd name="connsiteY9" fmla="*/ 55372 h 650744"/>
                <a:gd name="connsiteX10" fmla="*/ 132193 w 804386"/>
                <a:gd name="connsiteY10" fmla="*/ 145374 h 650744"/>
                <a:gd name="connsiteX11" fmla="*/ 132193 w 804386"/>
                <a:gd name="connsiteY11" fmla="*/ 505370 h 650744"/>
                <a:gd name="connsiteX12" fmla="*/ 222195 w 804386"/>
                <a:gd name="connsiteY12" fmla="*/ 595372 h 650744"/>
                <a:gd name="connsiteX13" fmla="*/ 582191 w 804386"/>
                <a:gd name="connsiteY13" fmla="*/ 595372 h 650744"/>
                <a:gd name="connsiteX14" fmla="*/ 672193 w 804386"/>
                <a:gd name="connsiteY14" fmla="*/ 505370 h 650744"/>
                <a:gd name="connsiteX15" fmla="*/ 672193 w 804386"/>
                <a:gd name="connsiteY15" fmla="*/ 145374 h 650744"/>
                <a:gd name="connsiteX16" fmla="*/ 582191 w 804386"/>
                <a:gd name="connsiteY16" fmla="*/ 55372 h 650744"/>
                <a:gd name="connsiteX17" fmla="*/ 222195 w 804386"/>
                <a:gd name="connsiteY17" fmla="*/ 55372 h 65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386" h="650744">
                  <a:moveTo>
                    <a:pt x="108460" y="0"/>
                  </a:moveTo>
                  <a:lnTo>
                    <a:pt x="695926" y="0"/>
                  </a:lnTo>
                  <a:cubicBezTo>
                    <a:pt x="755827" y="0"/>
                    <a:pt x="804386" y="48559"/>
                    <a:pt x="804386" y="108460"/>
                  </a:cubicBezTo>
                  <a:lnTo>
                    <a:pt x="804386" y="542284"/>
                  </a:lnTo>
                  <a:cubicBezTo>
                    <a:pt x="804386" y="602185"/>
                    <a:pt x="755827" y="650744"/>
                    <a:pt x="695926" y="650744"/>
                  </a:cubicBezTo>
                  <a:lnTo>
                    <a:pt x="108460" y="650744"/>
                  </a:lnTo>
                  <a:cubicBezTo>
                    <a:pt x="48559" y="650744"/>
                    <a:pt x="0" y="602185"/>
                    <a:pt x="0" y="542284"/>
                  </a:cubicBezTo>
                  <a:lnTo>
                    <a:pt x="0" y="108460"/>
                  </a:lnTo>
                  <a:cubicBezTo>
                    <a:pt x="0" y="48559"/>
                    <a:pt x="48559" y="0"/>
                    <a:pt x="108460" y="0"/>
                  </a:cubicBezTo>
                  <a:close/>
                  <a:moveTo>
                    <a:pt x="222195" y="55372"/>
                  </a:moveTo>
                  <a:cubicBezTo>
                    <a:pt x="172488" y="55372"/>
                    <a:pt x="132193" y="95667"/>
                    <a:pt x="132193" y="145374"/>
                  </a:cubicBezTo>
                  <a:lnTo>
                    <a:pt x="132193" y="505370"/>
                  </a:lnTo>
                  <a:cubicBezTo>
                    <a:pt x="132193" y="555077"/>
                    <a:pt x="172488" y="595372"/>
                    <a:pt x="222195" y="595372"/>
                  </a:cubicBezTo>
                  <a:lnTo>
                    <a:pt x="582191" y="595372"/>
                  </a:lnTo>
                  <a:cubicBezTo>
                    <a:pt x="631898" y="595372"/>
                    <a:pt x="672193" y="555077"/>
                    <a:pt x="672193" y="505370"/>
                  </a:cubicBezTo>
                  <a:lnTo>
                    <a:pt x="672193" y="145374"/>
                  </a:lnTo>
                  <a:cubicBezTo>
                    <a:pt x="672193" y="95667"/>
                    <a:pt x="631898" y="55372"/>
                    <a:pt x="582191" y="55372"/>
                  </a:cubicBezTo>
                  <a:lnTo>
                    <a:pt x="222195" y="5537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B059D3E6-A46A-4A71-B92E-A37C2704DDE2}"/>
                </a:ext>
              </a:extLst>
            </p:cNvPr>
            <p:cNvSpPr/>
            <p:nvPr/>
          </p:nvSpPr>
          <p:spPr>
            <a:xfrm>
              <a:off x="7464313" y="1405724"/>
              <a:ext cx="804386" cy="640800"/>
            </a:xfrm>
            <a:custGeom>
              <a:avLst/>
              <a:gdLst>
                <a:gd name="connsiteX0" fmla="*/ 108460 w 804386"/>
                <a:gd name="connsiteY0" fmla="*/ 0 h 650744"/>
                <a:gd name="connsiteX1" fmla="*/ 695926 w 804386"/>
                <a:gd name="connsiteY1" fmla="*/ 0 h 650744"/>
                <a:gd name="connsiteX2" fmla="*/ 804386 w 804386"/>
                <a:gd name="connsiteY2" fmla="*/ 108460 h 650744"/>
                <a:gd name="connsiteX3" fmla="*/ 804386 w 804386"/>
                <a:gd name="connsiteY3" fmla="*/ 542284 h 650744"/>
                <a:gd name="connsiteX4" fmla="*/ 695926 w 804386"/>
                <a:gd name="connsiteY4" fmla="*/ 650744 h 650744"/>
                <a:gd name="connsiteX5" fmla="*/ 108460 w 804386"/>
                <a:gd name="connsiteY5" fmla="*/ 650744 h 650744"/>
                <a:gd name="connsiteX6" fmla="*/ 0 w 804386"/>
                <a:gd name="connsiteY6" fmla="*/ 542284 h 650744"/>
                <a:gd name="connsiteX7" fmla="*/ 0 w 804386"/>
                <a:gd name="connsiteY7" fmla="*/ 108460 h 650744"/>
                <a:gd name="connsiteX8" fmla="*/ 108460 w 804386"/>
                <a:gd name="connsiteY8" fmla="*/ 0 h 650744"/>
                <a:gd name="connsiteX9" fmla="*/ 222195 w 804386"/>
                <a:gd name="connsiteY9" fmla="*/ 55372 h 650744"/>
                <a:gd name="connsiteX10" fmla="*/ 132193 w 804386"/>
                <a:gd name="connsiteY10" fmla="*/ 145374 h 650744"/>
                <a:gd name="connsiteX11" fmla="*/ 132193 w 804386"/>
                <a:gd name="connsiteY11" fmla="*/ 505370 h 650744"/>
                <a:gd name="connsiteX12" fmla="*/ 222195 w 804386"/>
                <a:gd name="connsiteY12" fmla="*/ 595372 h 650744"/>
                <a:gd name="connsiteX13" fmla="*/ 582191 w 804386"/>
                <a:gd name="connsiteY13" fmla="*/ 595372 h 650744"/>
                <a:gd name="connsiteX14" fmla="*/ 672193 w 804386"/>
                <a:gd name="connsiteY14" fmla="*/ 505370 h 650744"/>
                <a:gd name="connsiteX15" fmla="*/ 672193 w 804386"/>
                <a:gd name="connsiteY15" fmla="*/ 145374 h 650744"/>
                <a:gd name="connsiteX16" fmla="*/ 582191 w 804386"/>
                <a:gd name="connsiteY16" fmla="*/ 55372 h 650744"/>
                <a:gd name="connsiteX17" fmla="*/ 222195 w 804386"/>
                <a:gd name="connsiteY17" fmla="*/ 55372 h 65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386" h="650744">
                  <a:moveTo>
                    <a:pt x="108460" y="0"/>
                  </a:moveTo>
                  <a:lnTo>
                    <a:pt x="695926" y="0"/>
                  </a:lnTo>
                  <a:cubicBezTo>
                    <a:pt x="755827" y="0"/>
                    <a:pt x="804386" y="48559"/>
                    <a:pt x="804386" y="108460"/>
                  </a:cubicBezTo>
                  <a:lnTo>
                    <a:pt x="804386" y="542284"/>
                  </a:lnTo>
                  <a:cubicBezTo>
                    <a:pt x="804386" y="602185"/>
                    <a:pt x="755827" y="650744"/>
                    <a:pt x="695926" y="650744"/>
                  </a:cubicBezTo>
                  <a:lnTo>
                    <a:pt x="108460" y="650744"/>
                  </a:lnTo>
                  <a:cubicBezTo>
                    <a:pt x="48559" y="650744"/>
                    <a:pt x="0" y="602185"/>
                    <a:pt x="0" y="542284"/>
                  </a:cubicBezTo>
                  <a:lnTo>
                    <a:pt x="0" y="108460"/>
                  </a:lnTo>
                  <a:cubicBezTo>
                    <a:pt x="0" y="48559"/>
                    <a:pt x="48559" y="0"/>
                    <a:pt x="108460" y="0"/>
                  </a:cubicBezTo>
                  <a:close/>
                  <a:moveTo>
                    <a:pt x="222195" y="55372"/>
                  </a:moveTo>
                  <a:cubicBezTo>
                    <a:pt x="172488" y="55372"/>
                    <a:pt x="132193" y="95667"/>
                    <a:pt x="132193" y="145374"/>
                  </a:cubicBezTo>
                  <a:lnTo>
                    <a:pt x="132193" y="505370"/>
                  </a:lnTo>
                  <a:cubicBezTo>
                    <a:pt x="132193" y="555077"/>
                    <a:pt x="172488" y="595372"/>
                    <a:pt x="222195" y="595372"/>
                  </a:cubicBezTo>
                  <a:lnTo>
                    <a:pt x="582191" y="595372"/>
                  </a:lnTo>
                  <a:cubicBezTo>
                    <a:pt x="631898" y="595372"/>
                    <a:pt x="672193" y="555077"/>
                    <a:pt x="672193" y="505370"/>
                  </a:cubicBezTo>
                  <a:lnTo>
                    <a:pt x="672193" y="145374"/>
                  </a:lnTo>
                  <a:cubicBezTo>
                    <a:pt x="672193" y="95667"/>
                    <a:pt x="631898" y="55372"/>
                    <a:pt x="582191" y="55372"/>
                  </a:cubicBezTo>
                  <a:lnTo>
                    <a:pt x="222195" y="5537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EBC9B8A3-BCBD-4EA1-8157-D06392D334A1}"/>
                </a:ext>
              </a:extLst>
            </p:cNvPr>
            <p:cNvSpPr/>
            <p:nvPr/>
          </p:nvSpPr>
          <p:spPr>
            <a:xfrm>
              <a:off x="8887332" y="1405724"/>
              <a:ext cx="804386" cy="640800"/>
            </a:xfrm>
            <a:custGeom>
              <a:avLst/>
              <a:gdLst>
                <a:gd name="connsiteX0" fmla="*/ 108460 w 804386"/>
                <a:gd name="connsiteY0" fmla="*/ 0 h 650744"/>
                <a:gd name="connsiteX1" fmla="*/ 695926 w 804386"/>
                <a:gd name="connsiteY1" fmla="*/ 0 h 650744"/>
                <a:gd name="connsiteX2" fmla="*/ 804386 w 804386"/>
                <a:gd name="connsiteY2" fmla="*/ 108460 h 650744"/>
                <a:gd name="connsiteX3" fmla="*/ 804386 w 804386"/>
                <a:gd name="connsiteY3" fmla="*/ 542284 h 650744"/>
                <a:gd name="connsiteX4" fmla="*/ 695926 w 804386"/>
                <a:gd name="connsiteY4" fmla="*/ 650744 h 650744"/>
                <a:gd name="connsiteX5" fmla="*/ 108460 w 804386"/>
                <a:gd name="connsiteY5" fmla="*/ 650744 h 650744"/>
                <a:gd name="connsiteX6" fmla="*/ 0 w 804386"/>
                <a:gd name="connsiteY6" fmla="*/ 542284 h 650744"/>
                <a:gd name="connsiteX7" fmla="*/ 0 w 804386"/>
                <a:gd name="connsiteY7" fmla="*/ 108460 h 650744"/>
                <a:gd name="connsiteX8" fmla="*/ 108460 w 804386"/>
                <a:gd name="connsiteY8" fmla="*/ 0 h 650744"/>
                <a:gd name="connsiteX9" fmla="*/ 222195 w 804386"/>
                <a:gd name="connsiteY9" fmla="*/ 55372 h 650744"/>
                <a:gd name="connsiteX10" fmla="*/ 132193 w 804386"/>
                <a:gd name="connsiteY10" fmla="*/ 145374 h 650744"/>
                <a:gd name="connsiteX11" fmla="*/ 132193 w 804386"/>
                <a:gd name="connsiteY11" fmla="*/ 505370 h 650744"/>
                <a:gd name="connsiteX12" fmla="*/ 222195 w 804386"/>
                <a:gd name="connsiteY12" fmla="*/ 595372 h 650744"/>
                <a:gd name="connsiteX13" fmla="*/ 582191 w 804386"/>
                <a:gd name="connsiteY13" fmla="*/ 595372 h 650744"/>
                <a:gd name="connsiteX14" fmla="*/ 672193 w 804386"/>
                <a:gd name="connsiteY14" fmla="*/ 505370 h 650744"/>
                <a:gd name="connsiteX15" fmla="*/ 672193 w 804386"/>
                <a:gd name="connsiteY15" fmla="*/ 145374 h 650744"/>
                <a:gd name="connsiteX16" fmla="*/ 582191 w 804386"/>
                <a:gd name="connsiteY16" fmla="*/ 55372 h 650744"/>
                <a:gd name="connsiteX17" fmla="*/ 222195 w 804386"/>
                <a:gd name="connsiteY17" fmla="*/ 55372 h 65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386" h="650744">
                  <a:moveTo>
                    <a:pt x="108460" y="0"/>
                  </a:moveTo>
                  <a:lnTo>
                    <a:pt x="695926" y="0"/>
                  </a:lnTo>
                  <a:cubicBezTo>
                    <a:pt x="755827" y="0"/>
                    <a:pt x="804386" y="48559"/>
                    <a:pt x="804386" y="108460"/>
                  </a:cubicBezTo>
                  <a:lnTo>
                    <a:pt x="804386" y="542284"/>
                  </a:lnTo>
                  <a:cubicBezTo>
                    <a:pt x="804386" y="602185"/>
                    <a:pt x="755827" y="650744"/>
                    <a:pt x="695926" y="650744"/>
                  </a:cubicBezTo>
                  <a:lnTo>
                    <a:pt x="108460" y="650744"/>
                  </a:lnTo>
                  <a:cubicBezTo>
                    <a:pt x="48559" y="650744"/>
                    <a:pt x="0" y="602185"/>
                    <a:pt x="0" y="542284"/>
                  </a:cubicBezTo>
                  <a:lnTo>
                    <a:pt x="0" y="108460"/>
                  </a:lnTo>
                  <a:cubicBezTo>
                    <a:pt x="0" y="48559"/>
                    <a:pt x="48559" y="0"/>
                    <a:pt x="108460" y="0"/>
                  </a:cubicBezTo>
                  <a:close/>
                  <a:moveTo>
                    <a:pt x="222195" y="55372"/>
                  </a:moveTo>
                  <a:cubicBezTo>
                    <a:pt x="172488" y="55372"/>
                    <a:pt x="132193" y="95667"/>
                    <a:pt x="132193" y="145374"/>
                  </a:cubicBezTo>
                  <a:lnTo>
                    <a:pt x="132193" y="505370"/>
                  </a:lnTo>
                  <a:cubicBezTo>
                    <a:pt x="132193" y="555077"/>
                    <a:pt x="172488" y="595372"/>
                    <a:pt x="222195" y="595372"/>
                  </a:cubicBezTo>
                  <a:lnTo>
                    <a:pt x="582191" y="595372"/>
                  </a:lnTo>
                  <a:cubicBezTo>
                    <a:pt x="631898" y="595372"/>
                    <a:pt x="672193" y="555077"/>
                    <a:pt x="672193" y="505370"/>
                  </a:cubicBezTo>
                  <a:lnTo>
                    <a:pt x="672193" y="145374"/>
                  </a:lnTo>
                  <a:cubicBezTo>
                    <a:pt x="672193" y="95667"/>
                    <a:pt x="631898" y="55372"/>
                    <a:pt x="582191" y="55372"/>
                  </a:cubicBezTo>
                  <a:lnTo>
                    <a:pt x="222195" y="5537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8DD528C-B782-4F5F-8F4E-954C1FA91DFA}"/>
              </a:ext>
            </a:extLst>
          </p:cNvPr>
          <p:cNvSpPr txBox="1"/>
          <p:nvPr/>
        </p:nvSpPr>
        <p:spPr>
          <a:xfrm>
            <a:off x="811824" y="6593770"/>
            <a:ext cx="22509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solidFill>
                  <a:srgbClr val="0A2B25"/>
                </a:solidFill>
              </a:rPr>
              <a:t>Análise por prescrição. Considera preço da </a:t>
            </a:r>
            <a:r>
              <a:rPr lang="pt-BR" sz="800" dirty="0" err="1">
                <a:solidFill>
                  <a:srgbClr val="0A2B25"/>
                </a:solidFill>
              </a:rPr>
              <a:t>Mevo</a:t>
            </a:r>
            <a:r>
              <a:rPr lang="pt-BR" sz="800" dirty="0">
                <a:solidFill>
                  <a:srgbClr val="0A2B25"/>
                </a:solidFill>
              </a:rPr>
              <a:t>.</a:t>
            </a:r>
          </a:p>
        </p:txBody>
      </p:sp>
      <p:pic>
        <p:nvPicPr>
          <p:cNvPr id="76" name="Imagem 75">
            <a:extLst>
              <a:ext uri="{FF2B5EF4-FFF2-40B4-BE49-F238E27FC236}">
                <a16:creationId xmlns:a16="http://schemas.microsoft.com/office/drawing/2014/main" id="{340CB5EF-41D4-4FD1-8F6F-A0718CDDA8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873" b="89809" l="6989" r="97153">
                        <a14:foregroundMark x1="7334" y1="31210" x2="6989" y2="71338"/>
                        <a14:foregroundMark x1="60742" y1="27070" x2="64538" y2="64968"/>
                        <a14:foregroundMark x1="64538" y1="64968" x2="68939" y2="61783"/>
                        <a14:foregroundMark x1="68939" y1="61783" x2="72476" y2="21338"/>
                        <a14:foregroundMark x1="85505" y1="21656" x2="81104" y2="43312"/>
                        <a14:foregroundMark x1="81104" y1="43312" x2="83952" y2="71338"/>
                        <a14:foregroundMark x1="83952" y1="71338" x2="89129" y2="75478"/>
                        <a14:foregroundMark x1="89129" y1="75478" x2="93270" y2="67197"/>
                        <a14:foregroundMark x1="93270" y1="67197" x2="94823" y2="50318"/>
                        <a14:foregroundMark x1="94823" y1="50318" x2="93874" y2="33758"/>
                        <a14:foregroundMark x1="93874" y1="33758" x2="89129" y2="23567"/>
                        <a14:foregroundMark x1="89129" y1="23567" x2="84469" y2="22611"/>
                        <a14:foregroundMark x1="97066" y1="45223" x2="97153" y2="5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8797" y="168460"/>
            <a:ext cx="933653" cy="25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087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imple Light">
    <a:dk1>
      <a:srgbClr val="0A2B25"/>
    </a:dk1>
    <a:lt1>
      <a:srgbClr val="FFFEEB"/>
    </a:lt1>
    <a:dk2>
      <a:srgbClr val="E1F9BF"/>
    </a:dk2>
    <a:lt2>
      <a:srgbClr val="E1EB4B"/>
    </a:lt2>
    <a:accent1>
      <a:srgbClr val="226C50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191919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imple Light">
    <a:dk1>
      <a:srgbClr val="0A2B25"/>
    </a:dk1>
    <a:lt1>
      <a:srgbClr val="FFFEEB"/>
    </a:lt1>
    <a:dk2>
      <a:srgbClr val="E1F9BF"/>
    </a:dk2>
    <a:lt2>
      <a:srgbClr val="E1EB4B"/>
    </a:lt2>
    <a:accent1>
      <a:srgbClr val="226C50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191919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imple Light">
    <a:dk1>
      <a:srgbClr val="0A2B25"/>
    </a:dk1>
    <a:lt1>
      <a:srgbClr val="FFFEEB"/>
    </a:lt1>
    <a:dk2>
      <a:srgbClr val="E1F9BF"/>
    </a:dk2>
    <a:lt2>
      <a:srgbClr val="E1EB4B"/>
    </a:lt2>
    <a:accent1>
      <a:srgbClr val="226C50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191919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imple Light">
    <a:dk1>
      <a:srgbClr val="0A2B25"/>
    </a:dk1>
    <a:lt1>
      <a:srgbClr val="FFFEEB"/>
    </a:lt1>
    <a:dk2>
      <a:srgbClr val="E1F9BF"/>
    </a:dk2>
    <a:lt2>
      <a:srgbClr val="E1EB4B"/>
    </a:lt2>
    <a:accent1>
      <a:srgbClr val="226C50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191919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imple Light">
    <a:dk1>
      <a:srgbClr val="0A2B25"/>
    </a:dk1>
    <a:lt1>
      <a:srgbClr val="FFFEEB"/>
    </a:lt1>
    <a:dk2>
      <a:srgbClr val="E1F9BF"/>
    </a:dk2>
    <a:lt2>
      <a:srgbClr val="E1EB4B"/>
    </a:lt2>
    <a:accent1>
      <a:srgbClr val="226C50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191919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imple Light">
    <a:dk1>
      <a:srgbClr val="0A2B25"/>
    </a:dk1>
    <a:lt1>
      <a:srgbClr val="FFFEEB"/>
    </a:lt1>
    <a:dk2>
      <a:srgbClr val="E1F9BF"/>
    </a:dk2>
    <a:lt2>
      <a:srgbClr val="E1EB4B"/>
    </a:lt2>
    <a:accent1>
      <a:srgbClr val="226C50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191919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3849</TotalTime>
  <Words>2166</Words>
  <Application>Microsoft Office PowerPoint</Application>
  <PresentationFormat>Widescreen</PresentationFormat>
  <Paragraphs>669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Funnel Sans</vt:lpstr>
      <vt:lpstr>Menlo</vt:lpstr>
      <vt:lpstr>Roboto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Henrique</dc:creator>
  <cp:lastModifiedBy>Vinicius Henrique</cp:lastModifiedBy>
  <cp:revision>167</cp:revision>
  <dcterms:created xsi:type="dcterms:W3CDTF">2025-10-13T02:41:31Z</dcterms:created>
  <dcterms:modified xsi:type="dcterms:W3CDTF">2025-10-15T23:34:21Z</dcterms:modified>
</cp:coreProperties>
</file>